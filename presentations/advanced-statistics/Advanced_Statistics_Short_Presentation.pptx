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9b9f94c-40d8-0de1-2c5c-04e0692e3b6a}">
          <p14:sldIdLst>
            <p14:sldId id="256"/>
          </p14:sldIdLst>
        </p14:section>
        <p14:section name="Content" id="{113a62a9-2503-28a4-d3c2-412589fe57fb}">
          <p14:sldIdLst>
            <p14:sldId id="257"/>
            <p14:sldId id="258"/>
            <p14:sldId id="259"/>
            <p14:sldId id="260"/>
          </p14:sldIdLst>
        </p14:section>
        <p14:section name="Conclusion" id="{e0b5c1f9-a1b2-23f1-75c1-8842f19151c0}">
          <p14:sldIdLst>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Conversion rate (%)</c:v>
                </c:pt>
              </c:strCache>
            </c:strRef>
          </c:tx>
          <c:spPr>
            <a:solidFill>
              <a:srgbClr val="2F5D8A"/>
            </a:solidFill>
            <a:effectLst/>
          </c:spPr>
          <c:invertIfNegative val="0"/>
          <c:dLbls>
            <c:numFmt formatCode="0.00&quot;%&quot;" sourceLinked="0"/>
            <c:txPr>
              <a:bodyPr/>
              <a:lstStyle/>
              <a:p>
                <a:pPr>
                  <a:defRPr b="1" i="0" strike="noStrike" sz="1400" u="none">
                    <a:solidFill>
                      <a:srgbClr val="0B1F33"/>
                    </a:solidFill>
                    <a:latin typeface="+mn-lt"/>
                  </a:defRPr>
                </a:pPr>
              </a:p>
            </c:txPr>
            <c:showLegendKey val="0"/>
            <c:showVal val="1"/>
            <c:showCatName val="0"/>
            <c:showSerName val="0"/>
            <c:showPercent val="0"/>
            <c:showBubbleSize val="0"/>
            <c:showLeaderLines val="0"/>
          </c:dLbls>
          <c:dPt>
            <c:idx val="0"/>
            <c:invertIfNegative val="0"/>
            <c:bubble3D val="0"/>
            <c:spPr>
              <a:solidFill>
                <a:srgbClr val="2F5D8A"/>
              </a:solidFill>
              <a:effectLst/>
            </c:spPr>
          </c:dPt>
          <c:dPt>
            <c:idx val="1"/>
            <c:invertIfNegative val="0"/>
            <c:bubble3D val="0"/>
            <c:spPr>
              <a:solidFill>
                <a:srgbClr val="0F8B8D"/>
              </a:solidFill>
              <a:effectLst/>
            </c:spPr>
          </c:dPt>
          <c:cat>
            <c:multiLvlStrRef>
              <c:f>Sheet1!$A$2:$A$3</c:f>
              <c:multiLvlStrCache>
                <c:ptCount val="2"/>
                <c:lvl>
                  <c:pt idx="0">
                    <c:v>A · Old page</c:v>
                  </c:pt>
                  <c:pt idx="1">
                    <c:v>B · New page</c:v>
                  </c:pt>
                </c:lvl>
              </c:multiLvlStrCache>
            </c:multiLvlStrRef>
          </c:cat>
          <c:val>
            <c:numRef>
              <c:f>Sheet1!$B$2:$B$3</c:f>
              <c:numCache>
                <c:formatCode>General</c:formatCode>
                <c:ptCount val="2"/>
                <c:pt idx="0">
                  <c:v>4.2</c:v>
                </c:pt>
                <c:pt idx="1">
                  <c:v>4.8</c:v>
                </c:pt>
              </c:numCache>
            </c:numRef>
          </c:val>
        </c:ser>
        <c:dLbls>
          <c:numFmt formatCode="0.00&quot;%&quot;" sourceLinked="0"/>
          <c:txPr>
            <a:bodyPr/>
            <a:lstStyle/>
            <a:p>
              <a:pPr>
                <a:defRPr b="1" i="0" strike="noStrike" sz="1400" u="none">
                  <a:solidFill>
                    <a:srgbClr val="0B1F33"/>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633"/>
                </a:solidFill>
                <a:latin typeface="+mn-lt"/>
              </a:defRPr>
            </a:pPr>
            <a:endParaRPr lang="en-US"/>
          </a:p>
        </c:txPr>
        <c:crossAx val="2094734552"/>
        <c:crosses val="autoZero"/>
        <c:auto val="1"/>
        <c:lblAlgn val="ctr"/>
        <c:noMultiLvlLbl val="1"/>
      </c:catAx>
      <c:valAx>
        <c:axId val="2094734552"/>
        <c:scaling>
          <c:orientation val="minMax"/>
          <c:max val="6"/>
          <c:min val="0"/>
        </c:scaling>
        <c:delete val="0"/>
        <c:axPos val="l"/>
        <c:majorGridlines>
          <c:spPr>
            <a:ln w="9525" cap="flat">
              <a:solidFill>
                <a:srgbClr val="E2E7ED"/>
              </a:solidFill>
              <a:prstDash val="solid"/>
              <a:round/>
            </a:ln>
          </c:spPr>
        </c:majorGridlines>
        <c:title>
          <c:tx>
            <c:rich>
              <a:bodyPr/>
              <a:lstStyle/>
              <a:p>
                <a:pPr>
                  <a:defRPr sz="1100" b="0" i="0" u="none" strike="noStrike">
                    <a:solidFill>
                      <a:srgbClr val="5E6B7A"/>
                    </a:solidFill>
                    <a:latin typeface="+mn-lt"/>
                  </a:defRPr>
                </a:pPr>
                <a:r>
                  <a:rPr sz="1100" b="0" i="0" u="none" strike="noStrike">
                    <a:solidFill>
                      <a:srgbClr val="5E6B7A"/>
                    </a:solidFill>
                    <a:latin typeface="+mn-lt"/>
                  </a:rPr>
                  <a:t>Conversion rate (%)</a:t>
                </a:r>
              </a:p>
            </c:rich>
          </c:tx>
          <c:layout/>
          <c:overlay val="0"/>
        </c:title>
        <c:numFmt formatCode="0&quot;%&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E6B7A"/>
                </a:solidFill>
                <a:latin typeface="+mn-lt"/>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Our topic is the implications of advanced statistics in business and research. In simple words: how companies and researchers use statistics to turn data into reliable decisions. The picture on the right shows the idea: we start with data, fit a model with its uncertainty, and use a forecast to make a decision. We will cover why statistics matters, where it is used, one A/B-test example, and the main cautions.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alone does not give answers. Statistics takes us from collecting data, to finding patterns, to measuring how sure we are, and finally to a decision. Four methods do most of this work: regression shows how one factor affects another; hypothesis testing checks whether a difference is real or just chance; forecasting predicts the future with a range; and A/B testing compares two options fairly by splitting people into random groups.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business, statistics helps companies forecast sales, group customers, set prices and spot risky loans or fraud. A real example: Bing tested longer ad titles using an A/B test. Revenue went up about 12 percent, worth more than 100 million dollars a year in the U.S. In research, statistics makes studies fair and reliable through good design, the right sample size, confidence intervals and replication. Example: the RECOVERY trial showed that dexamethasone reduced deaths in ventilated COVID-19 patients from 41.4 to 29.3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example uses made-up numbers to show the method. An online shop splits 40,000 visitors at random: half see the old page, half see the new page. The old page converts 4.2 percent of visitors, the new page 4.8 percent, a difference of 0.6 percentage points. The 95 percent confidence interval is 0.19 to 1.01 points and the p-value is 0.004, so the gain is very unlikely to be chance, although its exact size is uncertain. Decision: launch the new page and keep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Statistics can mislead if we are careless. First, bad or biased data gives wrong answers. Second, correlation is not causation: two things moving together does not prove one causes the other. Third, 'significant' does not mean important; a very small effect can still be significant, so we always check its size. Fourth, we must protect privacy and make sure models are fair. Finally, AI and machine learning are very good at prediction, but prediction alone does not prove cause, so careful planning and honest reporting still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three takeaways. One: statistics turns raw data into evidence we can trust. Two: testing ideas and measuring uncertainty lead to better decisions than guesswork. Three: careful interpretation matters as much as the method. The value of data lies not merely in collecting it, but in drawing reliable conclusions from it. Thank you.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896112"/>
            <a:ext cx="5760720" cy="1691640"/>
          </a:xfrm>
          <a:prstGeom prst="rect">
            <a:avLst/>
          </a:prstGeom>
          <a:noFill/>
          <a:ln/>
        </p:spPr>
        <p:txBody>
          <a:bodyPr wrap="square" rtlCol="0"/>
          <a:lstStyle>
            <a:lvl1pPr algn="l" indent="0" marL="0">
              <a:buNone/>
              <a:defRPr lang="en-US" sz="3600" b="1" dirty="0">
                <a:solidFill>
                  <a:schemeClr val="bg1"/>
                </a:solidFill>
                <a:latin typeface="+mj-lt" pitchFamily="34" charset="0"/>
                <a:ea typeface="+mj-lt" pitchFamily="34" charset="-122"/>
                <a:cs typeface="+mj-lt" pitchFamily="34" charset="-120"/>
              </a:defRPr>
            </a:lvl1pPr>
          </a:lstStyle>
          <a:p>
            <a:pPr algn="l" indent="0" marL="0">
              <a:buNone/>
            </a:pPr>
            <a:endParaRPr lang="en-US" sz="3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7498080" cy="292608"/>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658368"/>
            <a:ext cx="11094415" cy="713232"/>
          </a:xfrm>
          <a:prstGeom prst="rect">
            <a:avLst/>
          </a:prstGeom>
          <a:noFill/>
          <a:ln/>
        </p:spPr>
        <p:txBody>
          <a:bodyPr wrap="square" rtlCol="0"/>
          <a:lstStyle>
            <a:lvl1pPr algn="l" indent="0" marL="0">
              <a:buNone/>
              <a:defRPr lang="en-US" sz="3400" b="1" dirty="0">
                <a:solidFill>
                  <a:schemeClr val="tx2"/>
                </a:solidFill>
                <a:latin typeface="+mj-lt" pitchFamily="34" charset="0"/>
                <a:ea typeface="+mj-lt" pitchFamily="34" charset="-122"/>
                <a:cs typeface="+mj-lt" pitchFamily="34" charset="-120"/>
              </a:defRPr>
            </a:lvl1pPr>
          </a:lstStyle>
          <a:p>
            <a:pPr algn="l" indent="0" marL="0">
              <a:buNone/>
            </a:pPr>
            <a:endParaRPr lang="en-US" sz="3400" dirty="0"/>
          </a:p>
        </p:txBody>
      </p:sp>
      <p:sp>
        <p:nvSpPr>
          <p:cNvPr id="4" name="Text 0"/>
          <p:cNvSpPr/>
          <p:nvPr/>
        </p:nvSpPr>
        <p:spPr>
          <a:xfrm>
            <a:off x="548640" y="6446520"/>
            <a:ext cx="7315200" cy="256032"/>
          </a:xfrm>
          <a:prstGeom prst="rect">
            <a:avLst/>
          </a:prstGeom>
          <a:noFill/>
          <a:ln/>
        </p:spPr>
        <p:txBody>
          <a:bodyPr wrap="square" lIns="0" tIns="0" rIns="0" bIns="0" rtlCol="0" anchor="ctr"/>
          <a:lstStyle/>
          <a:p>
            <a:pPr indent="0" marL="0">
              <a:buNone/>
            </a:pPr>
            <a:r>
              <a:rPr lang="en-US" sz="900" dirty="0">
                <a:solidFill>
                  <a:schemeClr val="accent5"/>
                </a:solidFill>
              </a:rPr>
              <a:t>Implications of Advanced Statistics in Business and Research</a:t>
            </a:r>
            <a:endParaRPr lang="en-US" sz="900" dirty="0"/>
          </a:p>
        </p:txBody>
      </p:sp>
      <p:sp>
        <p:nvSpPr>
          <p:cNvPr id="25" name="Slide Number Placeholder 0"/>
          <p:cNvSpPr>
            <a:spLocks noGrp="1"/>
          </p:cNvSpPr>
          <p:nvPr>
            <p:ph type="sldNum" sz="quarter" idx="4294967295"/>
          </p:nvPr>
        </p:nvSpPr>
        <p:spPr>
          <a:xfrm>
            <a:off x="11094415" y="644652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7498080" cy="292608"/>
          </a:xfrm>
          <a:prstGeom prst="rect">
            <a:avLst/>
          </a:prstGeom>
          <a:noFill/>
          <a:ln/>
        </p:spPr>
        <p:txBody>
          <a:bodyPr wrap="square" rtlCol="0"/>
          <a:lstStyle>
            <a:lvl1pPr indent="0" marL="0">
              <a:buNone/>
              <a:defRPr lang="en-US" sz="1200" b="1" spc="200" kern="0" dirty="0">
                <a:solidFill>
                  <a:schemeClr val="accent2"/>
                </a:solidFill>
              </a:defRPr>
            </a:lvl1pPr>
          </a:lstStyle>
          <a:p>
            <a:pPr indent="0" marL="0">
              <a:buNone/>
            </a:pPr>
            <a:endParaRPr lang="en-US" sz="1200" dirty="0"/>
          </a:p>
        </p:txBody>
      </p:sp>
      <p:sp>
        <p:nvSpPr>
          <p:cNvPr id="3" name="Text 0"/>
          <p:cNvSpPr/>
          <p:nvPr>
            <p:ph idx="101" type="title" hasCustomPrompt="1"/>
          </p:nvPr>
        </p:nvSpPr>
        <p:spPr>
          <a:xfrm>
            <a:off x="548640" y="658368"/>
            <a:ext cx="11094415" cy="713232"/>
          </a:xfrm>
          <a:prstGeom prst="rect">
            <a:avLst/>
          </a:prstGeom>
          <a:noFill/>
          <a:ln/>
        </p:spPr>
        <p:txBody>
          <a:bodyPr wrap="square" rtlCol="0"/>
          <a:lstStyle>
            <a:lvl1pPr algn="l" indent="0" marL="0">
              <a:buNone/>
              <a:defRPr lang="en-US" sz="3400" b="1" dirty="0">
                <a:solidFill>
                  <a:schemeClr val="bg1"/>
                </a:solidFill>
                <a:latin typeface="+mj-lt" pitchFamily="34" charset="0"/>
                <a:ea typeface="+mj-lt" pitchFamily="34" charset="-122"/>
                <a:cs typeface="+mj-lt" pitchFamily="34" charset="-120"/>
              </a:defRPr>
            </a:lvl1pPr>
          </a:lstStyle>
          <a:p>
            <a:pPr algn="l" indent="0" marL="0">
              <a:buNone/>
            </a:pPr>
            <a:endParaRPr lang="en-US" sz="3400" dirty="0"/>
          </a:p>
        </p:txBody>
      </p:sp>
      <p:sp>
        <p:nvSpPr>
          <p:cNvPr id="4" name="Text 0"/>
          <p:cNvSpPr/>
          <p:nvPr/>
        </p:nvSpPr>
        <p:spPr>
          <a:xfrm>
            <a:off x="548640" y="6446520"/>
            <a:ext cx="7315200" cy="256032"/>
          </a:xfrm>
          <a:prstGeom prst="rect">
            <a:avLst/>
          </a:prstGeom>
          <a:noFill/>
          <a:ln/>
        </p:spPr>
        <p:txBody>
          <a:bodyPr wrap="square" lIns="0" tIns="0" rIns="0" bIns="0" rtlCol="0" anchor="ctr"/>
          <a:lstStyle/>
          <a:p>
            <a:pPr indent="0" marL="0">
              <a:buNone/>
            </a:pPr>
            <a:r>
              <a:rPr lang="en-US" sz="900" dirty="0">
                <a:solidFill>
                  <a:schemeClr val="accent6"/>
                </a:solidFill>
              </a:rPr>
              <a:t>Implications of Advanced Statistics in Business and Research</a:t>
            </a:r>
            <a:endParaRPr lang="en-US" sz="900" dirty="0"/>
          </a:p>
        </p:txBody>
      </p:sp>
      <p:sp>
        <p:nvSpPr>
          <p:cNvPr id="25" name="Slide Number Placeholder 0"/>
          <p:cNvSpPr>
            <a:spLocks noGrp="1"/>
          </p:cNvSpPr>
          <p:nvPr>
            <p:ph type="sldNum" sz="quarter" idx="4294967295"/>
          </p:nvPr>
        </p:nvSpPr>
        <p:spPr>
          <a:xfrm>
            <a:off x="11094415" y="644652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4652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3.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Hero visual (simulated data)" descr="Illustrative graphic built from simulated data: data points, a fitted trend with its uncertainty band, and a forecast range used for a decision.">    </p:cNvPr>
          <p:cNvPicPr>
            <a:picLocks noChangeAspect="1"/>
          </p:cNvPicPr>
          <p:nvPr/>
        </p:nvPicPr>
        <p:blipFill>
          <a:blip r:embed="rId1"/>
          <a:stretch>
            <a:fillRect/>
          </a:stretch>
        </p:blipFill>
        <p:spPr>
          <a:xfrm>
            <a:off x="6659575" y="0"/>
            <a:ext cx="5532120" cy="6858000"/>
          </a:xfrm>
          <a:prstGeom prst="rect">
            <a:avLst/>
          </a:prstGeom>
        </p:spPr>
      </p:pic>
      <p:sp>
        <p:nvSpPr>
          <p:cNvPr id="3" name="Hero label: Data"/>
          <p:cNvSpPr txBox="1"/>
          <p:nvPr/>
        </p:nvSpPr>
        <p:spPr>
          <a:xfrm>
            <a:off x="6869887" y="6382512"/>
            <a:ext cx="1371600" cy="237744"/>
          </a:xfrm>
          <a:prstGeom prst="rect">
            <a:avLst/>
          </a:prstGeom>
          <a:noFill/>
          <a:ln/>
        </p:spPr>
        <p:txBody>
          <a:bodyPr wrap="square" lIns="0" tIns="0" rIns="0" bIns="0" rtlCol="0" anchor="t"/>
          <a:lstStyle/>
          <a:p>
            <a:pPr algn="ctr" indent="0" marL="0">
              <a:buNone/>
            </a:pPr>
            <a:r>
              <a:rPr lang="en-US" sz="1000" dirty="0">
                <a:solidFill>
                  <a:schemeClr val="accent6"/>
                </a:solidFill>
              </a:rPr>
              <a:t>Data</a:t>
            </a:r>
            <a:endParaRPr lang="en-US" sz="1000" dirty="0"/>
          </a:p>
        </p:txBody>
      </p:sp>
      <p:sp>
        <p:nvSpPr>
          <p:cNvPr id="4" name="Hero label: Model + uncertainty"/>
          <p:cNvSpPr txBox="1"/>
          <p:nvPr/>
        </p:nvSpPr>
        <p:spPr>
          <a:xfrm>
            <a:off x="8716975" y="6382512"/>
            <a:ext cx="1371600" cy="237744"/>
          </a:xfrm>
          <a:prstGeom prst="rect">
            <a:avLst/>
          </a:prstGeom>
          <a:noFill/>
          <a:ln/>
        </p:spPr>
        <p:txBody>
          <a:bodyPr wrap="square" lIns="0" tIns="0" rIns="0" bIns="0" rtlCol="0" anchor="t"/>
          <a:lstStyle/>
          <a:p>
            <a:pPr algn="ctr" indent="0" marL="0">
              <a:buNone/>
            </a:pPr>
            <a:r>
              <a:rPr lang="en-US" sz="1000" dirty="0">
                <a:solidFill>
                  <a:schemeClr val="accent6"/>
                </a:solidFill>
              </a:rPr>
              <a:t>Model + uncertainty</a:t>
            </a:r>
            <a:endParaRPr lang="en-US" sz="1000" dirty="0"/>
          </a:p>
        </p:txBody>
      </p:sp>
      <p:sp>
        <p:nvSpPr>
          <p:cNvPr id="5" name="Hero label: Forecast → decision"/>
          <p:cNvSpPr txBox="1"/>
          <p:nvPr/>
        </p:nvSpPr>
        <p:spPr>
          <a:xfrm>
            <a:off x="10042855" y="6382512"/>
            <a:ext cx="1371600" cy="237744"/>
          </a:xfrm>
          <a:prstGeom prst="rect">
            <a:avLst/>
          </a:prstGeom>
          <a:noFill/>
          <a:ln/>
        </p:spPr>
        <p:txBody>
          <a:bodyPr wrap="square" lIns="0" tIns="0" rIns="0" bIns="0" rtlCol="0" anchor="t"/>
          <a:lstStyle/>
          <a:p>
            <a:pPr algn="r" indent="0" marL="0">
              <a:buNone/>
            </a:pPr>
            <a:r>
              <a:rPr lang="en-US" sz="1000" dirty="0">
                <a:solidFill>
                  <a:schemeClr val="accent6"/>
                </a:solidFill>
              </a:rPr>
              <a:t>Forecast → decision</a:t>
            </a:r>
            <a:endParaRPr lang="en-US" sz="1000" dirty="0"/>
          </a:p>
        </p:txBody>
      </p:sp>
      <p:sp>
        <p:nvSpPr>
          <p:cNvPr id="6" name="Hero caption"/>
          <p:cNvSpPr txBox="1"/>
          <p:nvPr/>
        </p:nvSpPr>
        <p:spPr>
          <a:xfrm>
            <a:off x="9966960" y="228600"/>
            <a:ext cx="2011680" cy="219456"/>
          </a:xfrm>
          <a:prstGeom prst="rect">
            <a:avLst/>
          </a:prstGeom>
          <a:noFill/>
          <a:ln/>
        </p:spPr>
        <p:txBody>
          <a:bodyPr wrap="square" lIns="0" tIns="0" rIns="0" bIns="0" rtlCol="0" anchor="t"/>
          <a:lstStyle/>
          <a:p>
            <a:pPr algn="r" indent="0" marL="0">
              <a:buNone/>
            </a:pPr>
            <a:r>
              <a:rPr lang="en-US" sz="900" i="1" dirty="0">
                <a:solidFill>
                  <a:schemeClr val="accent5"/>
                </a:solidFill>
              </a:rPr>
              <a:t>Illustrative visual · simulated data</a:t>
            </a:r>
            <a:endParaRPr lang="en-US" sz="900" dirty="0"/>
          </a:p>
        </p:txBody>
      </p:sp>
      <p:sp>
        <p:nvSpPr>
          <p:cNvPr id="7" name="Kicker"/>
          <p:cNvSpPr txBox="1"/>
          <p:nvPr/>
        </p:nvSpPr>
        <p:spPr>
          <a:xfrm>
            <a:off x="548640" y="502920"/>
            <a:ext cx="5760720" cy="274320"/>
          </a:xfrm>
          <a:prstGeom prst="rect">
            <a:avLst/>
          </a:prstGeom>
          <a:noFill/>
          <a:ln/>
        </p:spPr>
        <p:txBody>
          <a:bodyPr wrap="square" lIns="0" tIns="0" rIns="0" bIns="0" rtlCol="0" anchor="t"/>
          <a:lstStyle/>
          <a:p>
            <a:pPr indent="0" marL="0">
              <a:buNone/>
            </a:pPr>
            <a:r>
              <a:rPr lang="en-US" sz="1200" b="1" spc="300" kern="0" dirty="0">
                <a:solidFill>
                  <a:schemeClr val="accent6"/>
                </a:solidFill>
              </a:rPr>
              <a:t>ADVANCED STATISTICS IN PRACTICE</a:t>
            </a:r>
            <a:endParaRPr lang="en-US" sz="1200" dirty="0"/>
          </a:p>
        </p:txBody>
      </p:sp>
      <p:sp>
        <p:nvSpPr>
          <p:cNvPr id="8" name="Text 0"/>
          <p:cNvSpPr/>
          <p:nvPr>
            <p:ph idx="100" type="title" hasCustomPrompt="1"/>
          </p:nvPr>
        </p:nvSpPr>
        <p:spPr>
          <a:xfrm>
            <a:off x="548640" y="896112"/>
            <a:ext cx="5760720" cy="1691640"/>
          </a:xfrm>
          <a:prstGeom prst="rect">
            <a:avLst/>
          </a:prstGeom>
          <a:noFill/>
          <a:ln/>
        </p:spPr>
        <p:txBody>
          <a:bodyPr wrap="square" lIns="0" tIns="0" rIns="0" bIns="0" rtlCol="0" anchor="t"/>
          <a:lstStyle/>
          <a:p>
            <a:pPr algn="l" indent="0" marL="0">
              <a:buNone/>
            </a:pPr>
            <a:r>
              <a:rPr lang="en-US" sz="3600" b="1" dirty="0">
                <a:solidFill>
                  <a:schemeClr val="bg1"/>
                </a:solidFill>
                <a:latin typeface="+mj-lt" pitchFamily="34" charset="0"/>
                <a:ea typeface="+mj-lt" pitchFamily="34" charset="-122"/>
                <a:cs typeface="+mj-lt" pitchFamily="34" charset="-120"/>
              </a:rPr>
              <a:t>Implications of Advanced Statistics in Business and Research</a:t>
            </a:r>
            <a:endParaRPr lang="en-US" sz="3600" dirty="0"/>
          </a:p>
        </p:txBody>
      </p:sp>
      <p:sp>
        <p:nvSpPr>
          <p:cNvPr id="9" name="Subtitle"/>
          <p:cNvSpPr txBox="1"/>
          <p:nvPr/>
        </p:nvSpPr>
        <p:spPr>
          <a:xfrm>
            <a:off x="548640" y="2670048"/>
            <a:ext cx="5852160" cy="384048"/>
          </a:xfrm>
          <a:prstGeom prst="rect">
            <a:avLst/>
          </a:prstGeom>
          <a:noFill/>
          <a:ln/>
        </p:spPr>
        <p:txBody>
          <a:bodyPr wrap="square" lIns="0" tIns="0" rIns="0" bIns="0" rtlCol="0" anchor="t"/>
          <a:lstStyle/>
          <a:p>
            <a:pPr indent="0" marL="0">
              <a:buNone/>
            </a:pPr>
            <a:r>
              <a:rPr lang="en-US" sz="1900" i="1" dirty="0">
                <a:solidFill>
                  <a:schemeClr val="accent6"/>
                </a:solidFill>
              </a:rPr>
              <a:t>Turning data into evidence, decisions, and discovery</a:t>
            </a:r>
            <a:endParaRPr lang="en-US" sz="1900" dirty="0"/>
          </a:p>
        </p:txBody>
      </p:sp>
      <p:sp>
        <p:nvSpPr>
          <p:cNvPr id="10" name="Team name"/>
          <p:cNvSpPr txBox="1"/>
          <p:nvPr/>
        </p:nvSpPr>
        <p:spPr>
          <a:xfrm>
            <a:off x="548640" y="3346704"/>
            <a:ext cx="5760720" cy="256032"/>
          </a:xfrm>
          <a:prstGeom prst="rect">
            <a:avLst/>
          </a:prstGeom>
          <a:noFill/>
          <a:ln/>
        </p:spPr>
        <p:txBody>
          <a:bodyPr wrap="square" lIns="0" tIns="0" rIns="0" bIns="0" rtlCol="0" anchor="t"/>
          <a:lstStyle/>
          <a:p>
            <a:pPr indent="0" marL="0">
              <a:buNone/>
            </a:pPr>
            <a:r>
              <a:rPr lang="en-US" sz="1150" b="1" spc="200" kern="0" dirty="0">
                <a:solidFill>
                  <a:schemeClr val="accent2"/>
                </a:solidFill>
              </a:rPr>
              <a:t>PRESENTED BY  </a:t>
            </a:r>
            <a:pPr indent="0" marL="0">
              <a:buNone/>
            </a:pPr>
            <a:r>
              <a:rPr lang="en-US" sz="1150" b="1" dirty="0">
                <a:solidFill>
                  <a:schemeClr val="bg1"/>
                </a:solidFill>
              </a:rPr>
              <a:t>[Team Name]</a:t>
            </a:r>
            <a:endParaRPr lang="en-US" sz="1150" dirty="0"/>
          </a:p>
        </p:txBody>
      </p:sp>
      <p:graphicFrame>
        <p:nvGraphicFramePr>
          <p:cNvPr id="2" name="Team members table"/>
          <p:cNvGraphicFramePr>
            <a:graphicFrameLocks noGrp="1"/>
          </p:cNvGraphicFramePr>
          <p:nvPr>
            <p:extLst>
              <p:ext uri="{D42A27DB-BD31-4B8C-83A1-F6EECF244321}">
                <p14:modId xmlns:p14="http://schemas.microsoft.com/office/powerpoint/2010/main" val="1579011935"/>
              </p:ext>
            </p:extLst>
          </p:nvPr>
        </p:nvGraphicFramePr>
        <p:xfrm>
          <a:off x="548640" y="3639312"/>
          <a:ext cx="4937760" cy="914400"/>
        </p:xfrm>
        <a:graphic>
          <a:graphicData uri="http://schemas.openxmlformats.org/drawingml/2006/table">
            <a:tbl>
              <a:tblPr/>
              <a:tblGrid>
                <a:gridCol w="3017520"/>
                <a:gridCol w="1920240"/>
              </a:tblGrid>
              <a:tr h="246888">
                <a:tc>
                  <a:txBody>
                    <a:bodyPr/>
                    <a:lstStyle/>
                    <a:p>
                      <a:pPr indent="0" marL="0">
                        <a:buNone/>
                      </a:pPr>
                      <a:r>
                        <a:rPr lang="en-US" sz="1300" dirty="0">
                          <a:solidFill>
                            <a:schemeClr val="bg1"/>
                          </a:solidFill>
                        </a:rPr>
                        <a:t>[Member 1 Full Name]</a:t>
                      </a:r>
                      <a:endParaRPr lang="en-US" sz="1300" dirty="0"/>
                    </a:p>
                  </a:txBody>
                  <a:tcPr marL="0" marR="0" marT="0" marB="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300" dirty="0">
                          <a:solidFill>
                            <a:schemeClr val="accent6"/>
                          </a:solidFill>
                        </a:rPr>
                        <a:t>[Student ID]</a:t>
                      </a:r>
                      <a:endParaRPr lang="en-US" sz="1300" dirty="0"/>
                    </a:p>
                  </a:txBody>
                  <a:tcPr marL="0" marR="0" marT="0" marB="0" anchor="ctr">
                    <a:lnL w="0" cap="flat" cmpd="sng" algn="ctr">
                      <a:noFill/>
                    </a:lnL>
                    <a:lnR w="0" cap="flat" cmpd="sng" algn="ctr">
                      <a:noFill/>
                    </a:lnR>
                    <a:lnT w="0" cap="flat" cmpd="sng" algn="ctr">
                      <a:noFill/>
                    </a:lnT>
                    <a:lnB w="0" cap="flat" cmpd="sng" algn="ctr">
                      <a:noFill/>
                    </a:lnB>
                    <a:solidFill>
                      <a:schemeClr val="tx2"/>
                    </a:solidFill>
                  </a:tcPr>
                </a:tc>
              </a:tr>
              <a:tr h="246888">
                <a:tc>
                  <a:txBody>
                    <a:bodyPr/>
                    <a:lstStyle/>
                    <a:p>
                      <a:pPr indent="0" marL="0">
                        <a:buNone/>
                      </a:pPr>
                      <a:r>
                        <a:rPr lang="en-US" sz="1300" dirty="0">
                          <a:solidFill>
                            <a:schemeClr val="bg1"/>
                          </a:solidFill>
                        </a:rPr>
                        <a:t>[Member 2 Full Name]</a:t>
                      </a:r>
                      <a:endParaRPr lang="en-US" sz="1300" dirty="0"/>
                    </a:p>
                  </a:txBody>
                  <a:tcPr marL="0" marR="0" marT="0" marB="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300" dirty="0">
                          <a:solidFill>
                            <a:schemeClr val="accent6"/>
                          </a:solidFill>
                        </a:rPr>
                        <a:t>[Student ID]</a:t>
                      </a:r>
                      <a:endParaRPr lang="en-US" sz="1300" dirty="0"/>
                    </a:p>
                  </a:txBody>
                  <a:tcPr marL="0" marR="0" marT="0" marB="0" anchor="ctr">
                    <a:lnL w="0" cap="flat" cmpd="sng" algn="ctr">
                      <a:noFill/>
                    </a:lnL>
                    <a:lnR w="0" cap="flat" cmpd="sng" algn="ctr">
                      <a:noFill/>
                    </a:lnR>
                    <a:lnT w="0" cap="flat" cmpd="sng" algn="ctr">
                      <a:noFill/>
                    </a:lnT>
                    <a:lnB w="0" cap="flat" cmpd="sng" algn="ctr">
                      <a:noFill/>
                    </a:lnB>
                    <a:solidFill>
                      <a:schemeClr val="tx2"/>
                    </a:solidFill>
                  </a:tcPr>
                </a:tc>
              </a:tr>
              <a:tr h="246888">
                <a:tc>
                  <a:txBody>
                    <a:bodyPr/>
                    <a:lstStyle/>
                    <a:p>
                      <a:pPr indent="0" marL="0">
                        <a:buNone/>
                      </a:pPr>
                      <a:r>
                        <a:rPr lang="en-US" sz="1300" dirty="0">
                          <a:solidFill>
                            <a:schemeClr val="bg1"/>
                          </a:solidFill>
                        </a:rPr>
                        <a:t>[Member 3 Full Name]</a:t>
                      </a:r>
                      <a:endParaRPr lang="en-US" sz="1300" dirty="0"/>
                    </a:p>
                  </a:txBody>
                  <a:tcPr marL="0" marR="0" marT="0" marB="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300" dirty="0">
                          <a:solidFill>
                            <a:schemeClr val="accent6"/>
                          </a:solidFill>
                        </a:rPr>
                        <a:t>[Student ID]</a:t>
                      </a:r>
                      <a:endParaRPr lang="en-US" sz="1300" dirty="0"/>
                    </a:p>
                  </a:txBody>
                  <a:tcPr marL="0" marR="0" marT="0" marB="0" anchor="ctr">
                    <a:lnL w="0" cap="flat" cmpd="sng" algn="ctr">
                      <a:noFill/>
                    </a:lnL>
                    <a:lnR w="0" cap="flat" cmpd="sng" algn="ctr">
                      <a:noFill/>
                    </a:lnR>
                    <a:lnT w="0" cap="flat" cmpd="sng" algn="ctr">
                      <a:noFill/>
                    </a:lnT>
                    <a:lnB w="0" cap="flat" cmpd="sng" algn="ctr">
                      <a:noFill/>
                    </a:lnB>
                    <a:solidFill>
                      <a:schemeClr val="tx2"/>
                    </a:solidFill>
                  </a:tcPr>
                </a:tc>
              </a:tr>
              <a:tr h="246888">
                <a:tc>
                  <a:txBody>
                    <a:bodyPr/>
                    <a:lstStyle/>
                    <a:p>
                      <a:pPr indent="0" marL="0">
                        <a:buNone/>
                      </a:pPr>
                      <a:r>
                        <a:rPr lang="en-US" sz="1300" dirty="0">
                          <a:solidFill>
                            <a:schemeClr val="bg1"/>
                          </a:solidFill>
                        </a:rPr>
                        <a:t>[Member 4 Full Name]</a:t>
                      </a:r>
                      <a:endParaRPr lang="en-US" sz="1300" dirty="0"/>
                    </a:p>
                  </a:txBody>
                  <a:tcPr marL="0" marR="0" marT="0" marB="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300" dirty="0">
                          <a:solidFill>
                            <a:schemeClr val="accent6"/>
                          </a:solidFill>
                        </a:rPr>
                        <a:t>[Student ID]</a:t>
                      </a:r>
                      <a:endParaRPr lang="en-US" sz="1300" dirty="0"/>
                    </a:p>
                  </a:txBody>
                  <a:tcPr marL="0" marR="0" marT="0" marB="0" anchor="ctr">
                    <a:lnL w="0" cap="flat" cmpd="sng" algn="ctr">
                      <a:noFill/>
                    </a:lnL>
                    <a:lnR w="0" cap="flat" cmpd="sng" algn="ctr">
                      <a:noFill/>
                    </a:lnR>
                    <a:lnT w="0" cap="flat" cmpd="sng" algn="ctr">
                      <a:noFill/>
                    </a:lnT>
                    <a:lnB w="0" cap="flat" cmpd="sng" algn="ctr">
                      <a:noFill/>
                    </a:lnB>
                    <a:solidFill>
                      <a:schemeClr val="tx2"/>
                    </a:solidFill>
                  </a:tcPr>
                </a:tc>
              </a:tr>
              <a:tr h="246888">
                <a:tc>
                  <a:txBody>
                    <a:bodyPr/>
                    <a:lstStyle/>
                    <a:p>
                      <a:pPr indent="0" marL="0">
                        <a:buNone/>
                      </a:pPr>
                      <a:r>
                        <a:rPr lang="en-US" sz="1300" dirty="0">
                          <a:solidFill>
                            <a:schemeClr val="bg1"/>
                          </a:solidFill>
                        </a:rPr>
                        <a:t>[Member 5 Full Name]</a:t>
                      </a:r>
                      <a:endParaRPr lang="en-US" sz="1300" dirty="0"/>
                    </a:p>
                  </a:txBody>
                  <a:tcPr marL="0" marR="0" marT="0" marB="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300" dirty="0">
                          <a:solidFill>
                            <a:schemeClr val="accent6"/>
                          </a:solidFill>
                        </a:rPr>
                        <a:t>[Student ID]</a:t>
                      </a:r>
                      <a:endParaRPr lang="en-US" sz="1300" dirty="0"/>
                    </a:p>
                  </a:txBody>
                  <a:tcPr marL="0" marR="0" marT="0" marB="0" anchor="ctr">
                    <a:lnL w="0" cap="flat" cmpd="sng" algn="ctr">
                      <a:noFill/>
                    </a:lnL>
                    <a:lnR w="0" cap="flat" cmpd="sng" algn="ctr">
                      <a:noFill/>
                    </a:lnR>
                    <a:lnT w="0" cap="flat" cmpd="sng" algn="ctr">
                      <a:noFill/>
                    </a:lnT>
                    <a:lnB w="0" cap="flat" cmpd="sng" algn="ctr">
                      <a:noFill/>
                    </a:lnB>
                    <a:solidFill>
                      <a:schemeClr val="tx2"/>
                    </a:solidFill>
                  </a:tcPr>
                </a:tc>
              </a:tr>
            </a:tbl>
          </a:graphicData>
        </a:graphic>
      </p:graphicFrame>
      <p:sp>
        <p:nvSpPr>
          <p:cNvPr id="12" name="Course title and code"/>
          <p:cNvSpPr txBox="1"/>
          <p:nvPr/>
        </p:nvSpPr>
        <p:spPr>
          <a:xfrm>
            <a:off x="548640" y="5029200"/>
            <a:ext cx="3017520" cy="420624"/>
          </a:xfrm>
          <a:prstGeom prst="rect">
            <a:avLst/>
          </a:prstGeom>
          <a:noFill/>
          <a:ln/>
        </p:spPr>
        <p:txBody>
          <a:bodyPr wrap="square" lIns="0" tIns="0" rIns="0" bIns="0" rtlCol="0" anchor="t"/>
          <a:lstStyle/>
          <a:p>
            <a:pPr indent="0" marL="0">
              <a:buNone/>
            </a:pPr>
            <a:r>
              <a:rPr lang="en-US" sz="950" b="1" spc="200" kern="0" dirty="0">
                <a:solidFill>
                  <a:schemeClr val="accent2"/>
                </a:solidFill>
              </a:rPr>
              <a:t>COURSE</a:t>
            </a:r>
            <a:endParaRPr lang="en-US" sz="1500" dirty="0"/>
          </a:p>
          <a:p>
            <a:pPr indent="0" marL="0">
              <a:buNone/>
            </a:pPr>
            <a:r>
              <a:rPr lang="en-US" sz="1250" dirty="0">
                <a:solidFill>
                  <a:schemeClr val="bg1"/>
                </a:solidFill>
              </a:rPr>
              <a:t>[Course Title] ([Course Code])</a:t>
            </a:r>
            <a:endParaRPr lang="en-US" sz="1500" dirty="0"/>
          </a:p>
        </p:txBody>
      </p:sp>
      <p:sp>
        <p:nvSpPr>
          <p:cNvPr id="13" name="Instructor"/>
          <p:cNvSpPr txBox="1"/>
          <p:nvPr/>
        </p:nvSpPr>
        <p:spPr>
          <a:xfrm>
            <a:off x="3703320" y="5029200"/>
            <a:ext cx="2743200" cy="420624"/>
          </a:xfrm>
          <a:prstGeom prst="rect">
            <a:avLst/>
          </a:prstGeom>
          <a:noFill/>
          <a:ln/>
        </p:spPr>
        <p:txBody>
          <a:bodyPr wrap="square" lIns="0" tIns="0" rIns="0" bIns="0" rtlCol="0" anchor="t"/>
          <a:lstStyle/>
          <a:p>
            <a:pPr indent="0" marL="0">
              <a:buNone/>
            </a:pPr>
            <a:r>
              <a:rPr lang="en-US" sz="950" b="1" spc="200" kern="0" dirty="0">
                <a:solidFill>
                  <a:schemeClr val="accent2"/>
                </a:solidFill>
              </a:rPr>
              <a:t>INSTRUCTOR</a:t>
            </a:r>
            <a:endParaRPr lang="en-US" sz="1500" dirty="0"/>
          </a:p>
          <a:p>
            <a:pPr indent="0" marL="0">
              <a:buNone/>
            </a:pPr>
            <a:r>
              <a:rPr lang="en-US" sz="1250" dirty="0">
                <a:solidFill>
                  <a:schemeClr val="bg1"/>
                </a:solidFill>
              </a:rPr>
              <a:t>[Instructor Name], [Designation]</a:t>
            </a:r>
            <a:endParaRPr lang="en-US" sz="1500" dirty="0"/>
          </a:p>
        </p:txBody>
      </p:sp>
      <p:sp>
        <p:nvSpPr>
          <p:cNvPr id="14" name="Department"/>
          <p:cNvSpPr txBox="1"/>
          <p:nvPr/>
        </p:nvSpPr>
        <p:spPr>
          <a:xfrm>
            <a:off x="548640" y="5532120"/>
            <a:ext cx="3017520" cy="420624"/>
          </a:xfrm>
          <a:prstGeom prst="rect">
            <a:avLst/>
          </a:prstGeom>
          <a:noFill/>
          <a:ln/>
        </p:spPr>
        <p:txBody>
          <a:bodyPr wrap="square" lIns="0" tIns="0" rIns="0" bIns="0" rtlCol="0" anchor="t"/>
          <a:lstStyle/>
          <a:p>
            <a:pPr indent="0" marL="0">
              <a:buNone/>
            </a:pPr>
            <a:r>
              <a:rPr lang="en-US" sz="950" b="1" spc="200" kern="0" dirty="0">
                <a:solidFill>
                  <a:schemeClr val="accent2"/>
                </a:solidFill>
              </a:rPr>
              <a:t>DEPARTMENT</a:t>
            </a:r>
            <a:endParaRPr lang="en-US" sz="1500" dirty="0"/>
          </a:p>
          <a:p>
            <a:pPr indent="0" marL="0">
              <a:buNone/>
            </a:pPr>
            <a:r>
              <a:rPr lang="en-US" sz="1250" dirty="0">
                <a:solidFill>
                  <a:schemeClr val="bg1"/>
                </a:solidFill>
              </a:rPr>
              <a:t>[Department]</a:t>
            </a:r>
            <a:endParaRPr lang="en-US" sz="1500" dirty="0"/>
          </a:p>
        </p:txBody>
      </p:sp>
      <p:sp>
        <p:nvSpPr>
          <p:cNvPr id="15" name="University"/>
          <p:cNvSpPr txBox="1"/>
          <p:nvPr/>
        </p:nvSpPr>
        <p:spPr>
          <a:xfrm>
            <a:off x="3703320" y="5532120"/>
            <a:ext cx="2743200" cy="420624"/>
          </a:xfrm>
          <a:prstGeom prst="rect">
            <a:avLst/>
          </a:prstGeom>
          <a:noFill/>
          <a:ln/>
        </p:spPr>
        <p:txBody>
          <a:bodyPr wrap="square" lIns="0" tIns="0" rIns="0" bIns="0" rtlCol="0" anchor="t"/>
          <a:lstStyle/>
          <a:p>
            <a:pPr indent="0" marL="0">
              <a:buNone/>
            </a:pPr>
            <a:r>
              <a:rPr lang="en-US" sz="950" b="1" spc="200" kern="0" dirty="0">
                <a:solidFill>
                  <a:schemeClr val="accent2"/>
                </a:solidFill>
              </a:rPr>
              <a:t>UNIVERSITY</a:t>
            </a:r>
            <a:endParaRPr lang="en-US" sz="1500" dirty="0"/>
          </a:p>
          <a:p>
            <a:pPr indent="0" marL="0">
              <a:buNone/>
            </a:pPr>
            <a:r>
              <a:rPr lang="en-US" sz="1250" dirty="0">
                <a:solidFill>
                  <a:schemeClr val="bg1"/>
                </a:solidFill>
              </a:rPr>
              <a:t>[University Name]</a:t>
            </a:r>
            <a:endParaRPr lang="en-US" sz="1500" dirty="0"/>
          </a:p>
        </p:txBody>
      </p:sp>
      <p:sp>
        <p:nvSpPr>
          <p:cNvPr id="16" name="Presentation date"/>
          <p:cNvSpPr txBox="1"/>
          <p:nvPr/>
        </p:nvSpPr>
        <p:spPr>
          <a:xfrm>
            <a:off x="548640" y="6035040"/>
            <a:ext cx="3017520" cy="420624"/>
          </a:xfrm>
          <a:prstGeom prst="rect">
            <a:avLst/>
          </a:prstGeom>
          <a:noFill/>
          <a:ln/>
        </p:spPr>
        <p:txBody>
          <a:bodyPr wrap="square" lIns="0" tIns="0" rIns="0" bIns="0" rtlCol="0" anchor="t"/>
          <a:lstStyle/>
          <a:p>
            <a:pPr indent="0" marL="0">
              <a:buNone/>
            </a:pPr>
            <a:r>
              <a:rPr lang="en-US" sz="950" b="1" spc="200" kern="0" dirty="0">
                <a:solidFill>
                  <a:schemeClr val="accent2"/>
                </a:solidFill>
              </a:rPr>
              <a:t>DATE</a:t>
            </a:r>
            <a:endParaRPr lang="en-US" sz="1500" dirty="0"/>
          </a:p>
          <a:p>
            <a:pPr indent="0" marL="0">
              <a:buNone/>
            </a:pPr>
            <a:r>
              <a:rPr lang="en-US" sz="1250" dirty="0">
                <a:solidFill>
                  <a:schemeClr val="bg1"/>
                </a:solidFill>
              </a:rPr>
              <a:t>[Presentation Date]</a:t>
            </a:r>
            <a:endParaRPr lang="en-US" sz="15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749808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01 · WHAT &amp; WHY</a:t>
            </a:r>
            <a:endParaRPr lang="en-US" sz="1200" dirty="0"/>
          </a:p>
        </p:txBody>
      </p:sp>
      <p:sp>
        <p:nvSpPr>
          <p:cNvPr id="3" name="Text 0"/>
          <p:cNvSpPr/>
          <p:nvPr>
            <p:ph idx="101" type="title" hasCustomPrompt="1"/>
          </p:nvPr>
        </p:nvSpPr>
        <p:spPr>
          <a:xfrm>
            <a:off x="548640" y="658368"/>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latin typeface="+mj-lt" pitchFamily="34" charset="0"/>
                <a:ea typeface="+mj-lt" pitchFamily="34" charset="-122"/>
                <a:cs typeface="+mj-lt" pitchFamily="34" charset="-120"/>
              </a:rPr>
              <a:t>Statistics turns data into decisions</a:t>
            </a:r>
            <a:endParaRPr lang="en-US" sz="3400" dirty="0"/>
          </a:p>
        </p:txBody>
      </p:sp>
      <p:sp>
        <p:nvSpPr>
          <p:cNvPr id="4" name="Slide description"/>
          <p:cNvSpPr txBox="1"/>
          <p:nvPr/>
        </p:nvSpPr>
        <p:spPr>
          <a:xfrm>
            <a:off x="548640" y="1463040"/>
            <a:ext cx="11094415" cy="457200"/>
          </a:xfrm>
          <a:prstGeom prst="rect">
            <a:avLst/>
          </a:prstGeom>
          <a:noFill/>
          <a:ln/>
        </p:spPr>
        <p:txBody>
          <a:bodyPr wrap="square" lIns="0" tIns="0" rIns="0" bIns="0" rtlCol="0" anchor="t"/>
          <a:lstStyle/>
          <a:p>
            <a:pPr indent="0" marL="0">
              <a:buNone/>
            </a:pPr>
            <a:r>
              <a:rPr lang="en-US" sz="1600" dirty="0">
                <a:solidFill>
                  <a:schemeClr val="accent5"/>
                </a:solidFill>
              </a:rPr>
              <a:t>Advanced statistics helps us find real patterns, measure how sure we are, and choose with evidence instead of guesswork.</a:t>
            </a:r>
            <a:endParaRPr lang="en-US" sz="1600" dirty="0"/>
          </a:p>
        </p:txBody>
      </p:sp>
      <p:sp>
        <p:nvSpPr>
          <p:cNvPr id="5" name="Flow step 1"/>
          <p:cNvSpPr/>
          <p:nvPr/>
        </p:nvSpPr>
        <p:spPr>
          <a:xfrm>
            <a:off x="548640" y="2148840"/>
            <a:ext cx="2560320" cy="640080"/>
          </a:xfrm>
          <a:prstGeom prst="roundRect">
            <a:avLst>
              <a:gd name="adj" fmla="val 50000"/>
            </a:avLst>
          </a:prstGeom>
          <a:solidFill>
            <a:schemeClr val="bg2"/>
          </a:solidFill>
          <a:ln/>
        </p:spPr>
      </p:sp>
      <p:sp>
        <p:nvSpPr>
          <p:cNvPr id="6" name="Flow step 1 text"/>
          <p:cNvSpPr txBox="1"/>
          <p:nvPr/>
        </p:nvSpPr>
        <p:spPr>
          <a:xfrm>
            <a:off x="548640" y="2148840"/>
            <a:ext cx="2560320" cy="640080"/>
          </a:xfrm>
          <a:prstGeom prst="rect">
            <a:avLst/>
          </a:prstGeom>
          <a:noFill/>
          <a:ln/>
        </p:spPr>
        <p:txBody>
          <a:bodyPr wrap="square" lIns="0" tIns="0" rIns="0" bIns="0" rtlCol="0" anchor="ctr"/>
          <a:lstStyle/>
          <a:p>
            <a:pPr algn="ctr" indent="0" marL="0">
              <a:buNone/>
            </a:pPr>
            <a:r>
              <a:rPr lang="en-US" sz="1600" b="1" dirty="0">
                <a:solidFill>
                  <a:schemeClr val="accent1"/>
                </a:solidFill>
              </a:rPr>
              <a:t>1  </a:t>
            </a:r>
            <a:pPr algn="ctr" indent="0" marL="0">
              <a:buNone/>
            </a:pPr>
            <a:r>
              <a:rPr lang="en-US" sz="1600" b="1" dirty="0">
                <a:solidFill>
                  <a:schemeClr val="tx2"/>
                </a:solidFill>
              </a:rPr>
              <a:t>Collect data</a:t>
            </a:r>
            <a:endParaRPr lang="en-US" sz="1600" dirty="0"/>
          </a:p>
        </p:txBody>
      </p:sp>
      <p:sp>
        <p:nvSpPr>
          <p:cNvPr id="7" name="Flow step 2"/>
          <p:cNvSpPr/>
          <p:nvPr/>
        </p:nvSpPr>
        <p:spPr>
          <a:xfrm>
            <a:off x="3393338" y="2148840"/>
            <a:ext cx="2560320" cy="640080"/>
          </a:xfrm>
          <a:prstGeom prst="roundRect">
            <a:avLst>
              <a:gd name="adj" fmla="val 50000"/>
            </a:avLst>
          </a:prstGeom>
          <a:solidFill>
            <a:schemeClr val="bg2"/>
          </a:solidFill>
          <a:ln/>
        </p:spPr>
      </p:sp>
      <p:sp>
        <p:nvSpPr>
          <p:cNvPr id="8" name="Flow step 2 text"/>
          <p:cNvSpPr txBox="1"/>
          <p:nvPr/>
        </p:nvSpPr>
        <p:spPr>
          <a:xfrm>
            <a:off x="3393338" y="2148840"/>
            <a:ext cx="2560320" cy="640080"/>
          </a:xfrm>
          <a:prstGeom prst="rect">
            <a:avLst/>
          </a:prstGeom>
          <a:noFill/>
          <a:ln/>
        </p:spPr>
        <p:txBody>
          <a:bodyPr wrap="square" lIns="0" tIns="0" rIns="0" bIns="0" rtlCol="0" anchor="ctr"/>
          <a:lstStyle/>
          <a:p>
            <a:pPr algn="ctr" indent="0" marL="0">
              <a:buNone/>
            </a:pPr>
            <a:r>
              <a:rPr lang="en-US" sz="1600" b="1" dirty="0">
                <a:solidFill>
                  <a:schemeClr val="accent1"/>
                </a:solidFill>
              </a:rPr>
              <a:t>2  </a:t>
            </a:r>
            <a:pPr algn="ctr" indent="0" marL="0">
              <a:buNone/>
            </a:pPr>
            <a:r>
              <a:rPr lang="en-US" sz="1600" b="1" dirty="0">
                <a:solidFill>
                  <a:schemeClr val="tx2"/>
                </a:solidFill>
              </a:rPr>
              <a:t>Find patterns</a:t>
            </a:r>
            <a:endParaRPr lang="en-US" sz="1600" dirty="0"/>
          </a:p>
        </p:txBody>
      </p:sp>
      <p:sp>
        <p:nvSpPr>
          <p:cNvPr id="9" name="Flow arrow 2"/>
          <p:cNvSpPr/>
          <p:nvPr/>
        </p:nvSpPr>
        <p:spPr>
          <a:xfrm>
            <a:off x="3182569" y="2331720"/>
            <a:ext cx="137160" cy="274320"/>
          </a:xfrm>
          <a:prstGeom prst="chevron">
            <a:avLst/>
          </a:prstGeom>
          <a:solidFill>
            <a:schemeClr val="accent5"/>
          </a:solidFill>
          <a:ln/>
        </p:spPr>
      </p:sp>
      <p:sp>
        <p:nvSpPr>
          <p:cNvPr id="10" name="Flow step 3"/>
          <p:cNvSpPr/>
          <p:nvPr/>
        </p:nvSpPr>
        <p:spPr>
          <a:xfrm>
            <a:off x="6238037" y="2148840"/>
            <a:ext cx="2560320" cy="640080"/>
          </a:xfrm>
          <a:prstGeom prst="roundRect">
            <a:avLst>
              <a:gd name="adj" fmla="val 50000"/>
            </a:avLst>
          </a:prstGeom>
          <a:solidFill>
            <a:schemeClr val="bg2"/>
          </a:solidFill>
          <a:ln/>
        </p:spPr>
      </p:sp>
      <p:sp>
        <p:nvSpPr>
          <p:cNvPr id="11" name="Flow step 3 text"/>
          <p:cNvSpPr txBox="1"/>
          <p:nvPr/>
        </p:nvSpPr>
        <p:spPr>
          <a:xfrm>
            <a:off x="6238037" y="2148840"/>
            <a:ext cx="2560320" cy="640080"/>
          </a:xfrm>
          <a:prstGeom prst="rect">
            <a:avLst/>
          </a:prstGeom>
          <a:noFill/>
          <a:ln/>
        </p:spPr>
        <p:txBody>
          <a:bodyPr wrap="square" lIns="0" tIns="0" rIns="0" bIns="0" rtlCol="0" anchor="ctr"/>
          <a:lstStyle/>
          <a:p>
            <a:pPr algn="ctr" indent="0" marL="0">
              <a:buNone/>
            </a:pPr>
            <a:r>
              <a:rPr lang="en-US" sz="1600" b="1" dirty="0">
                <a:solidFill>
                  <a:schemeClr val="accent1"/>
                </a:solidFill>
              </a:rPr>
              <a:t>3  </a:t>
            </a:r>
            <a:pPr algn="ctr" indent="0" marL="0">
              <a:buNone/>
            </a:pPr>
            <a:r>
              <a:rPr lang="en-US" sz="1600" b="1" dirty="0">
                <a:solidFill>
                  <a:schemeClr val="tx2"/>
                </a:solidFill>
              </a:rPr>
              <a:t>Measure uncertainty</a:t>
            </a:r>
            <a:endParaRPr lang="en-US" sz="1600" dirty="0"/>
          </a:p>
        </p:txBody>
      </p:sp>
      <p:sp>
        <p:nvSpPr>
          <p:cNvPr id="12" name="Flow arrow 3"/>
          <p:cNvSpPr/>
          <p:nvPr/>
        </p:nvSpPr>
        <p:spPr>
          <a:xfrm>
            <a:off x="6027268" y="2331720"/>
            <a:ext cx="137160" cy="274320"/>
          </a:xfrm>
          <a:prstGeom prst="chevron">
            <a:avLst/>
          </a:prstGeom>
          <a:solidFill>
            <a:schemeClr val="accent5"/>
          </a:solidFill>
          <a:ln/>
        </p:spPr>
      </p:sp>
      <p:sp>
        <p:nvSpPr>
          <p:cNvPr id="13" name="Flow step 4"/>
          <p:cNvSpPr/>
          <p:nvPr/>
        </p:nvSpPr>
        <p:spPr>
          <a:xfrm>
            <a:off x="9082735" y="2148840"/>
            <a:ext cx="2560320" cy="640080"/>
          </a:xfrm>
          <a:prstGeom prst="roundRect">
            <a:avLst>
              <a:gd name="adj" fmla="val 50000"/>
            </a:avLst>
          </a:prstGeom>
          <a:solidFill>
            <a:schemeClr val="tx2"/>
          </a:solidFill>
          <a:ln/>
        </p:spPr>
      </p:sp>
      <p:sp>
        <p:nvSpPr>
          <p:cNvPr id="14" name="Flow step 4 text"/>
          <p:cNvSpPr txBox="1"/>
          <p:nvPr/>
        </p:nvSpPr>
        <p:spPr>
          <a:xfrm>
            <a:off x="9082735" y="2148840"/>
            <a:ext cx="2560320" cy="640080"/>
          </a:xfrm>
          <a:prstGeom prst="rect">
            <a:avLst/>
          </a:prstGeom>
          <a:noFill/>
          <a:ln/>
        </p:spPr>
        <p:txBody>
          <a:bodyPr wrap="square" lIns="0" tIns="0" rIns="0" bIns="0" rtlCol="0" anchor="ctr"/>
          <a:lstStyle/>
          <a:p>
            <a:pPr algn="ctr" indent="0" marL="0">
              <a:buNone/>
            </a:pPr>
            <a:r>
              <a:rPr lang="en-US" sz="1600" b="1" dirty="0">
                <a:solidFill>
                  <a:schemeClr val="accent2"/>
                </a:solidFill>
              </a:rPr>
              <a:t>4  </a:t>
            </a:r>
            <a:pPr algn="ctr" indent="0" marL="0">
              <a:buNone/>
            </a:pPr>
            <a:r>
              <a:rPr lang="en-US" sz="1600" b="1" dirty="0">
                <a:solidFill>
                  <a:schemeClr val="bg1"/>
                </a:solidFill>
              </a:rPr>
              <a:t>Make decisions</a:t>
            </a:r>
            <a:endParaRPr lang="en-US" sz="1600" dirty="0"/>
          </a:p>
        </p:txBody>
      </p:sp>
      <p:sp>
        <p:nvSpPr>
          <p:cNvPr id="15" name="Flow arrow 4"/>
          <p:cNvSpPr/>
          <p:nvPr/>
        </p:nvSpPr>
        <p:spPr>
          <a:xfrm>
            <a:off x="8871966" y="2331720"/>
            <a:ext cx="137160" cy="274320"/>
          </a:xfrm>
          <a:prstGeom prst="chevron">
            <a:avLst/>
          </a:prstGeom>
          <a:solidFill>
            <a:schemeClr val="accent5"/>
          </a:solidFill>
          <a:ln/>
        </p:spPr>
      </p:sp>
      <p:sp>
        <p:nvSpPr>
          <p:cNvPr id="16" name="Methods heading"/>
          <p:cNvSpPr txBox="1"/>
          <p:nvPr/>
        </p:nvSpPr>
        <p:spPr>
          <a:xfrm>
            <a:off x="548640" y="3063240"/>
            <a:ext cx="11094415" cy="347472"/>
          </a:xfrm>
          <a:prstGeom prst="rect">
            <a:avLst/>
          </a:prstGeom>
          <a:noFill/>
          <a:ln/>
        </p:spPr>
        <p:txBody>
          <a:bodyPr wrap="square" lIns="0" tIns="0" rIns="0" bIns="0" rtlCol="0" anchor="t"/>
          <a:lstStyle/>
          <a:p>
            <a:pPr indent="0" marL="0">
              <a:buNone/>
            </a:pPr>
            <a:r>
              <a:rPr lang="en-US" sz="1800" b="1" dirty="0">
                <a:solidFill>
                  <a:schemeClr val="tx2"/>
                </a:solidFill>
                <a:latin typeface="+mj-lt" pitchFamily="34" charset="0"/>
                <a:ea typeface="+mj-lt" pitchFamily="34" charset="-122"/>
                <a:cs typeface="+mj-lt" pitchFamily="34" charset="-120"/>
              </a:rPr>
              <a:t>Four key methods</a:t>
            </a:r>
            <a:endParaRPr lang="en-US" sz="1800" dirty="0"/>
          </a:p>
        </p:txBody>
      </p:sp>
      <p:sp>
        <p:nvSpPr>
          <p:cNvPr id="17" name="Regression card"/>
          <p:cNvSpPr/>
          <p:nvPr/>
        </p:nvSpPr>
        <p:spPr>
          <a:xfrm>
            <a:off x="548640" y="3520440"/>
            <a:ext cx="2602154" cy="2697480"/>
          </a:xfrm>
          <a:prstGeom prst="roundRect">
            <a:avLst>
              <a:gd name="adj" fmla="val 2811"/>
            </a:avLst>
          </a:prstGeom>
          <a:solidFill>
            <a:schemeClr val="bg2"/>
          </a:solidFill>
          <a:ln/>
        </p:spPr>
      </p:sp>
      <p:pic>
        <p:nvPicPr>
          <p:cNvPr id="18" name="Regression diagram" descr="Diagram: Regression">    </p:cNvPr>
          <p:cNvPicPr>
            <a:picLocks noChangeAspect="1"/>
          </p:cNvPicPr>
          <p:nvPr/>
        </p:nvPicPr>
        <p:blipFill>
          <a:blip r:embed="rId1"/>
          <a:stretch>
            <a:fillRect/>
          </a:stretch>
        </p:blipFill>
        <p:spPr>
          <a:xfrm>
            <a:off x="749808" y="3721608"/>
            <a:ext cx="914400" cy="914400"/>
          </a:xfrm>
          <a:prstGeom prst="rect">
            <a:avLst/>
          </a:prstGeom>
        </p:spPr>
      </p:pic>
      <p:sp>
        <p:nvSpPr>
          <p:cNvPr id="19" name="Regression title"/>
          <p:cNvSpPr txBox="1"/>
          <p:nvPr/>
        </p:nvSpPr>
        <p:spPr>
          <a:xfrm>
            <a:off x="749808" y="4782312"/>
            <a:ext cx="2199818" cy="365760"/>
          </a:xfrm>
          <a:prstGeom prst="rect">
            <a:avLst/>
          </a:prstGeom>
          <a:noFill/>
          <a:ln/>
        </p:spPr>
        <p:txBody>
          <a:bodyPr wrap="square" lIns="0" tIns="0" rIns="0" bIns="0" rtlCol="0" anchor="t"/>
          <a:lstStyle/>
          <a:p>
            <a:pPr indent="0" marL="0">
              <a:buNone/>
            </a:pPr>
            <a:r>
              <a:rPr lang="en-US" sz="1700" b="1" dirty="0">
                <a:solidFill>
                  <a:schemeClr val="tx2"/>
                </a:solidFill>
                <a:latin typeface="+mj-lt" pitchFamily="34" charset="0"/>
                <a:ea typeface="+mj-lt" pitchFamily="34" charset="-122"/>
                <a:cs typeface="+mj-lt" pitchFamily="34" charset="-120"/>
              </a:rPr>
              <a:t>Regression</a:t>
            </a:r>
            <a:endParaRPr lang="en-US" sz="1700" dirty="0"/>
          </a:p>
        </p:txBody>
      </p:sp>
      <p:sp>
        <p:nvSpPr>
          <p:cNvPr id="20" name="Regression text"/>
          <p:cNvSpPr txBox="1"/>
          <p:nvPr/>
        </p:nvSpPr>
        <p:spPr>
          <a:xfrm>
            <a:off x="749808" y="5202936"/>
            <a:ext cx="2199818" cy="868680"/>
          </a:xfrm>
          <a:prstGeom prst="rect">
            <a:avLst/>
          </a:prstGeom>
          <a:noFill/>
          <a:ln/>
        </p:spPr>
        <p:txBody>
          <a:bodyPr wrap="square" lIns="0" tIns="0" rIns="0" bIns="0" rtlCol="0" anchor="t"/>
          <a:lstStyle/>
          <a:p>
            <a:pPr indent="0" marL="0">
              <a:buNone/>
            </a:pPr>
            <a:r>
              <a:rPr lang="en-US" sz="1400" dirty="0">
                <a:solidFill>
                  <a:schemeClr val="tx1"/>
                </a:solidFill>
              </a:rPr>
              <a:t>Shows how one factor affects another, e.g. price → sales.</a:t>
            </a:r>
            <a:endParaRPr lang="en-US" sz="1400" dirty="0"/>
          </a:p>
        </p:txBody>
      </p:sp>
      <p:sp>
        <p:nvSpPr>
          <p:cNvPr id="21" name="Hypothesis testing card"/>
          <p:cNvSpPr/>
          <p:nvPr/>
        </p:nvSpPr>
        <p:spPr>
          <a:xfrm>
            <a:off x="3379394" y="3520440"/>
            <a:ext cx="2602154" cy="2697480"/>
          </a:xfrm>
          <a:prstGeom prst="roundRect">
            <a:avLst>
              <a:gd name="adj" fmla="val 2811"/>
            </a:avLst>
          </a:prstGeom>
          <a:solidFill>
            <a:schemeClr val="bg2"/>
          </a:solidFill>
          <a:ln/>
        </p:spPr>
      </p:sp>
      <p:pic>
        <p:nvPicPr>
          <p:cNvPr id="22" name="Hypothesis testing diagram" descr="Diagram: Hypothesis testing">    </p:cNvPr>
          <p:cNvPicPr>
            <a:picLocks noChangeAspect="1"/>
          </p:cNvPicPr>
          <p:nvPr/>
        </p:nvPicPr>
        <p:blipFill>
          <a:blip r:embed="rId2"/>
          <a:stretch>
            <a:fillRect/>
          </a:stretch>
        </p:blipFill>
        <p:spPr>
          <a:xfrm>
            <a:off x="3580562" y="3721608"/>
            <a:ext cx="914400" cy="914400"/>
          </a:xfrm>
          <a:prstGeom prst="rect">
            <a:avLst/>
          </a:prstGeom>
        </p:spPr>
      </p:pic>
      <p:sp>
        <p:nvSpPr>
          <p:cNvPr id="23" name="Hypothesis testing title"/>
          <p:cNvSpPr txBox="1"/>
          <p:nvPr/>
        </p:nvSpPr>
        <p:spPr>
          <a:xfrm>
            <a:off x="3580562" y="4782312"/>
            <a:ext cx="2199818" cy="365760"/>
          </a:xfrm>
          <a:prstGeom prst="rect">
            <a:avLst/>
          </a:prstGeom>
          <a:noFill/>
          <a:ln/>
        </p:spPr>
        <p:txBody>
          <a:bodyPr wrap="square" lIns="0" tIns="0" rIns="0" bIns="0" rtlCol="0" anchor="t"/>
          <a:lstStyle/>
          <a:p>
            <a:pPr indent="0" marL="0">
              <a:buNone/>
            </a:pPr>
            <a:r>
              <a:rPr lang="en-US" sz="1700" b="1" dirty="0">
                <a:solidFill>
                  <a:schemeClr val="tx2"/>
                </a:solidFill>
                <a:latin typeface="+mj-lt" pitchFamily="34" charset="0"/>
                <a:ea typeface="+mj-lt" pitchFamily="34" charset="-122"/>
                <a:cs typeface="+mj-lt" pitchFamily="34" charset="-120"/>
              </a:rPr>
              <a:t>Hypothesis testing</a:t>
            </a:r>
            <a:endParaRPr lang="en-US" sz="1700" dirty="0"/>
          </a:p>
        </p:txBody>
      </p:sp>
      <p:sp>
        <p:nvSpPr>
          <p:cNvPr id="24" name="Hypothesis testing text"/>
          <p:cNvSpPr txBox="1"/>
          <p:nvPr/>
        </p:nvSpPr>
        <p:spPr>
          <a:xfrm>
            <a:off x="3580562" y="5202936"/>
            <a:ext cx="2199818" cy="868680"/>
          </a:xfrm>
          <a:prstGeom prst="rect">
            <a:avLst/>
          </a:prstGeom>
          <a:noFill/>
          <a:ln/>
        </p:spPr>
        <p:txBody>
          <a:bodyPr wrap="square" lIns="0" tIns="0" rIns="0" bIns="0" rtlCol="0" anchor="t"/>
          <a:lstStyle/>
          <a:p>
            <a:pPr indent="0" marL="0">
              <a:buNone/>
            </a:pPr>
            <a:r>
              <a:rPr lang="en-US" sz="1400" dirty="0">
                <a:solidFill>
                  <a:schemeClr val="tx1"/>
                </a:solidFill>
              </a:rPr>
              <a:t>Checks whether a difference is real or just chance.</a:t>
            </a:r>
            <a:endParaRPr lang="en-US" sz="1400" dirty="0"/>
          </a:p>
        </p:txBody>
      </p:sp>
      <p:sp>
        <p:nvSpPr>
          <p:cNvPr id="25" name="Forecasting card"/>
          <p:cNvSpPr/>
          <p:nvPr/>
        </p:nvSpPr>
        <p:spPr>
          <a:xfrm>
            <a:off x="6210148" y="3520440"/>
            <a:ext cx="2602154" cy="2697480"/>
          </a:xfrm>
          <a:prstGeom prst="roundRect">
            <a:avLst>
              <a:gd name="adj" fmla="val 2811"/>
            </a:avLst>
          </a:prstGeom>
          <a:solidFill>
            <a:schemeClr val="bg2"/>
          </a:solidFill>
          <a:ln/>
        </p:spPr>
      </p:sp>
      <p:pic>
        <p:nvPicPr>
          <p:cNvPr id="26" name="Forecasting diagram" descr="Diagram: Forecasting">    </p:cNvPr>
          <p:cNvPicPr>
            <a:picLocks noChangeAspect="1"/>
          </p:cNvPicPr>
          <p:nvPr/>
        </p:nvPicPr>
        <p:blipFill>
          <a:blip r:embed="rId3"/>
          <a:stretch>
            <a:fillRect/>
          </a:stretch>
        </p:blipFill>
        <p:spPr>
          <a:xfrm>
            <a:off x="6411316" y="3721608"/>
            <a:ext cx="914400" cy="914400"/>
          </a:xfrm>
          <a:prstGeom prst="rect">
            <a:avLst/>
          </a:prstGeom>
        </p:spPr>
      </p:pic>
      <p:sp>
        <p:nvSpPr>
          <p:cNvPr id="27" name="Forecasting title"/>
          <p:cNvSpPr txBox="1"/>
          <p:nvPr/>
        </p:nvSpPr>
        <p:spPr>
          <a:xfrm>
            <a:off x="6411316" y="4782312"/>
            <a:ext cx="2199818" cy="365760"/>
          </a:xfrm>
          <a:prstGeom prst="rect">
            <a:avLst/>
          </a:prstGeom>
          <a:noFill/>
          <a:ln/>
        </p:spPr>
        <p:txBody>
          <a:bodyPr wrap="square" lIns="0" tIns="0" rIns="0" bIns="0" rtlCol="0" anchor="t"/>
          <a:lstStyle/>
          <a:p>
            <a:pPr indent="0" marL="0">
              <a:buNone/>
            </a:pPr>
            <a:r>
              <a:rPr lang="en-US" sz="1700" b="1" dirty="0">
                <a:solidFill>
                  <a:schemeClr val="tx2"/>
                </a:solidFill>
                <a:latin typeface="+mj-lt" pitchFamily="34" charset="0"/>
                <a:ea typeface="+mj-lt" pitchFamily="34" charset="-122"/>
                <a:cs typeface="+mj-lt" pitchFamily="34" charset="-120"/>
              </a:rPr>
              <a:t>Forecasting</a:t>
            </a:r>
            <a:endParaRPr lang="en-US" sz="1700" dirty="0"/>
          </a:p>
        </p:txBody>
      </p:sp>
      <p:sp>
        <p:nvSpPr>
          <p:cNvPr id="28" name="Forecasting text"/>
          <p:cNvSpPr txBox="1"/>
          <p:nvPr/>
        </p:nvSpPr>
        <p:spPr>
          <a:xfrm>
            <a:off x="6411316" y="5202936"/>
            <a:ext cx="2199818" cy="868680"/>
          </a:xfrm>
          <a:prstGeom prst="rect">
            <a:avLst/>
          </a:prstGeom>
          <a:noFill/>
          <a:ln/>
        </p:spPr>
        <p:txBody>
          <a:bodyPr wrap="square" lIns="0" tIns="0" rIns="0" bIns="0" rtlCol="0" anchor="t"/>
          <a:lstStyle/>
          <a:p>
            <a:pPr indent="0" marL="0">
              <a:buNone/>
            </a:pPr>
            <a:r>
              <a:rPr lang="en-US" sz="1400" dirty="0">
                <a:solidFill>
                  <a:schemeClr val="tx1"/>
                </a:solidFill>
              </a:rPr>
              <a:t>Predicts future values, such as demand, with a range.</a:t>
            </a:r>
            <a:endParaRPr lang="en-US" sz="1400" dirty="0"/>
          </a:p>
        </p:txBody>
      </p:sp>
      <p:sp>
        <p:nvSpPr>
          <p:cNvPr id="29" name="A/B testing card"/>
          <p:cNvSpPr/>
          <p:nvPr/>
        </p:nvSpPr>
        <p:spPr>
          <a:xfrm>
            <a:off x="9040901" y="3520440"/>
            <a:ext cx="2602154" cy="2697480"/>
          </a:xfrm>
          <a:prstGeom prst="roundRect">
            <a:avLst>
              <a:gd name="adj" fmla="val 2811"/>
            </a:avLst>
          </a:prstGeom>
          <a:solidFill>
            <a:schemeClr val="bg2"/>
          </a:solidFill>
          <a:ln/>
        </p:spPr>
      </p:sp>
      <p:pic>
        <p:nvPicPr>
          <p:cNvPr id="30" name="A/B testing diagram" descr="Diagram: A/B testing">    </p:cNvPr>
          <p:cNvPicPr>
            <a:picLocks noChangeAspect="1"/>
          </p:cNvPicPr>
          <p:nvPr/>
        </p:nvPicPr>
        <p:blipFill>
          <a:blip r:embed="rId4"/>
          <a:stretch>
            <a:fillRect/>
          </a:stretch>
        </p:blipFill>
        <p:spPr>
          <a:xfrm>
            <a:off x="9242069" y="3721608"/>
            <a:ext cx="914400" cy="914400"/>
          </a:xfrm>
          <a:prstGeom prst="rect">
            <a:avLst/>
          </a:prstGeom>
        </p:spPr>
      </p:pic>
      <p:sp>
        <p:nvSpPr>
          <p:cNvPr id="31" name="A/B testing title"/>
          <p:cNvSpPr txBox="1"/>
          <p:nvPr/>
        </p:nvSpPr>
        <p:spPr>
          <a:xfrm>
            <a:off x="9242069" y="4782312"/>
            <a:ext cx="2199818" cy="365760"/>
          </a:xfrm>
          <a:prstGeom prst="rect">
            <a:avLst/>
          </a:prstGeom>
          <a:noFill/>
          <a:ln/>
        </p:spPr>
        <p:txBody>
          <a:bodyPr wrap="square" lIns="0" tIns="0" rIns="0" bIns="0" rtlCol="0" anchor="t"/>
          <a:lstStyle/>
          <a:p>
            <a:pPr indent="0" marL="0">
              <a:buNone/>
            </a:pPr>
            <a:r>
              <a:rPr lang="en-US" sz="1700" b="1" dirty="0">
                <a:solidFill>
                  <a:schemeClr val="tx2"/>
                </a:solidFill>
                <a:latin typeface="+mj-lt" pitchFamily="34" charset="0"/>
                <a:ea typeface="+mj-lt" pitchFamily="34" charset="-122"/>
                <a:cs typeface="+mj-lt" pitchFamily="34" charset="-120"/>
              </a:rPr>
              <a:t>A/B testing</a:t>
            </a:r>
            <a:endParaRPr lang="en-US" sz="1700" dirty="0"/>
          </a:p>
        </p:txBody>
      </p:sp>
      <p:sp>
        <p:nvSpPr>
          <p:cNvPr id="32" name="A/B testing text"/>
          <p:cNvSpPr txBox="1"/>
          <p:nvPr/>
        </p:nvSpPr>
        <p:spPr>
          <a:xfrm>
            <a:off x="9242069" y="5202936"/>
            <a:ext cx="2199818" cy="868680"/>
          </a:xfrm>
          <a:prstGeom prst="rect">
            <a:avLst/>
          </a:prstGeom>
          <a:noFill/>
          <a:ln/>
        </p:spPr>
        <p:txBody>
          <a:bodyPr wrap="square" lIns="0" tIns="0" rIns="0" bIns="0" rtlCol="0" anchor="t"/>
          <a:lstStyle/>
          <a:p>
            <a:pPr indent="0" marL="0">
              <a:buNone/>
            </a:pPr>
            <a:r>
              <a:rPr lang="en-US" sz="1400" dirty="0">
                <a:solidFill>
                  <a:schemeClr val="tx1"/>
                </a:solidFill>
              </a:rPr>
              <a:t>Compares two options fairly using random groups.</a:t>
            </a:r>
            <a:endParaRPr lang="en-US" sz="1400" dirty="0"/>
          </a:p>
        </p:txBody>
      </p:sp>
      <p:sp>
        <p:nvSpPr>
          <p:cNvPr id="25" name="Slide Number Placeholder 0"/>
          <p:cNvSpPr>
            <a:spLocks noGrp="1"/>
          </p:cNvSpPr>
          <p:nvPr>
            <p:ph type="sldNum" sz="quarter" idx="4294967295"/>
          </p:nvPr>
        </p:nvSpPr>
        <p:spPr>
          <a:xfrm>
            <a:off x="11094415" y="644652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0" lang="en-US"/>
              <a:t>2</a:t>
            </a:fld>
            <a:endParaRPr lang="en-US"/>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749808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02 · REAL-WORLD USES</a:t>
            </a:r>
            <a:endParaRPr lang="en-US" sz="1200" dirty="0"/>
          </a:p>
        </p:txBody>
      </p:sp>
      <p:sp>
        <p:nvSpPr>
          <p:cNvPr id="3" name="Text 0"/>
          <p:cNvSpPr/>
          <p:nvPr>
            <p:ph idx="101" type="title" hasCustomPrompt="1"/>
          </p:nvPr>
        </p:nvSpPr>
        <p:spPr>
          <a:xfrm>
            <a:off x="548640" y="658368"/>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latin typeface="+mj-lt" pitchFamily="34" charset="0"/>
                <a:ea typeface="+mj-lt" pitchFamily="34" charset="-122"/>
                <a:cs typeface="+mj-lt" pitchFamily="34" charset="-120"/>
              </a:rPr>
              <a:t>Better decisions in business and research</a:t>
            </a:r>
            <a:endParaRPr lang="en-US" sz="3400" dirty="0"/>
          </a:p>
        </p:txBody>
      </p:sp>
      <p:sp>
        <p:nvSpPr>
          <p:cNvPr id="4" name="Business panel"/>
          <p:cNvSpPr/>
          <p:nvPr/>
        </p:nvSpPr>
        <p:spPr>
          <a:xfrm>
            <a:off x="548640" y="1554480"/>
            <a:ext cx="5387188" cy="4709160"/>
          </a:xfrm>
          <a:prstGeom prst="roundRect">
            <a:avLst>
              <a:gd name="adj" fmla="val 1553"/>
            </a:avLst>
          </a:prstGeom>
          <a:solidFill>
            <a:schemeClr val="bg2"/>
          </a:solidFill>
          <a:ln/>
        </p:spPr>
      </p:sp>
      <p:sp>
        <p:nvSpPr>
          <p:cNvPr id="5" name="Business icon circle"/>
          <p:cNvSpPr/>
          <p:nvPr/>
        </p:nvSpPr>
        <p:spPr>
          <a:xfrm>
            <a:off x="822960" y="1783080"/>
            <a:ext cx="512064" cy="512064"/>
          </a:xfrm>
          <a:prstGeom prst="ellipse">
            <a:avLst/>
          </a:prstGeom>
          <a:solidFill>
            <a:schemeClr val="accent3"/>
          </a:solidFill>
          <a:ln/>
        </p:spPr>
      </p:sp>
      <p:pic>
        <p:nvPicPr>
          <p:cNvPr id="6" name="Business icon" descr="Business">    </p:cNvPr>
          <p:cNvPicPr>
            <a:picLocks noChangeAspect="1"/>
          </p:cNvPicPr>
          <p:nvPr/>
        </p:nvPicPr>
        <p:blipFill>
          <a:blip r:embed="rId1"/>
          <a:stretch>
            <a:fillRect/>
          </a:stretch>
        </p:blipFill>
        <p:spPr>
          <a:xfrm>
            <a:off x="950976" y="1911096"/>
            <a:ext cx="256032" cy="256032"/>
          </a:xfrm>
          <a:prstGeom prst="rect">
            <a:avLst/>
          </a:prstGeom>
        </p:spPr>
      </p:pic>
      <p:sp>
        <p:nvSpPr>
          <p:cNvPr id="7" name="Business heading"/>
          <p:cNvSpPr txBox="1"/>
          <p:nvPr/>
        </p:nvSpPr>
        <p:spPr>
          <a:xfrm>
            <a:off x="1508760" y="1783080"/>
            <a:ext cx="4198468" cy="512064"/>
          </a:xfrm>
          <a:prstGeom prst="rect">
            <a:avLst/>
          </a:prstGeom>
          <a:noFill/>
          <a:ln/>
        </p:spPr>
        <p:txBody>
          <a:bodyPr wrap="square" lIns="0" tIns="0" rIns="0" bIns="0" rtlCol="0" anchor="ctr"/>
          <a:lstStyle/>
          <a:p>
            <a:pPr indent="0" marL="0">
              <a:buNone/>
            </a:pPr>
            <a:r>
              <a:rPr lang="en-US" sz="2100" b="1" dirty="0">
                <a:solidFill>
                  <a:schemeClr val="tx2"/>
                </a:solidFill>
                <a:latin typeface="+mj-lt" pitchFamily="34" charset="0"/>
                <a:ea typeface="+mj-lt" pitchFamily="34" charset="-122"/>
                <a:cs typeface="+mj-lt" pitchFamily="34" charset="-120"/>
              </a:rPr>
              <a:t>Business</a:t>
            </a:r>
            <a:endParaRPr lang="en-US" sz="2100" dirty="0"/>
          </a:p>
        </p:txBody>
      </p:sp>
      <p:sp>
        <p:nvSpPr>
          <p:cNvPr id="8" name="Business point 1 marker"/>
          <p:cNvSpPr/>
          <p:nvPr/>
        </p:nvSpPr>
        <p:spPr>
          <a:xfrm>
            <a:off x="877824" y="2642616"/>
            <a:ext cx="118872" cy="118872"/>
          </a:xfrm>
          <a:prstGeom prst="ellipse">
            <a:avLst/>
          </a:prstGeom>
          <a:solidFill>
            <a:schemeClr val="accent3"/>
          </a:solidFill>
          <a:ln/>
        </p:spPr>
      </p:sp>
      <p:sp>
        <p:nvSpPr>
          <p:cNvPr id="9" name="Business point 1"/>
          <p:cNvSpPr txBox="1"/>
          <p:nvPr/>
        </p:nvSpPr>
        <p:spPr>
          <a:xfrm>
            <a:off x="1143000" y="2514600"/>
            <a:ext cx="4564228" cy="384048"/>
          </a:xfrm>
          <a:prstGeom prst="rect">
            <a:avLst/>
          </a:prstGeom>
          <a:noFill/>
          <a:ln/>
        </p:spPr>
        <p:txBody>
          <a:bodyPr wrap="square" lIns="0" tIns="0" rIns="0" bIns="0" rtlCol="0" anchor="ctr"/>
          <a:lstStyle/>
          <a:p>
            <a:pPr indent="0" marL="0">
              <a:buNone/>
            </a:pPr>
            <a:r>
              <a:rPr lang="en-US" sz="1500" b="1" dirty="0">
                <a:solidFill>
                  <a:schemeClr val="tx2"/>
                </a:solidFill>
              </a:rPr>
              <a:t>Sales forecasting</a:t>
            </a:r>
            <a:pPr indent="0" marL="0">
              <a:buNone/>
            </a:pPr>
            <a:r>
              <a:rPr lang="en-US" sz="1500" dirty="0">
                <a:solidFill>
                  <a:schemeClr val="tx1"/>
                </a:solidFill>
              </a:rPr>
              <a:t>  →  plan the right stock level</a:t>
            </a:r>
            <a:endParaRPr lang="en-US" sz="1500" dirty="0"/>
          </a:p>
        </p:txBody>
      </p:sp>
      <p:sp>
        <p:nvSpPr>
          <p:cNvPr id="10" name="Business point 2 marker"/>
          <p:cNvSpPr/>
          <p:nvPr/>
        </p:nvSpPr>
        <p:spPr>
          <a:xfrm>
            <a:off x="877824" y="3099816"/>
            <a:ext cx="118872" cy="118872"/>
          </a:xfrm>
          <a:prstGeom prst="ellipse">
            <a:avLst/>
          </a:prstGeom>
          <a:solidFill>
            <a:schemeClr val="accent3"/>
          </a:solidFill>
          <a:ln/>
        </p:spPr>
      </p:sp>
      <p:sp>
        <p:nvSpPr>
          <p:cNvPr id="11" name="Business point 2"/>
          <p:cNvSpPr txBox="1"/>
          <p:nvPr/>
        </p:nvSpPr>
        <p:spPr>
          <a:xfrm>
            <a:off x="1143000" y="2971800"/>
            <a:ext cx="4564228" cy="384048"/>
          </a:xfrm>
          <a:prstGeom prst="rect">
            <a:avLst/>
          </a:prstGeom>
          <a:noFill/>
          <a:ln/>
        </p:spPr>
        <p:txBody>
          <a:bodyPr wrap="square" lIns="0" tIns="0" rIns="0" bIns="0" rtlCol="0" anchor="ctr"/>
          <a:lstStyle/>
          <a:p>
            <a:pPr indent="0" marL="0">
              <a:buNone/>
            </a:pPr>
            <a:r>
              <a:rPr lang="en-US" sz="1500" b="1" dirty="0">
                <a:solidFill>
                  <a:schemeClr val="tx2"/>
                </a:solidFill>
              </a:rPr>
              <a:t>Customer segmentation</a:t>
            </a:r>
            <a:pPr indent="0" marL="0">
              <a:buNone/>
            </a:pPr>
            <a:r>
              <a:rPr lang="en-US" sz="1500" dirty="0">
                <a:solidFill>
                  <a:schemeClr val="tx1"/>
                </a:solidFill>
              </a:rPr>
              <a:t>  →  target the right customers</a:t>
            </a:r>
            <a:endParaRPr lang="en-US" sz="1500" dirty="0"/>
          </a:p>
        </p:txBody>
      </p:sp>
      <p:sp>
        <p:nvSpPr>
          <p:cNvPr id="12" name="Business point 3 marker"/>
          <p:cNvSpPr/>
          <p:nvPr/>
        </p:nvSpPr>
        <p:spPr>
          <a:xfrm>
            <a:off x="877824" y="3557016"/>
            <a:ext cx="118872" cy="118872"/>
          </a:xfrm>
          <a:prstGeom prst="ellipse">
            <a:avLst/>
          </a:prstGeom>
          <a:solidFill>
            <a:schemeClr val="accent3"/>
          </a:solidFill>
          <a:ln/>
        </p:spPr>
      </p:sp>
      <p:sp>
        <p:nvSpPr>
          <p:cNvPr id="13" name="Business point 3"/>
          <p:cNvSpPr txBox="1"/>
          <p:nvPr/>
        </p:nvSpPr>
        <p:spPr>
          <a:xfrm>
            <a:off x="1143000" y="3429000"/>
            <a:ext cx="4564228" cy="384048"/>
          </a:xfrm>
          <a:prstGeom prst="rect">
            <a:avLst/>
          </a:prstGeom>
          <a:noFill/>
          <a:ln/>
        </p:spPr>
        <p:txBody>
          <a:bodyPr wrap="square" lIns="0" tIns="0" rIns="0" bIns="0" rtlCol="0" anchor="ctr"/>
          <a:lstStyle/>
          <a:p>
            <a:pPr indent="0" marL="0">
              <a:buNone/>
            </a:pPr>
            <a:r>
              <a:rPr lang="en-US" sz="1500" b="1" dirty="0">
                <a:solidFill>
                  <a:schemeClr val="tx2"/>
                </a:solidFill>
              </a:rPr>
              <a:t>Pricing</a:t>
            </a:r>
            <a:pPr indent="0" marL="0">
              <a:buNone/>
            </a:pPr>
            <a:r>
              <a:rPr lang="en-US" sz="1500" dirty="0">
                <a:solidFill>
                  <a:schemeClr val="tx1"/>
                </a:solidFill>
              </a:rPr>
              <a:t>  →  find the price that earns most</a:t>
            </a:r>
            <a:endParaRPr lang="en-US" sz="1500" dirty="0"/>
          </a:p>
        </p:txBody>
      </p:sp>
      <p:sp>
        <p:nvSpPr>
          <p:cNvPr id="14" name="Business point 4 marker"/>
          <p:cNvSpPr/>
          <p:nvPr/>
        </p:nvSpPr>
        <p:spPr>
          <a:xfrm>
            <a:off x="877824" y="4014216"/>
            <a:ext cx="118872" cy="118872"/>
          </a:xfrm>
          <a:prstGeom prst="ellipse">
            <a:avLst/>
          </a:prstGeom>
          <a:solidFill>
            <a:schemeClr val="accent3"/>
          </a:solidFill>
          <a:ln/>
        </p:spPr>
      </p:sp>
      <p:sp>
        <p:nvSpPr>
          <p:cNvPr id="15" name="Business point 4"/>
          <p:cNvSpPr txBox="1"/>
          <p:nvPr/>
        </p:nvSpPr>
        <p:spPr>
          <a:xfrm>
            <a:off x="1143000" y="3886200"/>
            <a:ext cx="4564228" cy="384048"/>
          </a:xfrm>
          <a:prstGeom prst="rect">
            <a:avLst/>
          </a:prstGeom>
          <a:noFill/>
          <a:ln/>
        </p:spPr>
        <p:txBody>
          <a:bodyPr wrap="square" lIns="0" tIns="0" rIns="0" bIns="0" rtlCol="0" anchor="ctr"/>
          <a:lstStyle/>
          <a:p>
            <a:pPr indent="0" marL="0">
              <a:buNone/>
            </a:pPr>
            <a:r>
              <a:rPr lang="en-US" sz="1500" b="1" dirty="0">
                <a:solidFill>
                  <a:schemeClr val="tx2"/>
                </a:solidFill>
              </a:rPr>
              <a:t>Risk &amp; fraud</a:t>
            </a:r>
            <a:pPr indent="0" marL="0">
              <a:buNone/>
            </a:pPr>
            <a:r>
              <a:rPr lang="en-US" sz="1500" dirty="0">
                <a:solidFill>
                  <a:schemeClr val="tx1"/>
                </a:solidFill>
              </a:rPr>
              <a:t>  →  approve loans more safely</a:t>
            </a:r>
            <a:endParaRPr lang="en-US" sz="1500" dirty="0"/>
          </a:p>
        </p:txBody>
      </p:sp>
      <p:sp>
        <p:nvSpPr>
          <p:cNvPr id="16" name="Business case box"/>
          <p:cNvSpPr/>
          <p:nvPr/>
        </p:nvSpPr>
        <p:spPr>
          <a:xfrm>
            <a:off x="822960" y="4526280"/>
            <a:ext cx="4838548" cy="1481328"/>
          </a:xfrm>
          <a:prstGeom prst="roundRect">
            <a:avLst>
              <a:gd name="adj" fmla="val 3704"/>
            </a:avLst>
          </a:prstGeom>
          <a:solidFill>
            <a:schemeClr val="tx2"/>
          </a:solidFill>
          <a:ln/>
        </p:spPr>
      </p:sp>
      <p:sp>
        <p:nvSpPr>
          <p:cNvPr id="17" name="Business case tag"/>
          <p:cNvSpPr txBox="1"/>
          <p:nvPr/>
        </p:nvSpPr>
        <p:spPr>
          <a:xfrm>
            <a:off x="1005840" y="4663440"/>
            <a:ext cx="4472788" cy="219456"/>
          </a:xfrm>
          <a:prstGeom prst="rect">
            <a:avLst/>
          </a:prstGeom>
          <a:noFill/>
          <a:ln/>
        </p:spPr>
        <p:txBody>
          <a:bodyPr wrap="square" lIns="0" tIns="0" rIns="0" bIns="0" rtlCol="0" anchor="t"/>
          <a:lstStyle/>
          <a:p>
            <a:pPr indent="0" marL="0">
              <a:buNone/>
            </a:pPr>
            <a:r>
              <a:rPr lang="en-US" sz="1050" b="1" spc="200" kern="0" dirty="0">
                <a:solidFill>
                  <a:schemeClr val="accent2"/>
                </a:solidFill>
              </a:rPr>
              <a:t>REAL CASE</a:t>
            </a:r>
            <a:endParaRPr lang="en-US" sz="1050" dirty="0"/>
          </a:p>
        </p:txBody>
      </p:sp>
      <p:sp>
        <p:nvSpPr>
          <p:cNvPr id="18" name="Business case text"/>
          <p:cNvSpPr txBox="1"/>
          <p:nvPr/>
        </p:nvSpPr>
        <p:spPr>
          <a:xfrm>
            <a:off x="1005840" y="4919472"/>
            <a:ext cx="4472788" cy="731520"/>
          </a:xfrm>
          <a:prstGeom prst="rect">
            <a:avLst/>
          </a:prstGeom>
          <a:noFill/>
          <a:ln/>
        </p:spPr>
        <p:txBody>
          <a:bodyPr wrap="square" lIns="0" tIns="0" rIns="0" bIns="0" rtlCol="0" anchor="t"/>
          <a:lstStyle/>
          <a:p>
            <a:pPr indent="0" marL="0">
              <a:buNone/>
            </a:pPr>
            <a:r>
              <a:rPr lang="en-US" sz="1400" dirty="0">
                <a:solidFill>
                  <a:schemeClr val="bg1"/>
                </a:solidFill>
              </a:rPr>
              <a:t>Bing tested longer ad titles with an A/B test: revenue rose about 12% (≈ $100M a year in the U.S.).</a:t>
            </a:r>
            <a:endParaRPr lang="en-US" sz="1400" dirty="0"/>
          </a:p>
        </p:txBody>
      </p:sp>
      <p:sp>
        <p:nvSpPr>
          <p:cNvPr id="19" name="Business case source"/>
          <p:cNvSpPr txBox="1"/>
          <p:nvPr/>
        </p:nvSpPr>
        <p:spPr>
          <a:xfrm>
            <a:off x="1005840" y="5669280"/>
            <a:ext cx="4472788" cy="219456"/>
          </a:xfrm>
          <a:prstGeom prst="rect">
            <a:avLst/>
          </a:prstGeom>
          <a:noFill/>
          <a:ln/>
        </p:spPr>
        <p:txBody>
          <a:bodyPr wrap="square" lIns="0" tIns="0" rIns="0" bIns="0" rtlCol="0" anchor="t"/>
          <a:lstStyle/>
          <a:p>
            <a:pPr indent="0" marL="0">
              <a:buNone/>
            </a:pPr>
            <a:r>
              <a:rPr lang="en-US" sz="1000" i="1" dirty="0">
                <a:solidFill>
                  <a:schemeClr val="accent6"/>
                </a:solidFill>
              </a:rPr>
              <a:t>Kohavi &amp; Thomke (2017), Harvard Business Review</a:t>
            </a:r>
            <a:endParaRPr lang="en-US" sz="1000" dirty="0"/>
          </a:p>
        </p:txBody>
      </p:sp>
      <p:sp>
        <p:nvSpPr>
          <p:cNvPr id="20" name="Research panel"/>
          <p:cNvSpPr/>
          <p:nvPr/>
        </p:nvSpPr>
        <p:spPr>
          <a:xfrm>
            <a:off x="6255868" y="1554480"/>
            <a:ext cx="5387188" cy="4709160"/>
          </a:xfrm>
          <a:prstGeom prst="roundRect">
            <a:avLst>
              <a:gd name="adj" fmla="val 1553"/>
            </a:avLst>
          </a:prstGeom>
          <a:solidFill>
            <a:schemeClr val="bg2"/>
          </a:solidFill>
          <a:ln/>
        </p:spPr>
      </p:sp>
      <p:sp>
        <p:nvSpPr>
          <p:cNvPr id="21" name="Research icon circle"/>
          <p:cNvSpPr/>
          <p:nvPr/>
        </p:nvSpPr>
        <p:spPr>
          <a:xfrm>
            <a:off x="6530188" y="1783080"/>
            <a:ext cx="512064" cy="512064"/>
          </a:xfrm>
          <a:prstGeom prst="ellipse">
            <a:avLst/>
          </a:prstGeom>
          <a:solidFill>
            <a:schemeClr val="accent1"/>
          </a:solidFill>
          <a:ln/>
        </p:spPr>
      </p:sp>
      <p:pic>
        <p:nvPicPr>
          <p:cNvPr id="22" name="Research icon" descr="Research">    </p:cNvPr>
          <p:cNvPicPr>
            <a:picLocks noChangeAspect="1"/>
          </p:cNvPicPr>
          <p:nvPr/>
        </p:nvPicPr>
        <p:blipFill>
          <a:blip r:embed="rId2"/>
          <a:stretch>
            <a:fillRect/>
          </a:stretch>
        </p:blipFill>
        <p:spPr>
          <a:xfrm>
            <a:off x="6658204" y="1911096"/>
            <a:ext cx="256032" cy="256032"/>
          </a:xfrm>
          <a:prstGeom prst="rect">
            <a:avLst/>
          </a:prstGeom>
        </p:spPr>
      </p:pic>
      <p:sp>
        <p:nvSpPr>
          <p:cNvPr id="23" name="Research heading"/>
          <p:cNvSpPr txBox="1"/>
          <p:nvPr/>
        </p:nvSpPr>
        <p:spPr>
          <a:xfrm>
            <a:off x="7215988" y="1783080"/>
            <a:ext cx="4198468" cy="512064"/>
          </a:xfrm>
          <a:prstGeom prst="rect">
            <a:avLst/>
          </a:prstGeom>
          <a:noFill/>
          <a:ln/>
        </p:spPr>
        <p:txBody>
          <a:bodyPr wrap="square" lIns="0" tIns="0" rIns="0" bIns="0" rtlCol="0" anchor="ctr"/>
          <a:lstStyle/>
          <a:p>
            <a:pPr indent="0" marL="0">
              <a:buNone/>
            </a:pPr>
            <a:r>
              <a:rPr lang="en-US" sz="2100" b="1" dirty="0">
                <a:solidFill>
                  <a:schemeClr val="tx2"/>
                </a:solidFill>
                <a:latin typeface="+mj-lt" pitchFamily="34" charset="0"/>
                <a:ea typeface="+mj-lt" pitchFamily="34" charset="-122"/>
                <a:cs typeface="+mj-lt" pitchFamily="34" charset="-120"/>
              </a:rPr>
              <a:t>Research</a:t>
            </a:r>
            <a:endParaRPr lang="en-US" sz="2100" dirty="0"/>
          </a:p>
        </p:txBody>
      </p:sp>
      <p:sp>
        <p:nvSpPr>
          <p:cNvPr id="24" name="Research point 1 marker"/>
          <p:cNvSpPr/>
          <p:nvPr/>
        </p:nvSpPr>
        <p:spPr>
          <a:xfrm>
            <a:off x="6585052" y="2642616"/>
            <a:ext cx="118872" cy="118872"/>
          </a:xfrm>
          <a:prstGeom prst="ellipse">
            <a:avLst/>
          </a:prstGeom>
          <a:solidFill>
            <a:schemeClr val="accent1"/>
          </a:solidFill>
          <a:ln/>
        </p:spPr>
      </p:sp>
      <p:sp>
        <p:nvSpPr>
          <p:cNvPr id="25" name="Research point 1"/>
          <p:cNvSpPr txBox="1"/>
          <p:nvPr/>
        </p:nvSpPr>
        <p:spPr>
          <a:xfrm>
            <a:off x="6850228" y="2514600"/>
            <a:ext cx="4564228" cy="384048"/>
          </a:xfrm>
          <a:prstGeom prst="rect">
            <a:avLst/>
          </a:prstGeom>
          <a:noFill/>
          <a:ln/>
        </p:spPr>
        <p:txBody>
          <a:bodyPr wrap="square" lIns="0" tIns="0" rIns="0" bIns="0" rtlCol="0" anchor="ctr"/>
          <a:lstStyle/>
          <a:p>
            <a:pPr indent="0" marL="0">
              <a:buNone/>
            </a:pPr>
            <a:r>
              <a:rPr lang="en-US" sz="1500" b="1" dirty="0">
                <a:solidFill>
                  <a:schemeClr val="tx2"/>
                </a:solidFill>
              </a:rPr>
              <a:t>Study design</a:t>
            </a:r>
            <a:pPr indent="0" marL="0">
              <a:buNone/>
            </a:pPr>
            <a:r>
              <a:rPr lang="en-US" sz="1500" dirty="0">
                <a:solidFill>
                  <a:schemeClr val="tx1"/>
                </a:solidFill>
              </a:rPr>
              <a:t>  →  make comparisons fair</a:t>
            </a:r>
            <a:endParaRPr lang="en-US" sz="1500" dirty="0"/>
          </a:p>
        </p:txBody>
      </p:sp>
      <p:sp>
        <p:nvSpPr>
          <p:cNvPr id="26" name="Research point 2 marker"/>
          <p:cNvSpPr/>
          <p:nvPr/>
        </p:nvSpPr>
        <p:spPr>
          <a:xfrm>
            <a:off x="6585052" y="3099816"/>
            <a:ext cx="118872" cy="118872"/>
          </a:xfrm>
          <a:prstGeom prst="ellipse">
            <a:avLst/>
          </a:prstGeom>
          <a:solidFill>
            <a:schemeClr val="accent1"/>
          </a:solidFill>
          <a:ln/>
        </p:spPr>
      </p:sp>
      <p:sp>
        <p:nvSpPr>
          <p:cNvPr id="27" name="Research point 2"/>
          <p:cNvSpPr txBox="1"/>
          <p:nvPr/>
        </p:nvSpPr>
        <p:spPr>
          <a:xfrm>
            <a:off x="6850228" y="2971800"/>
            <a:ext cx="4564228" cy="384048"/>
          </a:xfrm>
          <a:prstGeom prst="rect">
            <a:avLst/>
          </a:prstGeom>
          <a:noFill/>
          <a:ln/>
        </p:spPr>
        <p:txBody>
          <a:bodyPr wrap="square" lIns="0" tIns="0" rIns="0" bIns="0" rtlCol="0" anchor="ctr"/>
          <a:lstStyle/>
          <a:p>
            <a:pPr indent="0" marL="0">
              <a:buNone/>
            </a:pPr>
            <a:r>
              <a:rPr lang="en-US" sz="1500" b="1" dirty="0">
                <a:solidFill>
                  <a:schemeClr val="tx2"/>
                </a:solidFill>
              </a:rPr>
              <a:t>Sample size</a:t>
            </a:r>
            <a:pPr indent="0" marL="0">
              <a:buNone/>
            </a:pPr>
            <a:r>
              <a:rPr lang="en-US" sz="1500" dirty="0">
                <a:solidFill>
                  <a:schemeClr val="tx1"/>
                </a:solidFill>
              </a:rPr>
              <a:t>  →  get reliable results</a:t>
            </a:r>
            <a:endParaRPr lang="en-US" sz="1500" dirty="0"/>
          </a:p>
        </p:txBody>
      </p:sp>
      <p:sp>
        <p:nvSpPr>
          <p:cNvPr id="28" name="Research point 3 marker"/>
          <p:cNvSpPr/>
          <p:nvPr/>
        </p:nvSpPr>
        <p:spPr>
          <a:xfrm>
            <a:off x="6585052" y="3557016"/>
            <a:ext cx="118872" cy="118872"/>
          </a:xfrm>
          <a:prstGeom prst="ellipse">
            <a:avLst/>
          </a:prstGeom>
          <a:solidFill>
            <a:schemeClr val="accent1"/>
          </a:solidFill>
          <a:ln/>
        </p:spPr>
      </p:sp>
      <p:sp>
        <p:nvSpPr>
          <p:cNvPr id="29" name="Research point 3"/>
          <p:cNvSpPr txBox="1"/>
          <p:nvPr/>
        </p:nvSpPr>
        <p:spPr>
          <a:xfrm>
            <a:off x="6850228" y="3429000"/>
            <a:ext cx="4564228" cy="384048"/>
          </a:xfrm>
          <a:prstGeom prst="rect">
            <a:avLst/>
          </a:prstGeom>
          <a:noFill/>
          <a:ln/>
        </p:spPr>
        <p:txBody>
          <a:bodyPr wrap="square" lIns="0" tIns="0" rIns="0" bIns="0" rtlCol="0" anchor="ctr"/>
          <a:lstStyle/>
          <a:p>
            <a:pPr indent="0" marL="0">
              <a:buNone/>
            </a:pPr>
            <a:r>
              <a:rPr lang="en-US" sz="1500" b="1" dirty="0">
                <a:solidFill>
                  <a:schemeClr val="tx2"/>
                </a:solidFill>
              </a:rPr>
              <a:t>Confidence intervals</a:t>
            </a:r>
            <a:pPr indent="0" marL="0">
              <a:buNone/>
            </a:pPr>
            <a:r>
              <a:rPr lang="en-US" sz="1500" dirty="0">
                <a:solidFill>
                  <a:schemeClr val="tx1"/>
                </a:solidFill>
              </a:rPr>
              <a:t>  →  show how sure we are</a:t>
            </a:r>
            <a:endParaRPr lang="en-US" sz="1500" dirty="0"/>
          </a:p>
        </p:txBody>
      </p:sp>
      <p:sp>
        <p:nvSpPr>
          <p:cNvPr id="30" name="Research point 4 marker"/>
          <p:cNvSpPr/>
          <p:nvPr/>
        </p:nvSpPr>
        <p:spPr>
          <a:xfrm>
            <a:off x="6585052" y="4014216"/>
            <a:ext cx="118872" cy="118872"/>
          </a:xfrm>
          <a:prstGeom prst="ellipse">
            <a:avLst/>
          </a:prstGeom>
          <a:solidFill>
            <a:schemeClr val="accent1"/>
          </a:solidFill>
          <a:ln/>
        </p:spPr>
      </p:sp>
      <p:sp>
        <p:nvSpPr>
          <p:cNvPr id="31" name="Research point 4"/>
          <p:cNvSpPr txBox="1"/>
          <p:nvPr/>
        </p:nvSpPr>
        <p:spPr>
          <a:xfrm>
            <a:off x="6850228" y="3886200"/>
            <a:ext cx="4564228" cy="384048"/>
          </a:xfrm>
          <a:prstGeom prst="rect">
            <a:avLst/>
          </a:prstGeom>
          <a:noFill/>
          <a:ln/>
        </p:spPr>
        <p:txBody>
          <a:bodyPr wrap="square" lIns="0" tIns="0" rIns="0" bIns="0" rtlCol="0" anchor="ctr"/>
          <a:lstStyle/>
          <a:p>
            <a:pPr indent="0" marL="0">
              <a:buNone/>
            </a:pPr>
            <a:r>
              <a:rPr lang="en-US" sz="1500" b="1" dirty="0">
                <a:solidFill>
                  <a:schemeClr val="tx2"/>
                </a:solidFill>
              </a:rPr>
              <a:t>Replication</a:t>
            </a:r>
            <a:pPr indent="0" marL="0">
              <a:buNone/>
            </a:pPr>
            <a:r>
              <a:rPr lang="en-US" sz="1500" dirty="0">
                <a:solidFill>
                  <a:schemeClr val="tx1"/>
                </a:solidFill>
              </a:rPr>
              <a:t>  →  build results others trust</a:t>
            </a:r>
            <a:endParaRPr lang="en-US" sz="1500" dirty="0"/>
          </a:p>
        </p:txBody>
      </p:sp>
      <p:sp>
        <p:nvSpPr>
          <p:cNvPr id="32" name="Research case box"/>
          <p:cNvSpPr/>
          <p:nvPr/>
        </p:nvSpPr>
        <p:spPr>
          <a:xfrm>
            <a:off x="6530188" y="4526280"/>
            <a:ext cx="4838548" cy="1481328"/>
          </a:xfrm>
          <a:prstGeom prst="roundRect">
            <a:avLst>
              <a:gd name="adj" fmla="val 3704"/>
            </a:avLst>
          </a:prstGeom>
          <a:solidFill>
            <a:schemeClr val="tx2"/>
          </a:solidFill>
          <a:ln/>
        </p:spPr>
      </p:sp>
      <p:sp>
        <p:nvSpPr>
          <p:cNvPr id="33" name="Research case tag"/>
          <p:cNvSpPr txBox="1"/>
          <p:nvPr/>
        </p:nvSpPr>
        <p:spPr>
          <a:xfrm>
            <a:off x="6713068" y="4663440"/>
            <a:ext cx="4472788" cy="219456"/>
          </a:xfrm>
          <a:prstGeom prst="rect">
            <a:avLst/>
          </a:prstGeom>
          <a:noFill/>
          <a:ln/>
        </p:spPr>
        <p:txBody>
          <a:bodyPr wrap="square" lIns="0" tIns="0" rIns="0" bIns="0" rtlCol="0" anchor="t"/>
          <a:lstStyle/>
          <a:p>
            <a:pPr indent="0" marL="0">
              <a:buNone/>
            </a:pPr>
            <a:r>
              <a:rPr lang="en-US" sz="1050" b="1" spc="200" kern="0" dirty="0">
                <a:solidFill>
                  <a:schemeClr val="accent2"/>
                </a:solidFill>
              </a:rPr>
              <a:t>REAL CASE</a:t>
            </a:r>
            <a:endParaRPr lang="en-US" sz="1050" dirty="0"/>
          </a:p>
        </p:txBody>
      </p:sp>
      <p:sp>
        <p:nvSpPr>
          <p:cNvPr id="34" name="Research case text"/>
          <p:cNvSpPr txBox="1"/>
          <p:nvPr/>
        </p:nvSpPr>
        <p:spPr>
          <a:xfrm>
            <a:off x="6713068" y="4919472"/>
            <a:ext cx="4472788" cy="731520"/>
          </a:xfrm>
          <a:prstGeom prst="rect">
            <a:avLst/>
          </a:prstGeom>
          <a:noFill/>
          <a:ln/>
        </p:spPr>
        <p:txBody>
          <a:bodyPr wrap="square" lIns="0" tIns="0" rIns="0" bIns="0" rtlCol="0" anchor="t"/>
          <a:lstStyle/>
          <a:p>
            <a:pPr indent="0" marL="0">
              <a:buNone/>
            </a:pPr>
            <a:r>
              <a:rPr lang="en-US" sz="1400" dirty="0">
                <a:solidFill>
                  <a:schemeClr val="bg1"/>
                </a:solidFill>
              </a:rPr>
              <a:t>RECOVERY trial: dexamethasone cut 28-day deaths in ventilated COVID-19 patients from 41.4% to 29.3%.</a:t>
            </a:r>
            <a:endParaRPr lang="en-US" sz="1400" dirty="0"/>
          </a:p>
        </p:txBody>
      </p:sp>
      <p:sp>
        <p:nvSpPr>
          <p:cNvPr id="35" name="Research case source"/>
          <p:cNvSpPr txBox="1"/>
          <p:nvPr/>
        </p:nvSpPr>
        <p:spPr>
          <a:xfrm>
            <a:off x="6713068" y="5669280"/>
            <a:ext cx="4472788" cy="219456"/>
          </a:xfrm>
          <a:prstGeom prst="rect">
            <a:avLst/>
          </a:prstGeom>
          <a:noFill/>
          <a:ln/>
        </p:spPr>
        <p:txBody>
          <a:bodyPr wrap="square" lIns="0" tIns="0" rIns="0" bIns="0" rtlCol="0" anchor="t"/>
          <a:lstStyle/>
          <a:p>
            <a:pPr indent="0" marL="0">
              <a:buNone/>
            </a:pPr>
            <a:r>
              <a:rPr lang="en-US" sz="1000" i="1" dirty="0">
                <a:solidFill>
                  <a:schemeClr val="accent6"/>
                </a:solidFill>
              </a:rPr>
              <a:t>RECOVERY Collaborative Group (2021), NEJM</a:t>
            </a:r>
            <a:endParaRPr lang="en-US" sz="1000" dirty="0"/>
          </a:p>
        </p:txBody>
      </p:sp>
      <p:sp>
        <p:nvSpPr>
          <p:cNvPr id="25" name="Slide Number Placeholder 0"/>
          <p:cNvSpPr>
            <a:spLocks noGrp="1"/>
          </p:cNvSpPr>
          <p:nvPr>
            <p:ph type="sldNum" sz="quarter" idx="4294967295"/>
          </p:nvPr>
        </p:nvSpPr>
        <p:spPr>
          <a:xfrm>
            <a:off x="11094415" y="644652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0" lang="en-US"/>
              <a:t>3</a:t>
            </a:fld>
            <a:endParaRPr lang="en-US"/>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749808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03 · CASE STUDY</a:t>
            </a:r>
            <a:endParaRPr lang="en-US" sz="1200" dirty="0"/>
          </a:p>
        </p:txBody>
      </p:sp>
      <p:sp>
        <p:nvSpPr>
          <p:cNvPr id="3" name="Text 0"/>
          <p:cNvSpPr/>
          <p:nvPr>
            <p:ph idx="101" type="title" hasCustomPrompt="1"/>
          </p:nvPr>
        </p:nvSpPr>
        <p:spPr>
          <a:xfrm>
            <a:off x="548640" y="658368"/>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latin typeface="+mj-lt" pitchFamily="34" charset="0"/>
                <a:ea typeface="+mj-lt" pitchFamily="34" charset="-122"/>
                <a:cs typeface="+mj-lt" pitchFamily="34" charset="-120"/>
              </a:rPr>
              <a:t>A/B test: does a new product page sell more?</a:t>
            </a:r>
            <a:endParaRPr lang="en-US" sz="3400" dirty="0"/>
          </a:p>
        </p:txBody>
      </p:sp>
      <p:sp>
        <p:nvSpPr>
          <p:cNvPr id="4" name="Illustrative data badge"/>
          <p:cNvSpPr/>
          <p:nvPr/>
        </p:nvSpPr>
        <p:spPr>
          <a:xfrm>
            <a:off x="7982712" y="347472"/>
            <a:ext cx="3657600" cy="329184"/>
          </a:xfrm>
          <a:prstGeom prst="roundRect">
            <a:avLst>
              <a:gd name="adj" fmla="val 50000"/>
            </a:avLst>
          </a:prstGeom>
          <a:solidFill>
            <a:schemeClr val="accent2"/>
          </a:solidFill>
          <a:ln/>
        </p:spPr>
      </p:sp>
      <p:sp>
        <p:nvSpPr>
          <p:cNvPr id="5" name="Illustrative data badge text"/>
          <p:cNvSpPr txBox="1"/>
          <p:nvPr/>
        </p:nvSpPr>
        <p:spPr>
          <a:xfrm>
            <a:off x="7982712" y="347472"/>
            <a:ext cx="3657600" cy="329184"/>
          </a:xfrm>
          <a:prstGeom prst="rect">
            <a:avLst/>
          </a:prstGeom>
          <a:noFill/>
          <a:ln/>
        </p:spPr>
        <p:txBody>
          <a:bodyPr wrap="square" lIns="0" tIns="0" rIns="0" bIns="0" rtlCol="0" anchor="ctr"/>
          <a:lstStyle/>
          <a:p>
            <a:pPr algn="ctr" indent="0" marL="0">
              <a:buNone/>
            </a:pPr>
            <a:r>
              <a:rPr lang="en-US" sz="1100" b="1" dirty="0">
                <a:solidFill>
                  <a:schemeClr val="tx2"/>
                </a:solidFill>
              </a:rPr>
              <a:t>ILLUSTRATIVE DATA  </a:t>
            </a:r>
            <a:pPr algn="ctr" indent="0" marL="0">
              <a:buNone/>
            </a:pPr>
            <a:r>
              <a:rPr lang="en-US" sz="1100" dirty="0">
                <a:solidFill>
                  <a:schemeClr val="tx2"/>
                </a:solidFill>
              </a:rPr>
              <a:t>hypothetical, not real company results</a:t>
            </a:r>
            <a:endParaRPr lang="en-US" sz="1100" dirty="0"/>
          </a:p>
        </p:txBody>
      </p:sp>
      <p:sp>
        <p:nvSpPr>
          <p:cNvPr id="6" name="Step 1 marker"/>
          <p:cNvSpPr/>
          <p:nvPr/>
        </p:nvSpPr>
        <p:spPr>
          <a:xfrm>
            <a:off x="548640" y="1600200"/>
            <a:ext cx="457200" cy="457200"/>
          </a:xfrm>
          <a:prstGeom prst="ellipse">
            <a:avLst/>
          </a:prstGeom>
          <a:solidFill>
            <a:schemeClr val="accent1"/>
          </a:solidFill>
          <a:ln/>
        </p:spPr>
      </p:sp>
      <p:sp>
        <p:nvSpPr>
          <p:cNvPr id="7" name="Step 1 number"/>
          <p:cNvSpPr txBox="1"/>
          <p:nvPr/>
        </p:nvSpPr>
        <p:spPr>
          <a:xfrm>
            <a:off x="548640" y="16002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8" name="Step 1 text"/>
          <p:cNvSpPr txBox="1"/>
          <p:nvPr/>
        </p:nvSpPr>
        <p:spPr>
          <a:xfrm>
            <a:off x="1188720" y="1581912"/>
            <a:ext cx="3017520" cy="914400"/>
          </a:xfrm>
          <a:prstGeom prst="rect">
            <a:avLst/>
          </a:prstGeom>
          <a:noFill/>
          <a:ln/>
        </p:spPr>
        <p:txBody>
          <a:bodyPr wrap="square" lIns="0" tIns="0" rIns="0" bIns="0" rtlCol="0" anchor="t"/>
          <a:lstStyle/>
          <a:p>
            <a:pPr indent="0" marL="0">
              <a:buNone/>
            </a:pPr>
            <a:r>
              <a:rPr lang="en-US" sz="1600" b="1" dirty="0">
                <a:solidFill>
                  <a:schemeClr val="tx2"/>
                </a:solidFill>
              </a:rPr>
              <a:t>Split</a:t>
            </a:r>
            <a:endParaRPr lang="en-US" sz="1400" dirty="0"/>
          </a:p>
          <a:p>
            <a:pPr indent="0" marL="0">
              <a:buNone/>
            </a:pPr>
            <a:r>
              <a:rPr lang="en-US" sz="1400" dirty="0">
                <a:solidFill>
                  <a:schemeClr val="tx1"/>
                </a:solidFill>
              </a:rPr>
              <a:t>40,000 visitors at random: 20,000 see the old page (A), 20,000 the new page (B).</a:t>
            </a:r>
            <a:endParaRPr lang="en-US" sz="1400" dirty="0"/>
          </a:p>
        </p:txBody>
      </p:sp>
      <p:sp>
        <p:nvSpPr>
          <p:cNvPr id="9" name="Step 2 marker"/>
          <p:cNvSpPr/>
          <p:nvPr/>
        </p:nvSpPr>
        <p:spPr>
          <a:xfrm>
            <a:off x="548640" y="2624328"/>
            <a:ext cx="457200" cy="457200"/>
          </a:xfrm>
          <a:prstGeom prst="ellipse">
            <a:avLst/>
          </a:prstGeom>
          <a:solidFill>
            <a:schemeClr val="accent1"/>
          </a:solidFill>
          <a:ln/>
        </p:spPr>
      </p:sp>
      <p:sp>
        <p:nvSpPr>
          <p:cNvPr id="10" name="Step 2 number"/>
          <p:cNvSpPr txBox="1"/>
          <p:nvPr/>
        </p:nvSpPr>
        <p:spPr>
          <a:xfrm>
            <a:off x="548640" y="262432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Step 2 text"/>
          <p:cNvSpPr txBox="1"/>
          <p:nvPr/>
        </p:nvSpPr>
        <p:spPr>
          <a:xfrm>
            <a:off x="1188720" y="2606040"/>
            <a:ext cx="3017520" cy="914400"/>
          </a:xfrm>
          <a:prstGeom prst="rect">
            <a:avLst/>
          </a:prstGeom>
          <a:noFill/>
          <a:ln/>
        </p:spPr>
        <p:txBody>
          <a:bodyPr wrap="square" lIns="0" tIns="0" rIns="0" bIns="0" rtlCol="0" anchor="t"/>
          <a:lstStyle/>
          <a:p>
            <a:pPr indent="0" marL="0">
              <a:buNone/>
            </a:pPr>
            <a:r>
              <a:rPr lang="en-US" sz="1600" b="1" dirty="0">
                <a:solidFill>
                  <a:schemeClr val="tx2"/>
                </a:solidFill>
              </a:rPr>
              <a:t>Measure</a:t>
            </a:r>
            <a:endParaRPr lang="en-US" sz="1400" dirty="0"/>
          </a:p>
          <a:p>
            <a:pPr indent="0" marL="0">
              <a:buNone/>
            </a:pPr>
            <a:r>
              <a:rPr lang="en-US" sz="1400" dirty="0">
                <a:solidFill>
                  <a:schemeClr val="tx1"/>
                </a:solidFill>
              </a:rPr>
              <a:t>Conversion rate = orders ÷ visitors.</a:t>
            </a:r>
            <a:endParaRPr lang="en-US" sz="1400" dirty="0"/>
          </a:p>
        </p:txBody>
      </p:sp>
      <p:sp>
        <p:nvSpPr>
          <p:cNvPr id="12" name="Step 3 marker"/>
          <p:cNvSpPr/>
          <p:nvPr/>
        </p:nvSpPr>
        <p:spPr>
          <a:xfrm>
            <a:off x="548640" y="3648456"/>
            <a:ext cx="457200" cy="457200"/>
          </a:xfrm>
          <a:prstGeom prst="ellipse">
            <a:avLst/>
          </a:prstGeom>
          <a:solidFill>
            <a:schemeClr val="accent1"/>
          </a:solidFill>
          <a:ln/>
        </p:spPr>
      </p:sp>
      <p:sp>
        <p:nvSpPr>
          <p:cNvPr id="13" name="Step 3 number"/>
          <p:cNvSpPr txBox="1"/>
          <p:nvPr/>
        </p:nvSpPr>
        <p:spPr>
          <a:xfrm>
            <a:off x="548640" y="3648456"/>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4" name="Step 3 text"/>
          <p:cNvSpPr txBox="1"/>
          <p:nvPr/>
        </p:nvSpPr>
        <p:spPr>
          <a:xfrm>
            <a:off x="1188720" y="3630168"/>
            <a:ext cx="3017520" cy="914400"/>
          </a:xfrm>
          <a:prstGeom prst="rect">
            <a:avLst/>
          </a:prstGeom>
          <a:noFill/>
          <a:ln/>
        </p:spPr>
        <p:txBody>
          <a:bodyPr wrap="square" lIns="0" tIns="0" rIns="0" bIns="0" rtlCol="0" anchor="t"/>
          <a:lstStyle/>
          <a:p>
            <a:pPr indent="0" marL="0">
              <a:buNone/>
            </a:pPr>
            <a:r>
              <a:rPr lang="en-US" sz="1600" b="1" dirty="0">
                <a:solidFill>
                  <a:schemeClr val="tx2"/>
                </a:solidFill>
              </a:rPr>
              <a:t>Test</a:t>
            </a:r>
            <a:endParaRPr lang="en-US" sz="1400" dirty="0"/>
          </a:p>
          <a:p>
            <a:pPr indent="0" marL="0">
              <a:buNone/>
            </a:pPr>
            <a:r>
              <a:rPr lang="en-US" sz="1400" dirty="0">
                <a:solidFill>
                  <a:schemeClr val="tx1"/>
                </a:solidFill>
              </a:rPr>
              <a:t>Two-proportion z-test at the 5% level.</a:t>
            </a:r>
            <a:endParaRPr lang="en-US" sz="1400" dirty="0"/>
          </a:p>
        </p:txBody>
      </p:sp>
      <p:sp>
        <p:nvSpPr>
          <p:cNvPr id="15" name="Randomization note"/>
          <p:cNvSpPr txBox="1"/>
          <p:nvPr/>
        </p:nvSpPr>
        <p:spPr>
          <a:xfrm>
            <a:off x="548640" y="4800600"/>
            <a:ext cx="3657600" cy="731520"/>
          </a:xfrm>
          <a:prstGeom prst="rect">
            <a:avLst/>
          </a:prstGeom>
          <a:noFill/>
          <a:ln/>
        </p:spPr>
        <p:txBody>
          <a:bodyPr wrap="square" lIns="0" tIns="0" rIns="0" bIns="0" rtlCol="0" anchor="t"/>
          <a:lstStyle/>
          <a:p>
            <a:pPr indent="0" marL="0">
              <a:buNone/>
            </a:pPr>
            <a:r>
              <a:rPr lang="en-US" sz="1300" i="1" dirty="0">
                <a:solidFill>
                  <a:schemeClr val="accent5"/>
                </a:solidFill>
              </a:rPr>
              <a:t>Visitors are assigned at random, so the only real difference between the groups is the page.</a:t>
            </a:r>
            <a:endParaRPr lang="en-US" sz="1300" dirty="0"/>
          </a:p>
        </p:txBody>
      </p:sp>
      <p:graphicFrame>
        <p:nvGraphicFramePr>
          <p:cNvPr id="16" name="Conversion rate chart" descr="Column chart of illustrative conversion rates: A 4.20 percent, B 4.80 percent; axis starts at zero."/>
          <p:cNvGraphicFramePr/>
          <p:nvPr/>
        </p:nvGraphicFramePr>
        <p:xfrm>
          <a:off x="4434840" y="1508760"/>
          <a:ext cx="3566160" cy="4206240"/>
        </p:xfrm>
        <a:graphic xmlns:a="http://schemas.openxmlformats.org/drawingml/2006/main">
          <a:graphicData uri="http://schemas.openxmlformats.org/drawingml/2006/chart">
            <c:chart xmlns:c="http://schemas.openxmlformats.org/drawingml/2006/chart" r:id="rId1"/>
          </a:graphicData>
        </a:graphic>
      </p:graphicFrame>
      <p:sp>
        <p:nvSpPr>
          <p:cNvPr id="17" name="Chart counts"/>
          <p:cNvSpPr txBox="1"/>
          <p:nvPr/>
        </p:nvSpPr>
        <p:spPr>
          <a:xfrm>
            <a:off x="4434840" y="5760720"/>
            <a:ext cx="3566160" cy="274320"/>
          </a:xfrm>
          <a:prstGeom prst="rect">
            <a:avLst/>
          </a:prstGeom>
          <a:noFill/>
          <a:ln/>
        </p:spPr>
        <p:txBody>
          <a:bodyPr wrap="square" lIns="0" tIns="0" rIns="0" bIns="0" rtlCol="0" anchor="t"/>
          <a:lstStyle/>
          <a:p>
            <a:pPr algn="ctr" indent="0" marL="0">
              <a:buNone/>
            </a:pPr>
            <a:r>
              <a:rPr lang="en-US" sz="1200" dirty="0">
                <a:solidFill>
                  <a:schemeClr val="accent5"/>
                </a:solidFill>
              </a:rPr>
              <a:t>A: 840 / 20,000   ·   B: 960 / 20,000 orders</a:t>
            </a:r>
            <a:endParaRPr lang="en-US" sz="1200" dirty="0"/>
          </a:p>
        </p:txBody>
      </p:sp>
      <p:sp>
        <p:nvSpPr>
          <p:cNvPr id="18" name="Result 1 tile"/>
          <p:cNvSpPr/>
          <p:nvPr/>
        </p:nvSpPr>
        <p:spPr>
          <a:xfrm>
            <a:off x="8275320" y="1554480"/>
            <a:ext cx="3367735" cy="749808"/>
          </a:xfrm>
          <a:prstGeom prst="roundRect">
            <a:avLst>
              <a:gd name="adj" fmla="val 7317"/>
            </a:avLst>
          </a:prstGeom>
          <a:solidFill>
            <a:schemeClr val="bg2"/>
          </a:solidFill>
          <a:ln/>
        </p:spPr>
      </p:sp>
      <p:sp>
        <p:nvSpPr>
          <p:cNvPr id="19" name="Result 1 text"/>
          <p:cNvSpPr txBox="1"/>
          <p:nvPr/>
        </p:nvSpPr>
        <p:spPr>
          <a:xfrm>
            <a:off x="8458200" y="1554480"/>
            <a:ext cx="3001975" cy="749808"/>
          </a:xfrm>
          <a:prstGeom prst="rect">
            <a:avLst/>
          </a:prstGeom>
          <a:noFill/>
          <a:ln/>
        </p:spPr>
        <p:txBody>
          <a:bodyPr wrap="square" lIns="0" tIns="0" rIns="0" bIns="0" rtlCol="0" anchor="ctr"/>
          <a:lstStyle/>
          <a:p>
            <a:pPr indent="0" marL="0">
              <a:buNone/>
            </a:pPr>
            <a:r>
              <a:rPr lang="en-US" sz="2000" b="1" dirty="0">
                <a:solidFill>
                  <a:schemeClr val="tx2"/>
                </a:solidFill>
                <a:latin typeface="+mj-lt" pitchFamily="34" charset="0"/>
                <a:ea typeface="+mj-lt" pitchFamily="34" charset="-122"/>
                <a:cs typeface="+mj-lt" pitchFamily="34" charset="-120"/>
              </a:rPr>
              <a:t>+0.60 pp</a:t>
            </a:r>
            <a:endParaRPr lang="en-US" sz="1500" dirty="0"/>
          </a:p>
          <a:p>
            <a:pPr indent="0" marL="0">
              <a:buNone/>
            </a:pPr>
            <a:r>
              <a:rPr lang="en-US" sz="1200" dirty="0">
                <a:solidFill>
                  <a:schemeClr val="accent5"/>
                </a:solidFill>
              </a:rPr>
              <a:t>difference (B − A)</a:t>
            </a:r>
            <a:endParaRPr lang="en-US" sz="1500" dirty="0"/>
          </a:p>
        </p:txBody>
      </p:sp>
      <p:sp>
        <p:nvSpPr>
          <p:cNvPr id="20" name="Result 2 tile"/>
          <p:cNvSpPr/>
          <p:nvPr/>
        </p:nvSpPr>
        <p:spPr>
          <a:xfrm>
            <a:off x="8275320" y="2423160"/>
            <a:ext cx="3367735" cy="749808"/>
          </a:xfrm>
          <a:prstGeom prst="roundRect">
            <a:avLst>
              <a:gd name="adj" fmla="val 7317"/>
            </a:avLst>
          </a:prstGeom>
          <a:solidFill>
            <a:schemeClr val="bg2"/>
          </a:solidFill>
          <a:ln/>
        </p:spPr>
      </p:sp>
      <p:sp>
        <p:nvSpPr>
          <p:cNvPr id="21" name="Result 2 text"/>
          <p:cNvSpPr txBox="1"/>
          <p:nvPr/>
        </p:nvSpPr>
        <p:spPr>
          <a:xfrm>
            <a:off x="8458200" y="2423160"/>
            <a:ext cx="3001975" cy="749808"/>
          </a:xfrm>
          <a:prstGeom prst="rect">
            <a:avLst/>
          </a:prstGeom>
          <a:noFill/>
          <a:ln/>
        </p:spPr>
        <p:txBody>
          <a:bodyPr wrap="square" lIns="0" tIns="0" rIns="0" bIns="0" rtlCol="0" anchor="ctr"/>
          <a:lstStyle/>
          <a:p>
            <a:pPr indent="0" marL="0">
              <a:buNone/>
            </a:pPr>
            <a:r>
              <a:rPr lang="en-US" sz="2000" b="1" dirty="0">
                <a:solidFill>
                  <a:schemeClr val="tx2"/>
                </a:solidFill>
                <a:latin typeface="+mj-lt" pitchFamily="34" charset="0"/>
                <a:ea typeface="+mj-lt" pitchFamily="34" charset="-122"/>
                <a:cs typeface="+mj-lt" pitchFamily="34" charset="-120"/>
              </a:rPr>
              <a:t>+0.19 to +1.01 pp</a:t>
            </a:r>
            <a:endParaRPr lang="en-US" sz="1500" dirty="0"/>
          </a:p>
          <a:p>
            <a:pPr indent="0" marL="0">
              <a:buNone/>
            </a:pPr>
            <a:r>
              <a:rPr lang="en-US" sz="1200" dirty="0">
                <a:solidFill>
                  <a:schemeClr val="accent5"/>
                </a:solidFill>
              </a:rPr>
              <a:t>95% confidence interval</a:t>
            </a:r>
            <a:endParaRPr lang="en-US" sz="1500" dirty="0"/>
          </a:p>
        </p:txBody>
      </p:sp>
      <p:sp>
        <p:nvSpPr>
          <p:cNvPr id="22" name="Result 3 tile"/>
          <p:cNvSpPr/>
          <p:nvPr/>
        </p:nvSpPr>
        <p:spPr>
          <a:xfrm>
            <a:off x="8275320" y="3291840"/>
            <a:ext cx="3367735" cy="749808"/>
          </a:xfrm>
          <a:prstGeom prst="roundRect">
            <a:avLst>
              <a:gd name="adj" fmla="val 7317"/>
            </a:avLst>
          </a:prstGeom>
          <a:solidFill>
            <a:schemeClr val="bg2"/>
          </a:solidFill>
          <a:ln/>
        </p:spPr>
      </p:sp>
      <p:sp>
        <p:nvSpPr>
          <p:cNvPr id="23" name="Result 3 text"/>
          <p:cNvSpPr txBox="1"/>
          <p:nvPr/>
        </p:nvSpPr>
        <p:spPr>
          <a:xfrm>
            <a:off x="8458200" y="3291840"/>
            <a:ext cx="3001975" cy="749808"/>
          </a:xfrm>
          <a:prstGeom prst="rect">
            <a:avLst/>
          </a:prstGeom>
          <a:noFill/>
          <a:ln/>
        </p:spPr>
        <p:txBody>
          <a:bodyPr wrap="square" lIns="0" tIns="0" rIns="0" bIns="0" rtlCol="0" anchor="ctr"/>
          <a:lstStyle/>
          <a:p>
            <a:pPr indent="0" marL="0">
              <a:buNone/>
            </a:pPr>
            <a:r>
              <a:rPr lang="en-US" sz="2000" b="1" dirty="0">
                <a:solidFill>
                  <a:schemeClr val="tx2"/>
                </a:solidFill>
                <a:latin typeface="+mj-lt" pitchFamily="34" charset="0"/>
                <a:ea typeface="+mj-lt" pitchFamily="34" charset="-122"/>
                <a:cs typeface="+mj-lt" pitchFamily="34" charset="-120"/>
              </a:rPr>
              <a:t>p = 0.004</a:t>
            </a:r>
            <a:endParaRPr lang="en-US" sz="1500" dirty="0"/>
          </a:p>
          <a:p>
            <a:pPr indent="0" marL="0">
              <a:buNone/>
            </a:pPr>
            <a:r>
              <a:rPr lang="en-US" sz="1200" dirty="0">
                <a:solidFill>
                  <a:schemeClr val="accent5"/>
                </a:solidFill>
              </a:rPr>
              <a:t>very unlikely to be chance</a:t>
            </a:r>
            <a:endParaRPr lang="en-US" sz="1500" dirty="0"/>
          </a:p>
        </p:txBody>
      </p:sp>
      <p:sp>
        <p:nvSpPr>
          <p:cNvPr id="24" name="Interpretation"/>
          <p:cNvSpPr txBox="1"/>
          <p:nvPr/>
        </p:nvSpPr>
        <p:spPr>
          <a:xfrm>
            <a:off x="8275320" y="4206240"/>
            <a:ext cx="3367735" cy="731520"/>
          </a:xfrm>
          <a:prstGeom prst="rect">
            <a:avLst/>
          </a:prstGeom>
          <a:noFill/>
          <a:ln/>
        </p:spPr>
        <p:txBody>
          <a:bodyPr wrap="square" lIns="0" tIns="0" rIns="0" bIns="0" rtlCol="0" anchor="t"/>
          <a:lstStyle/>
          <a:p>
            <a:pPr indent="0" marL="0">
              <a:buNone/>
            </a:pPr>
            <a:r>
              <a:rPr lang="en-US" sz="1400" b="1" dirty="0">
                <a:solidFill>
                  <a:schemeClr val="tx2"/>
                </a:solidFill>
              </a:rPr>
              <a:t>Meaning  </a:t>
            </a:r>
            <a:pPr indent="0" marL="0">
              <a:buNone/>
            </a:pPr>
            <a:r>
              <a:rPr lang="en-US" sz="1400" dirty="0">
                <a:solidFill>
                  <a:schemeClr val="tx1"/>
                </a:solidFill>
              </a:rPr>
              <a:t>The new page very likely works better, but the exact gain is uncertain.</a:t>
            </a:r>
            <a:endParaRPr lang="en-US" sz="1400" dirty="0"/>
          </a:p>
        </p:txBody>
      </p:sp>
      <p:sp>
        <p:nvSpPr>
          <p:cNvPr id="25" name="Decision box"/>
          <p:cNvSpPr/>
          <p:nvPr/>
        </p:nvSpPr>
        <p:spPr>
          <a:xfrm>
            <a:off x="8275320" y="5074920"/>
            <a:ext cx="3367735" cy="960120"/>
          </a:xfrm>
          <a:prstGeom prst="roundRect">
            <a:avLst>
              <a:gd name="adj" fmla="val 5714"/>
            </a:avLst>
          </a:prstGeom>
          <a:solidFill>
            <a:schemeClr val="tx2"/>
          </a:solidFill>
          <a:ln/>
        </p:spPr>
      </p:sp>
      <p:sp>
        <p:nvSpPr>
          <p:cNvPr id="26" name="Decision text"/>
          <p:cNvSpPr txBox="1"/>
          <p:nvPr/>
        </p:nvSpPr>
        <p:spPr>
          <a:xfrm>
            <a:off x="8458200" y="5074920"/>
            <a:ext cx="3001975" cy="960120"/>
          </a:xfrm>
          <a:prstGeom prst="rect">
            <a:avLst/>
          </a:prstGeom>
          <a:noFill/>
          <a:ln/>
        </p:spPr>
        <p:txBody>
          <a:bodyPr wrap="square" lIns="0" tIns="0" rIns="0" bIns="0" rtlCol="0" anchor="ctr"/>
          <a:lstStyle/>
          <a:p>
            <a:pPr indent="0" marL="0">
              <a:buNone/>
            </a:pPr>
            <a:r>
              <a:rPr lang="en-US" sz="1100" b="1" spc="200" kern="0" dirty="0">
                <a:solidFill>
                  <a:schemeClr val="accent2"/>
                </a:solidFill>
              </a:rPr>
              <a:t>DECISION</a:t>
            </a:r>
            <a:endParaRPr lang="en-US" sz="1450" dirty="0"/>
          </a:p>
          <a:p>
            <a:pPr indent="0" marL="0">
              <a:buNone/>
            </a:pPr>
            <a:r>
              <a:rPr lang="en-US" sz="1450" dirty="0">
                <a:solidFill>
                  <a:schemeClr val="bg1"/>
                </a:solidFill>
              </a:rPr>
              <a:t>Launch page B and keep monitoring results.</a:t>
            </a:r>
            <a:endParaRPr lang="en-US" sz="1450" dirty="0"/>
          </a:p>
        </p:txBody>
      </p:sp>
      <p:sp>
        <p:nvSpPr>
          <p:cNvPr id="25" name="Slide Number Placeholder 0"/>
          <p:cNvSpPr>
            <a:spLocks noGrp="1"/>
          </p:cNvSpPr>
          <p:nvPr>
            <p:ph type="sldNum" sz="quarter" idx="4294967295"/>
          </p:nvPr>
        </p:nvSpPr>
        <p:spPr>
          <a:xfrm>
            <a:off x="11094415" y="644652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0" lang="en-US"/>
              <a:t>4</a:t>
            </a:fld>
            <a:endParaRPr lang="en-US"/>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749808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04 · CHALLENGES</a:t>
            </a:r>
            <a:endParaRPr lang="en-US" sz="1200" dirty="0"/>
          </a:p>
        </p:txBody>
      </p:sp>
      <p:sp>
        <p:nvSpPr>
          <p:cNvPr id="3" name="Text 0"/>
          <p:cNvSpPr/>
          <p:nvPr>
            <p:ph idx="101" type="title" hasCustomPrompt="1"/>
          </p:nvPr>
        </p:nvSpPr>
        <p:spPr>
          <a:xfrm>
            <a:off x="548640" y="658368"/>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latin typeface="+mj-lt" pitchFamily="34" charset="0"/>
                <a:ea typeface="+mj-lt" pitchFamily="34" charset="-122"/>
                <a:cs typeface="+mj-lt" pitchFamily="34" charset="-120"/>
              </a:rPr>
              <a:t>Use statistics carefully and honestly</a:t>
            </a:r>
            <a:endParaRPr lang="en-US" sz="3400" dirty="0"/>
          </a:p>
        </p:txBody>
      </p:sp>
      <p:sp>
        <p:nvSpPr>
          <p:cNvPr id="4" name="Slide description"/>
          <p:cNvSpPr txBox="1"/>
          <p:nvPr/>
        </p:nvSpPr>
        <p:spPr>
          <a:xfrm>
            <a:off x="548640" y="1463040"/>
            <a:ext cx="11094415" cy="457200"/>
          </a:xfrm>
          <a:prstGeom prst="rect">
            <a:avLst/>
          </a:prstGeom>
          <a:noFill/>
          <a:ln/>
        </p:spPr>
        <p:txBody>
          <a:bodyPr wrap="square" lIns="0" tIns="0" rIns="0" bIns="0" rtlCol="0" anchor="t"/>
          <a:lstStyle/>
          <a:p>
            <a:pPr indent="0" marL="0">
              <a:buNone/>
            </a:pPr>
            <a:r>
              <a:rPr lang="en-US" sz="1600" dirty="0">
                <a:solidFill>
                  <a:schemeClr val="accent5"/>
                </a:solidFill>
              </a:rPr>
              <a:t>Statistics is powerful, but careless use can lead to confident and wrong decisions.</a:t>
            </a:r>
            <a:endParaRPr lang="en-US" sz="1600" dirty="0"/>
          </a:p>
        </p:txBody>
      </p:sp>
      <p:sp>
        <p:nvSpPr>
          <p:cNvPr id="5" name="Risk 1 card"/>
          <p:cNvSpPr/>
          <p:nvPr/>
        </p:nvSpPr>
        <p:spPr>
          <a:xfrm>
            <a:off x="548640" y="2103120"/>
            <a:ext cx="2602154" cy="2743200"/>
          </a:xfrm>
          <a:prstGeom prst="roundRect">
            <a:avLst>
              <a:gd name="adj" fmla="val 2811"/>
            </a:avLst>
          </a:prstGeom>
          <a:solidFill>
            <a:schemeClr val="bg2"/>
          </a:solidFill>
          <a:ln/>
        </p:spPr>
      </p:sp>
      <p:sp>
        <p:nvSpPr>
          <p:cNvPr id="6" name="Risk 1 icon circle"/>
          <p:cNvSpPr/>
          <p:nvPr/>
        </p:nvSpPr>
        <p:spPr>
          <a:xfrm>
            <a:off x="777240" y="2359152"/>
            <a:ext cx="603504" cy="603504"/>
          </a:xfrm>
          <a:prstGeom prst="ellipse">
            <a:avLst/>
          </a:prstGeom>
          <a:solidFill>
            <a:schemeClr val="accent4"/>
          </a:solidFill>
          <a:ln/>
        </p:spPr>
      </p:sp>
      <p:pic>
        <p:nvPicPr>
          <p:cNvPr id="7" name="Risk 1 icon" descr="Bad or biased data">    </p:cNvPr>
          <p:cNvPicPr>
            <a:picLocks noChangeAspect="1"/>
          </p:cNvPicPr>
          <p:nvPr/>
        </p:nvPicPr>
        <p:blipFill>
          <a:blip r:embed="rId1"/>
          <a:stretch>
            <a:fillRect/>
          </a:stretch>
        </p:blipFill>
        <p:spPr>
          <a:xfrm>
            <a:off x="932688" y="2514600"/>
            <a:ext cx="292608" cy="292608"/>
          </a:xfrm>
          <a:prstGeom prst="rect">
            <a:avLst/>
          </a:prstGeom>
        </p:spPr>
      </p:pic>
      <p:sp>
        <p:nvSpPr>
          <p:cNvPr id="8" name="Risk 1 heading"/>
          <p:cNvSpPr txBox="1"/>
          <p:nvPr/>
        </p:nvSpPr>
        <p:spPr>
          <a:xfrm>
            <a:off x="777240" y="3127248"/>
            <a:ext cx="2144954" cy="658368"/>
          </a:xfrm>
          <a:prstGeom prst="rect">
            <a:avLst/>
          </a:prstGeom>
          <a:noFill/>
          <a:ln/>
        </p:spPr>
        <p:txBody>
          <a:bodyPr wrap="square" lIns="0" tIns="0" rIns="0" bIns="0" rtlCol="0" anchor="t"/>
          <a:lstStyle/>
          <a:p>
            <a:pPr indent="0" marL="0">
              <a:buNone/>
            </a:pPr>
            <a:r>
              <a:rPr lang="en-US" sz="1700" b="1" dirty="0">
                <a:solidFill>
                  <a:schemeClr val="tx2"/>
                </a:solidFill>
                <a:latin typeface="+mj-lt" pitchFamily="34" charset="0"/>
                <a:ea typeface="+mj-lt" pitchFamily="34" charset="-122"/>
                <a:cs typeface="+mj-lt" pitchFamily="34" charset="-120"/>
              </a:rPr>
              <a:t>Bad or biased data</a:t>
            </a:r>
            <a:endParaRPr lang="en-US" sz="1700" dirty="0"/>
          </a:p>
        </p:txBody>
      </p:sp>
      <p:sp>
        <p:nvSpPr>
          <p:cNvPr id="9" name="Risk 1 text"/>
          <p:cNvSpPr txBox="1"/>
          <p:nvPr/>
        </p:nvSpPr>
        <p:spPr>
          <a:xfrm>
            <a:off x="777240" y="3840480"/>
            <a:ext cx="2144954" cy="914400"/>
          </a:xfrm>
          <a:prstGeom prst="rect">
            <a:avLst/>
          </a:prstGeom>
          <a:noFill/>
          <a:ln/>
        </p:spPr>
        <p:txBody>
          <a:bodyPr wrap="square" lIns="0" tIns="0" rIns="0" bIns="0" rtlCol="0" anchor="t"/>
          <a:lstStyle/>
          <a:p>
            <a:pPr indent="0" marL="0">
              <a:buNone/>
            </a:pPr>
            <a:r>
              <a:rPr lang="en-US" sz="1400" dirty="0">
                <a:solidFill>
                  <a:schemeClr val="tx1"/>
                </a:solidFill>
              </a:rPr>
              <a:t>If the data is wrong or one-sided, the answer will be wrong too.</a:t>
            </a:r>
            <a:endParaRPr lang="en-US" sz="1400" dirty="0"/>
          </a:p>
        </p:txBody>
      </p:sp>
      <p:sp>
        <p:nvSpPr>
          <p:cNvPr id="10" name="Risk 2 card"/>
          <p:cNvSpPr/>
          <p:nvPr/>
        </p:nvSpPr>
        <p:spPr>
          <a:xfrm>
            <a:off x="3379394" y="2103120"/>
            <a:ext cx="2602154" cy="2743200"/>
          </a:xfrm>
          <a:prstGeom prst="roundRect">
            <a:avLst>
              <a:gd name="adj" fmla="val 2811"/>
            </a:avLst>
          </a:prstGeom>
          <a:solidFill>
            <a:schemeClr val="bg2"/>
          </a:solidFill>
          <a:ln/>
        </p:spPr>
      </p:sp>
      <p:sp>
        <p:nvSpPr>
          <p:cNvPr id="11" name="Risk 2 icon circle"/>
          <p:cNvSpPr/>
          <p:nvPr/>
        </p:nvSpPr>
        <p:spPr>
          <a:xfrm>
            <a:off x="3607994" y="2359152"/>
            <a:ext cx="603504" cy="603504"/>
          </a:xfrm>
          <a:prstGeom prst="ellipse">
            <a:avLst/>
          </a:prstGeom>
          <a:solidFill>
            <a:schemeClr val="accent4"/>
          </a:solidFill>
          <a:ln/>
        </p:spPr>
      </p:sp>
      <p:pic>
        <p:nvPicPr>
          <p:cNvPr id="12" name="Risk 2 icon" descr="Correlation ≠ causation">    </p:cNvPr>
          <p:cNvPicPr>
            <a:picLocks noChangeAspect="1"/>
          </p:cNvPicPr>
          <p:nvPr/>
        </p:nvPicPr>
        <p:blipFill>
          <a:blip r:embed="rId2"/>
          <a:stretch>
            <a:fillRect/>
          </a:stretch>
        </p:blipFill>
        <p:spPr>
          <a:xfrm>
            <a:off x="3763442" y="2514600"/>
            <a:ext cx="292608" cy="292608"/>
          </a:xfrm>
          <a:prstGeom prst="rect">
            <a:avLst/>
          </a:prstGeom>
        </p:spPr>
      </p:pic>
      <p:sp>
        <p:nvSpPr>
          <p:cNvPr id="13" name="Risk 2 heading"/>
          <p:cNvSpPr txBox="1"/>
          <p:nvPr/>
        </p:nvSpPr>
        <p:spPr>
          <a:xfrm>
            <a:off x="3607994" y="3127248"/>
            <a:ext cx="2144954" cy="658368"/>
          </a:xfrm>
          <a:prstGeom prst="rect">
            <a:avLst/>
          </a:prstGeom>
          <a:noFill/>
          <a:ln/>
        </p:spPr>
        <p:txBody>
          <a:bodyPr wrap="square" lIns="0" tIns="0" rIns="0" bIns="0" rtlCol="0" anchor="t"/>
          <a:lstStyle/>
          <a:p>
            <a:pPr indent="0" marL="0">
              <a:buNone/>
            </a:pPr>
            <a:r>
              <a:rPr lang="en-US" sz="1700" b="1" dirty="0">
                <a:solidFill>
                  <a:schemeClr val="tx2"/>
                </a:solidFill>
                <a:latin typeface="+mj-lt" pitchFamily="34" charset="0"/>
                <a:ea typeface="+mj-lt" pitchFamily="34" charset="-122"/>
                <a:cs typeface="+mj-lt" pitchFamily="34" charset="-120"/>
              </a:rPr>
              <a:t>Correlation ≠ causation</a:t>
            </a:r>
            <a:endParaRPr lang="en-US" sz="1700" dirty="0"/>
          </a:p>
        </p:txBody>
      </p:sp>
      <p:sp>
        <p:nvSpPr>
          <p:cNvPr id="14" name="Risk 2 text"/>
          <p:cNvSpPr txBox="1"/>
          <p:nvPr/>
        </p:nvSpPr>
        <p:spPr>
          <a:xfrm>
            <a:off x="3607994" y="3840480"/>
            <a:ext cx="2144954" cy="914400"/>
          </a:xfrm>
          <a:prstGeom prst="rect">
            <a:avLst/>
          </a:prstGeom>
          <a:noFill/>
          <a:ln/>
        </p:spPr>
        <p:txBody>
          <a:bodyPr wrap="square" lIns="0" tIns="0" rIns="0" bIns="0" rtlCol="0" anchor="t"/>
          <a:lstStyle/>
          <a:p>
            <a:pPr indent="0" marL="0">
              <a:buNone/>
            </a:pPr>
            <a:r>
              <a:rPr lang="en-US" sz="1400" dirty="0">
                <a:solidFill>
                  <a:schemeClr val="tx1"/>
                </a:solidFill>
              </a:rPr>
              <a:t>Two things moving together does not prove one causes the other.</a:t>
            </a:r>
            <a:endParaRPr lang="en-US" sz="1400" dirty="0"/>
          </a:p>
        </p:txBody>
      </p:sp>
      <p:sp>
        <p:nvSpPr>
          <p:cNvPr id="15" name="Risk 3 card"/>
          <p:cNvSpPr/>
          <p:nvPr/>
        </p:nvSpPr>
        <p:spPr>
          <a:xfrm>
            <a:off x="6210148" y="2103120"/>
            <a:ext cx="2602154" cy="2743200"/>
          </a:xfrm>
          <a:prstGeom prst="roundRect">
            <a:avLst>
              <a:gd name="adj" fmla="val 2811"/>
            </a:avLst>
          </a:prstGeom>
          <a:solidFill>
            <a:schemeClr val="bg2"/>
          </a:solidFill>
          <a:ln/>
        </p:spPr>
      </p:sp>
      <p:sp>
        <p:nvSpPr>
          <p:cNvPr id="16" name="Risk 3 icon circle"/>
          <p:cNvSpPr/>
          <p:nvPr/>
        </p:nvSpPr>
        <p:spPr>
          <a:xfrm>
            <a:off x="6438748" y="2359152"/>
            <a:ext cx="603504" cy="603504"/>
          </a:xfrm>
          <a:prstGeom prst="ellipse">
            <a:avLst/>
          </a:prstGeom>
          <a:solidFill>
            <a:schemeClr val="accent4"/>
          </a:solidFill>
          <a:ln/>
        </p:spPr>
      </p:sp>
      <p:pic>
        <p:nvPicPr>
          <p:cNvPr id="17" name="Risk 3 icon" descr="“Significant” ≠ important">    </p:cNvPr>
          <p:cNvPicPr>
            <a:picLocks noChangeAspect="1"/>
          </p:cNvPicPr>
          <p:nvPr/>
        </p:nvPicPr>
        <p:blipFill>
          <a:blip r:embed="rId3"/>
          <a:stretch>
            <a:fillRect/>
          </a:stretch>
        </p:blipFill>
        <p:spPr>
          <a:xfrm>
            <a:off x="6594196" y="2514600"/>
            <a:ext cx="292608" cy="292608"/>
          </a:xfrm>
          <a:prstGeom prst="rect">
            <a:avLst/>
          </a:prstGeom>
        </p:spPr>
      </p:pic>
      <p:sp>
        <p:nvSpPr>
          <p:cNvPr id="18" name="Risk 3 heading"/>
          <p:cNvSpPr txBox="1"/>
          <p:nvPr/>
        </p:nvSpPr>
        <p:spPr>
          <a:xfrm>
            <a:off x="6438748" y="3127248"/>
            <a:ext cx="2144954" cy="658368"/>
          </a:xfrm>
          <a:prstGeom prst="rect">
            <a:avLst/>
          </a:prstGeom>
          <a:noFill/>
          <a:ln/>
        </p:spPr>
        <p:txBody>
          <a:bodyPr wrap="square" lIns="0" tIns="0" rIns="0" bIns="0" rtlCol="0" anchor="t"/>
          <a:lstStyle/>
          <a:p>
            <a:pPr indent="0" marL="0">
              <a:buNone/>
            </a:pPr>
            <a:r>
              <a:rPr lang="en-US" sz="1700" b="1" dirty="0">
                <a:solidFill>
                  <a:schemeClr val="tx2"/>
                </a:solidFill>
                <a:latin typeface="+mj-lt" pitchFamily="34" charset="0"/>
                <a:ea typeface="+mj-lt" pitchFamily="34" charset="-122"/>
                <a:cs typeface="+mj-lt" pitchFamily="34" charset="-120"/>
              </a:rPr>
              <a:t>“Significant” ≠ important</a:t>
            </a:r>
            <a:endParaRPr lang="en-US" sz="1700" dirty="0"/>
          </a:p>
        </p:txBody>
      </p:sp>
      <p:sp>
        <p:nvSpPr>
          <p:cNvPr id="19" name="Risk 3 text"/>
          <p:cNvSpPr txBox="1"/>
          <p:nvPr/>
        </p:nvSpPr>
        <p:spPr>
          <a:xfrm>
            <a:off x="6438748" y="3840480"/>
            <a:ext cx="2144954" cy="914400"/>
          </a:xfrm>
          <a:prstGeom prst="rect">
            <a:avLst/>
          </a:prstGeom>
          <a:noFill/>
          <a:ln/>
        </p:spPr>
        <p:txBody>
          <a:bodyPr wrap="square" lIns="0" tIns="0" rIns="0" bIns="0" rtlCol="0" anchor="t"/>
          <a:lstStyle/>
          <a:p>
            <a:pPr indent="0" marL="0">
              <a:buNone/>
            </a:pPr>
            <a:r>
              <a:rPr lang="en-US" sz="1400" dirty="0">
                <a:solidFill>
                  <a:schemeClr val="tx1"/>
                </a:solidFill>
              </a:rPr>
              <a:t>A tiny effect can still be significant. Always check how big it is.</a:t>
            </a:r>
            <a:endParaRPr lang="en-US" sz="1400" dirty="0"/>
          </a:p>
        </p:txBody>
      </p:sp>
      <p:sp>
        <p:nvSpPr>
          <p:cNvPr id="20" name="Risk 4 card"/>
          <p:cNvSpPr/>
          <p:nvPr/>
        </p:nvSpPr>
        <p:spPr>
          <a:xfrm>
            <a:off x="9040901" y="2103120"/>
            <a:ext cx="2602154" cy="2743200"/>
          </a:xfrm>
          <a:prstGeom prst="roundRect">
            <a:avLst>
              <a:gd name="adj" fmla="val 2811"/>
            </a:avLst>
          </a:prstGeom>
          <a:solidFill>
            <a:schemeClr val="bg2"/>
          </a:solidFill>
          <a:ln/>
        </p:spPr>
      </p:sp>
      <p:sp>
        <p:nvSpPr>
          <p:cNvPr id="21" name="Risk 4 icon circle"/>
          <p:cNvSpPr/>
          <p:nvPr/>
        </p:nvSpPr>
        <p:spPr>
          <a:xfrm>
            <a:off x="9269501" y="2359152"/>
            <a:ext cx="603504" cy="603504"/>
          </a:xfrm>
          <a:prstGeom prst="ellipse">
            <a:avLst/>
          </a:prstGeom>
          <a:solidFill>
            <a:schemeClr val="accent4"/>
          </a:solidFill>
          <a:ln/>
        </p:spPr>
      </p:sp>
      <p:pic>
        <p:nvPicPr>
          <p:cNvPr id="22" name="Risk 4 icon" descr="Privacy &amp; fairness">    </p:cNvPr>
          <p:cNvPicPr>
            <a:picLocks noChangeAspect="1"/>
          </p:cNvPicPr>
          <p:nvPr/>
        </p:nvPicPr>
        <p:blipFill>
          <a:blip r:embed="rId4"/>
          <a:stretch>
            <a:fillRect/>
          </a:stretch>
        </p:blipFill>
        <p:spPr>
          <a:xfrm>
            <a:off x="9424949" y="2514600"/>
            <a:ext cx="292608" cy="292608"/>
          </a:xfrm>
          <a:prstGeom prst="rect">
            <a:avLst/>
          </a:prstGeom>
        </p:spPr>
      </p:pic>
      <p:sp>
        <p:nvSpPr>
          <p:cNvPr id="23" name="Risk 4 heading"/>
          <p:cNvSpPr txBox="1"/>
          <p:nvPr/>
        </p:nvSpPr>
        <p:spPr>
          <a:xfrm>
            <a:off x="9269501" y="3127248"/>
            <a:ext cx="2144954" cy="658368"/>
          </a:xfrm>
          <a:prstGeom prst="rect">
            <a:avLst/>
          </a:prstGeom>
          <a:noFill/>
          <a:ln/>
        </p:spPr>
        <p:txBody>
          <a:bodyPr wrap="square" lIns="0" tIns="0" rIns="0" bIns="0" rtlCol="0" anchor="t"/>
          <a:lstStyle/>
          <a:p>
            <a:pPr indent="0" marL="0">
              <a:buNone/>
            </a:pPr>
            <a:r>
              <a:rPr lang="en-US" sz="1700" b="1" dirty="0">
                <a:solidFill>
                  <a:schemeClr val="tx2"/>
                </a:solidFill>
                <a:latin typeface="+mj-lt" pitchFamily="34" charset="0"/>
                <a:ea typeface="+mj-lt" pitchFamily="34" charset="-122"/>
                <a:cs typeface="+mj-lt" pitchFamily="34" charset="-120"/>
              </a:rPr>
              <a:t>Privacy &amp; fairness</a:t>
            </a:r>
            <a:endParaRPr lang="en-US" sz="1700" dirty="0"/>
          </a:p>
        </p:txBody>
      </p:sp>
      <p:sp>
        <p:nvSpPr>
          <p:cNvPr id="24" name="Risk 4 text"/>
          <p:cNvSpPr txBox="1"/>
          <p:nvPr/>
        </p:nvSpPr>
        <p:spPr>
          <a:xfrm>
            <a:off x="9269501" y="3840480"/>
            <a:ext cx="2144954" cy="914400"/>
          </a:xfrm>
          <a:prstGeom prst="rect">
            <a:avLst/>
          </a:prstGeom>
          <a:noFill/>
          <a:ln/>
        </p:spPr>
        <p:txBody>
          <a:bodyPr wrap="square" lIns="0" tIns="0" rIns="0" bIns="0" rtlCol="0" anchor="t"/>
          <a:lstStyle/>
          <a:p>
            <a:pPr indent="0" marL="0">
              <a:buNone/>
            </a:pPr>
            <a:r>
              <a:rPr lang="en-US" sz="1400" dirty="0">
                <a:solidFill>
                  <a:schemeClr val="tx1"/>
                </a:solidFill>
              </a:rPr>
              <a:t>Protect personal data and check that models are fair to every group.</a:t>
            </a:r>
            <a:endParaRPr lang="en-US" sz="1400" dirty="0"/>
          </a:p>
        </p:txBody>
      </p:sp>
      <p:sp>
        <p:nvSpPr>
          <p:cNvPr id="25" name="AI note box"/>
          <p:cNvSpPr/>
          <p:nvPr/>
        </p:nvSpPr>
        <p:spPr>
          <a:xfrm>
            <a:off x="548640" y="5120640"/>
            <a:ext cx="11094415" cy="1051560"/>
          </a:xfrm>
          <a:prstGeom prst="roundRect">
            <a:avLst>
              <a:gd name="adj" fmla="val 6957"/>
            </a:avLst>
          </a:prstGeom>
          <a:solidFill>
            <a:schemeClr val="tx2"/>
          </a:solidFill>
          <a:ln/>
        </p:spPr>
      </p:sp>
      <p:sp>
        <p:nvSpPr>
          <p:cNvPr id="26" name="AI icon circle"/>
          <p:cNvSpPr/>
          <p:nvPr/>
        </p:nvSpPr>
        <p:spPr>
          <a:xfrm>
            <a:off x="822960" y="5340096"/>
            <a:ext cx="603504" cy="603504"/>
          </a:xfrm>
          <a:prstGeom prst="ellipse">
            <a:avLst/>
          </a:prstGeom>
          <a:solidFill>
            <a:schemeClr val="accent1"/>
          </a:solidFill>
          <a:ln/>
        </p:spPr>
      </p:sp>
      <p:pic>
        <p:nvPicPr>
          <p:cNvPr id="27" name="AI icon" descr="Machine learning and AI">    </p:cNvPr>
          <p:cNvPicPr>
            <a:picLocks noChangeAspect="1"/>
          </p:cNvPicPr>
          <p:nvPr/>
        </p:nvPicPr>
        <p:blipFill>
          <a:blip r:embed="rId5"/>
          <a:stretch>
            <a:fillRect/>
          </a:stretch>
        </p:blipFill>
        <p:spPr>
          <a:xfrm>
            <a:off x="978408" y="5495544"/>
            <a:ext cx="292608" cy="292608"/>
          </a:xfrm>
          <a:prstGeom prst="rect">
            <a:avLst/>
          </a:prstGeom>
        </p:spPr>
      </p:pic>
      <p:sp>
        <p:nvSpPr>
          <p:cNvPr id="28" name="AI note text"/>
          <p:cNvSpPr txBox="1"/>
          <p:nvPr/>
        </p:nvSpPr>
        <p:spPr>
          <a:xfrm>
            <a:off x="1645920" y="5120640"/>
            <a:ext cx="9722815" cy="1051560"/>
          </a:xfrm>
          <a:prstGeom prst="rect">
            <a:avLst/>
          </a:prstGeom>
          <a:noFill/>
          <a:ln/>
        </p:spPr>
        <p:txBody>
          <a:bodyPr wrap="square" lIns="0" tIns="0" rIns="0" bIns="0" rtlCol="0" anchor="ctr"/>
          <a:lstStyle/>
          <a:p>
            <a:pPr indent="0" marL="0">
              <a:buNone/>
            </a:pPr>
            <a:r>
              <a:rPr lang="en-US" sz="1100" b="1" spc="200" kern="0" dirty="0">
                <a:solidFill>
                  <a:schemeClr val="accent2"/>
                </a:solidFill>
              </a:rPr>
              <a:t>WHAT ABOUT AI?</a:t>
            </a:r>
            <a:endParaRPr lang="en-US" sz="1450" dirty="0"/>
          </a:p>
          <a:p>
            <a:pPr indent="0" marL="0">
              <a:buNone/>
            </a:pPr>
            <a:r>
              <a:rPr lang="en-US" sz="1450" dirty="0">
                <a:solidFill>
                  <a:schemeClr val="bg1"/>
                </a:solidFill>
              </a:rPr>
              <a:t>Machine learning is great at prediction, but a good prediction does not prove cause. Good practice: plan first, check the data, report results honestly.</a:t>
            </a:r>
            <a:endParaRPr lang="en-US" sz="1450" dirty="0"/>
          </a:p>
        </p:txBody>
      </p:sp>
      <p:sp>
        <p:nvSpPr>
          <p:cNvPr id="25" name="Slide Number Placeholder 0"/>
          <p:cNvSpPr>
            <a:spLocks noGrp="1"/>
          </p:cNvSpPr>
          <p:nvPr>
            <p:ph type="sldNum" sz="quarter" idx="4294967295"/>
          </p:nvPr>
        </p:nvSpPr>
        <p:spPr>
          <a:xfrm>
            <a:off x="11094415" y="644652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0" lang="en-US"/>
              <a:t>5</a:t>
            </a:fld>
            <a:endParaRPr lang="en-US"/>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7498080" cy="292608"/>
          </a:xfrm>
          <a:prstGeom prst="rect">
            <a:avLst/>
          </a:prstGeom>
          <a:noFill/>
          <a:ln/>
        </p:spPr>
        <p:txBody>
          <a:bodyPr wrap="square" lIns="0" tIns="0" rIns="0" bIns="0" rtlCol="0" anchor="ctr"/>
          <a:lstStyle/>
          <a:p>
            <a:pPr indent="0" marL="0">
              <a:buNone/>
            </a:pPr>
            <a:r>
              <a:rPr lang="en-US" sz="1200" b="1" spc="200" kern="0" dirty="0">
                <a:solidFill>
                  <a:schemeClr val="accent2"/>
                </a:solidFill>
              </a:rPr>
              <a:t>05 · CONCLUSION</a:t>
            </a:r>
            <a:endParaRPr lang="en-US" sz="1200" dirty="0"/>
          </a:p>
        </p:txBody>
      </p:sp>
      <p:sp>
        <p:nvSpPr>
          <p:cNvPr id="3" name="Text 0"/>
          <p:cNvSpPr/>
          <p:nvPr>
            <p:ph idx="101" type="title" hasCustomPrompt="1"/>
          </p:nvPr>
        </p:nvSpPr>
        <p:spPr>
          <a:xfrm>
            <a:off x="548640" y="658368"/>
            <a:ext cx="11094415" cy="713232"/>
          </a:xfrm>
          <a:prstGeom prst="rect">
            <a:avLst/>
          </a:prstGeom>
          <a:noFill/>
          <a:ln/>
        </p:spPr>
        <p:txBody>
          <a:bodyPr wrap="square" lIns="0" tIns="0" rIns="0" bIns="0" rtlCol="0" anchor="ctr"/>
          <a:lstStyle/>
          <a:p>
            <a:pPr algn="l" indent="0" marL="0">
              <a:buNone/>
            </a:pPr>
            <a:r>
              <a:rPr lang="en-US" sz="3400" b="1" dirty="0">
                <a:solidFill>
                  <a:schemeClr val="bg1"/>
                </a:solidFill>
                <a:latin typeface="+mj-lt" pitchFamily="34" charset="0"/>
                <a:ea typeface="+mj-lt" pitchFamily="34" charset="-122"/>
                <a:cs typeface="+mj-lt" pitchFamily="34" charset="-120"/>
              </a:rPr>
              <a:t>Key takeaways</a:t>
            </a:r>
            <a:endParaRPr lang="en-US" sz="3400" dirty="0"/>
          </a:p>
        </p:txBody>
      </p:sp>
      <p:sp>
        <p:nvSpPr>
          <p:cNvPr id="4" name="Takeaway 1 card"/>
          <p:cNvSpPr/>
          <p:nvPr/>
        </p:nvSpPr>
        <p:spPr>
          <a:xfrm>
            <a:off x="548640" y="1691640"/>
            <a:ext cx="3484778" cy="2103120"/>
          </a:xfrm>
          <a:prstGeom prst="roundRect">
            <a:avLst>
              <a:gd name="adj" fmla="val 3478"/>
            </a:avLst>
          </a:prstGeom>
          <a:solidFill>
            <a:schemeClr val="accent3"/>
          </a:solidFill>
          <a:ln/>
        </p:spPr>
      </p:sp>
      <p:sp>
        <p:nvSpPr>
          <p:cNvPr id="5" name="Takeaway 1 number"/>
          <p:cNvSpPr txBox="1"/>
          <p:nvPr/>
        </p:nvSpPr>
        <p:spPr>
          <a:xfrm>
            <a:off x="822960" y="1920240"/>
            <a:ext cx="914400" cy="548640"/>
          </a:xfrm>
          <a:prstGeom prst="rect">
            <a:avLst/>
          </a:prstGeom>
          <a:noFill/>
          <a:ln/>
        </p:spPr>
        <p:txBody>
          <a:bodyPr wrap="square" lIns="0" tIns="0" rIns="0" bIns="0" rtlCol="0" anchor="t"/>
          <a:lstStyle/>
          <a:p>
            <a:pPr indent="0" marL="0">
              <a:buNone/>
            </a:pPr>
            <a:r>
              <a:rPr lang="en-US" sz="3000" b="1" dirty="0">
                <a:solidFill>
                  <a:schemeClr val="accent2"/>
                </a:solidFill>
                <a:latin typeface="+mj-lt" pitchFamily="34" charset="0"/>
                <a:ea typeface="+mj-lt" pitchFamily="34" charset="-122"/>
                <a:cs typeface="+mj-lt" pitchFamily="34" charset="-120"/>
              </a:rPr>
              <a:t>01</a:t>
            </a:r>
            <a:endParaRPr lang="en-US" sz="3000" dirty="0"/>
          </a:p>
        </p:txBody>
      </p:sp>
      <p:sp>
        <p:nvSpPr>
          <p:cNvPr id="6" name="Takeaway 1 heading"/>
          <p:cNvSpPr txBox="1"/>
          <p:nvPr/>
        </p:nvSpPr>
        <p:spPr>
          <a:xfrm>
            <a:off x="822960" y="2560320"/>
            <a:ext cx="2936138" cy="365760"/>
          </a:xfrm>
          <a:prstGeom prst="rect">
            <a:avLst/>
          </a:prstGeom>
          <a:noFill/>
          <a:ln/>
        </p:spPr>
        <p:txBody>
          <a:bodyPr wrap="square" lIns="0" tIns="0" rIns="0" bIns="0" rtlCol="0" anchor="t"/>
          <a:lstStyle/>
          <a:p>
            <a:pPr indent="0" marL="0">
              <a:buNone/>
            </a:pPr>
            <a:r>
              <a:rPr lang="en-US" sz="1800" b="1" dirty="0">
                <a:solidFill>
                  <a:schemeClr val="bg1"/>
                </a:solidFill>
              </a:rPr>
              <a:t>Data becomes evidence</a:t>
            </a:r>
            <a:endParaRPr lang="en-US" sz="1800" dirty="0"/>
          </a:p>
        </p:txBody>
      </p:sp>
      <p:sp>
        <p:nvSpPr>
          <p:cNvPr id="7" name="Takeaway 1 text"/>
          <p:cNvSpPr txBox="1"/>
          <p:nvPr/>
        </p:nvSpPr>
        <p:spPr>
          <a:xfrm>
            <a:off x="822960" y="2971800"/>
            <a:ext cx="2936138" cy="685800"/>
          </a:xfrm>
          <a:prstGeom prst="rect">
            <a:avLst/>
          </a:prstGeom>
          <a:noFill/>
          <a:ln/>
        </p:spPr>
        <p:txBody>
          <a:bodyPr wrap="square" lIns="0" tIns="0" rIns="0" bIns="0" rtlCol="0" anchor="t"/>
          <a:lstStyle/>
          <a:p>
            <a:pPr indent="0" marL="0">
              <a:buNone/>
            </a:pPr>
            <a:r>
              <a:rPr lang="en-US" sz="1450" dirty="0">
                <a:solidFill>
                  <a:schemeClr val="accent6"/>
                </a:solidFill>
              </a:rPr>
              <a:t>Statistics turns raw data into results we can trust.</a:t>
            </a:r>
            <a:endParaRPr lang="en-US" sz="1450" dirty="0"/>
          </a:p>
        </p:txBody>
      </p:sp>
      <p:sp>
        <p:nvSpPr>
          <p:cNvPr id="8" name="Takeaway 2 card"/>
          <p:cNvSpPr/>
          <p:nvPr/>
        </p:nvSpPr>
        <p:spPr>
          <a:xfrm>
            <a:off x="4353458" y="1691640"/>
            <a:ext cx="3484778" cy="2103120"/>
          </a:xfrm>
          <a:prstGeom prst="roundRect">
            <a:avLst>
              <a:gd name="adj" fmla="val 3478"/>
            </a:avLst>
          </a:prstGeom>
          <a:solidFill>
            <a:schemeClr val="accent3"/>
          </a:solidFill>
          <a:ln/>
        </p:spPr>
      </p:sp>
      <p:sp>
        <p:nvSpPr>
          <p:cNvPr id="9" name="Takeaway 2 number"/>
          <p:cNvSpPr txBox="1"/>
          <p:nvPr/>
        </p:nvSpPr>
        <p:spPr>
          <a:xfrm>
            <a:off x="4627778" y="1920240"/>
            <a:ext cx="914400" cy="548640"/>
          </a:xfrm>
          <a:prstGeom prst="rect">
            <a:avLst/>
          </a:prstGeom>
          <a:noFill/>
          <a:ln/>
        </p:spPr>
        <p:txBody>
          <a:bodyPr wrap="square" lIns="0" tIns="0" rIns="0" bIns="0" rtlCol="0" anchor="t"/>
          <a:lstStyle/>
          <a:p>
            <a:pPr indent="0" marL="0">
              <a:buNone/>
            </a:pPr>
            <a:r>
              <a:rPr lang="en-US" sz="3000" b="1" dirty="0">
                <a:solidFill>
                  <a:schemeClr val="accent2"/>
                </a:solidFill>
                <a:latin typeface="+mj-lt" pitchFamily="34" charset="0"/>
                <a:ea typeface="+mj-lt" pitchFamily="34" charset="-122"/>
                <a:cs typeface="+mj-lt" pitchFamily="34" charset="-120"/>
              </a:rPr>
              <a:t>02</a:t>
            </a:r>
            <a:endParaRPr lang="en-US" sz="3000" dirty="0"/>
          </a:p>
        </p:txBody>
      </p:sp>
      <p:sp>
        <p:nvSpPr>
          <p:cNvPr id="10" name="Takeaway 2 heading"/>
          <p:cNvSpPr txBox="1"/>
          <p:nvPr/>
        </p:nvSpPr>
        <p:spPr>
          <a:xfrm>
            <a:off x="4627778" y="2560320"/>
            <a:ext cx="2936138" cy="365760"/>
          </a:xfrm>
          <a:prstGeom prst="rect">
            <a:avLst/>
          </a:prstGeom>
          <a:noFill/>
          <a:ln/>
        </p:spPr>
        <p:txBody>
          <a:bodyPr wrap="square" lIns="0" tIns="0" rIns="0" bIns="0" rtlCol="0" anchor="t"/>
          <a:lstStyle/>
          <a:p>
            <a:pPr indent="0" marL="0">
              <a:buNone/>
            </a:pPr>
            <a:r>
              <a:rPr lang="en-US" sz="1800" b="1" dirty="0">
                <a:solidFill>
                  <a:schemeClr val="bg1"/>
                </a:solidFill>
              </a:rPr>
              <a:t>Better decisions</a:t>
            </a:r>
            <a:endParaRPr lang="en-US" sz="1800" dirty="0"/>
          </a:p>
        </p:txBody>
      </p:sp>
      <p:sp>
        <p:nvSpPr>
          <p:cNvPr id="11" name="Takeaway 2 text"/>
          <p:cNvSpPr txBox="1"/>
          <p:nvPr/>
        </p:nvSpPr>
        <p:spPr>
          <a:xfrm>
            <a:off x="4627778" y="2971800"/>
            <a:ext cx="2936138" cy="685800"/>
          </a:xfrm>
          <a:prstGeom prst="rect">
            <a:avLst/>
          </a:prstGeom>
          <a:noFill/>
          <a:ln/>
        </p:spPr>
        <p:txBody>
          <a:bodyPr wrap="square" lIns="0" tIns="0" rIns="0" bIns="0" rtlCol="0" anchor="t"/>
          <a:lstStyle/>
          <a:p>
            <a:pPr indent="0" marL="0">
              <a:buNone/>
            </a:pPr>
            <a:r>
              <a:rPr lang="en-US" sz="1450" dirty="0">
                <a:solidFill>
                  <a:schemeClr val="accent6"/>
                </a:solidFill>
              </a:rPr>
              <a:t>Testing ideas and measuring uncertainty beat guesswork.</a:t>
            </a:r>
            <a:endParaRPr lang="en-US" sz="1450" dirty="0"/>
          </a:p>
        </p:txBody>
      </p:sp>
      <p:sp>
        <p:nvSpPr>
          <p:cNvPr id="12" name="Takeaway 3 card"/>
          <p:cNvSpPr/>
          <p:nvPr/>
        </p:nvSpPr>
        <p:spPr>
          <a:xfrm>
            <a:off x="8158277" y="1691640"/>
            <a:ext cx="3484778" cy="2103120"/>
          </a:xfrm>
          <a:prstGeom prst="roundRect">
            <a:avLst>
              <a:gd name="adj" fmla="val 3478"/>
            </a:avLst>
          </a:prstGeom>
          <a:solidFill>
            <a:schemeClr val="accent3"/>
          </a:solidFill>
          <a:ln/>
        </p:spPr>
      </p:sp>
      <p:sp>
        <p:nvSpPr>
          <p:cNvPr id="13" name="Takeaway 3 number"/>
          <p:cNvSpPr txBox="1"/>
          <p:nvPr/>
        </p:nvSpPr>
        <p:spPr>
          <a:xfrm>
            <a:off x="8432597" y="1920240"/>
            <a:ext cx="914400" cy="548640"/>
          </a:xfrm>
          <a:prstGeom prst="rect">
            <a:avLst/>
          </a:prstGeom>
          <a:noFill/>
          <a:ln/>
        </p:spPr>
        <p:txBody>
          <a:bodyPr wrap="square" lIns="0" tIns="0" rIns="0" bIns="0" rtlCol="0" anchor="t"/>
          <a:lstStyle/>
          <a:p>
            <a:pPr indent="0" marL="0">
              <a:buNone/>
            </a:pPr>
            <a:r>
              <a:rPr lang="en-US" sz="3000" b="1" dirty="0">
                <a:solidFill>
                  <a:schemeClr val="accent2"/>
                </a:solidFill>
                <a:latin typeface="+mj-lt" pitchFamily="34" charset="0"/>
                <a:ea typeface="+mj-lt" pitchFamily="34" charset="-122"/>
                <a:cs typeface="+mj-lt" pitchFamily="34" charset="-120"/>
              </a:rPr>
              <a:t>03</a:t>
            </a:r>
            <a:endParaRPr lang="en-US" sz="3000" dirty="0"/>
          </a:p>
        </p:txBody>
      </p:sp>
      <p:sp>
        <p:nvSpPr>
          <p:cNvPr id="14" name="Takeaway 3 heading"/>
          <p:cNvSpPr txBox="1"/>
          <p:nvPr/>
        </p:nvSpPr>
        <p:spPr>
          <a:xfrm>
            <a:off x="8432597" y="2560320"/>
            <a:ext cx="2936138" cy="365760"/>
          </a:xfrm>
          <a:prstGeom prst="rect">
            <a:avLst/>
          </a:prstGeom>
          <a:noFill/>
          <a:ln/>
        </p:spPr>
        <p:txBody>
          <a:bodyPr wrap="square" lIns="0" tIns="0" rIns="0" bIns="0" rtlCol="0" anchor="t"/>
          <a:lstStyle/>
          <a:p>
            <a:pPr indent="0" marL="0">
              <a:buNone/>
            </a:pPr>
            <a:r>
              <a:rPr lang="en-US" sz="1800" b="1" dirty="0">
                <a:solidFill>
                  <a:schemeClr val="bg1"/>
                </a:solidFill>
              </a:rPr>
              <a:t>Careful interpretation</a:t>
            </a:r>
            <a:endParaRPr lang="en-US" sz="1800" dirty="0"/>
          </a:p>
        </p:txBody>
      </p:sp>
      <p:sp>
        <p:nvSpPr>
          <p:cNvPr id="15" name="Takeaway 3 text"/>
          <p:cNvSpPr txBox="1"/>
          <p:nvPr/>
        </p:nvSpPr>
        <p:spPr>
          <a:xfrm>
            <a:off x="8432597" y="2971800"/>
            <a:ext cx="2936138" cy="685800"/>
          </a:xfrm>
          <a:prstGeom prst="rect">
            <a:avLst/>
          </a:prstGeom>
          <a:noFill/>
          <a:ln/>
        </p:spPr>
        <p:txBody>
          <a:bodyPr wrap="square" lIns="0" tIns="0" rIns="0" bIns="0" rtlCol="0" anchor="t"/>
          <a:lstStyle/>
          <a:p>
            <a:pPr indent="0" marL="0">
              <a:buNone/>
            </a:pPr>
            <a:r>
              <a:rPr lang="en-US" sz="1450" dirty="0">
                <a:solidFill>
                  <a:schemeClr val="accent6"/>
                </a:solidFill>
              </a:rPr>
              <a:t>How we read results matters as much as the method.</a:t>
            </a:r>
            <a:endParaRPr lang="en-US" sz="1450" dirty="0"/>
          </a:p>
        </p:txBody>
      </p:sp>
      <p:sp>
        <p:nvSpPr>
          <p:cNvPr id="16" name="Closing statement"/>
          <p:cNvSpPr txBox="1"/>
          <p:nvPr/>
        </p:nvSpPr>
        <p:spPr>
          <a:xfrm>
            <a:off x="548640" y="4114800"/>
            <a:ext cx="11094415" cy="868680"/>
          </a:xfrm>
          <a:prstGeom prst="rect">
            <a:avLst/>
          </a:prstGeom>
          <a:noFill/>
          <a:ln/>
        </p:spPr>
        <p:txBody>
          <a:bodyPr wrap="square" lIns="0" tIns="0" rIns="0" bIns="0" rtlCol="0" anchor="t"/>
          <a:lstStyle/>
          <a:p>
            <a:pPr indent="0" marL="0">
              <a:buNone/>
            </a:pPr>
            <a:r>
              <a:rPr lang="en-US" sz="2300" i="1" dirty="0">
                <a:solidFill>
                  <a:schemeClr val="bg1"/>
                </a:solidFill>
                <a:latin typeface="+mj-lt" pitchFamily="34" charset="0"/>
                <a:ea typeface="+mj-lt" pitchFamily="34" charset="-122"/>
                <a:cs typeface="+mj-lt" pitchFamily="34" charset="-120"/>
              </a:rPr>
              <a:t>“The value of data lies not merely in collecting it, but in drawing reliable conclusions from it.”</a:t>
            </a:r>
            <a:endParaRPr lang="en-US" sz="2300" dirty="0"/>
          </a:p>
        </p:txBody>
      </p:sp>
      <p:sp>
        <p:nvSpPr>
          <p:cNvPr id="17" name="Thank you"/>
          <p:cNvSpPr txBox="1"/>
          <p:nvPr/>
        </p:nvSpPr>
        <p:spPr>
          <a:xfrm>
            <a:off x="548640" y="5074920"/>
            <a:ext cx="11094415" cy="365760"/>
          </a:xfrm>
          <a:prstGeom prst="rect">
            <a:avLst/>
          </a:prstGeom>
          <a:noFill/>
          <a:ln/>
        </p:spPr>
        <p:txBody>
          <a:bodyPr wrap="square" lIns="0" tIns="0" rIns="0" bIns="0" rtlCol="0" anchor="t"/>
          <a:lstStyle/>
          <a:p>
            <a:pPr indent="0" marL="0">
              <a:buNone/>
            </a:pPr>
            <a:r>
              <a:rPr lang="en-US" sz="1700" b="1" dirty="0">
                <a:solidFill>
                  <a:schemeClr val="accent2"/>
                </a:solidFill>
              </a:rPr>
              <a:t>Thank you · Questions?</a:t>
            </a:r>
            <a:endParaRPr lang="en-US" sz="1700" dirty="0"/>
          </a:p>
        </p:txBody>
      </p:sp>
      <p:sp>
        <p:nvSpPr>
          <p:cNvPr id="18" name="References"/>
          <p:cNvSpPr txBox="1"/>
          <p:nvPr/>
        </p:nvSpPr>
        <p:spPr>
          <a:xfrm>
            <a:off x="548640" y="5760720"/>
            <a:ext cx="11094415" cy="457200"/>
          </a:xfrm>
          <a:prstGeom prst="rect">
            <a:avLst/>
          </a:prstGeom>
          <a:noFill/>
          <a:ln/>
        </p:spPr>
        <p:txBody>
          <a:bodyPr wrap="square" lIns="0" tIns="0" rIns="0" bIns="0" rtlCol="0" anchor="t"/>
          <a:lstStyle/>
          <a:p>
            <a:pPr indent="0" marL="0">
              <a:buNone/>
            </a:pPr>
            <a:r>
              <a:rPr lang="en-US" sz="1000" dirty="0">
                <a:solidFill>
                  <a:schemeClr val="accent6"/>
                </a:solidFill>
              </a:rPr>
              <a:t>References: Kohavi &amp; Thomke (2017), Harvard Business Review 95(5) · RECOVERY Collaborative Group (2021), NEJM 384(8) · Wasserstein &amp; Lazar (2016), The American Statistician 70(2) · Shmueli (2010), Statistical Science 25(3)</a:t>
            </a:r>
            <a:endParaRPr lang="en-US" sz="1000" dirty="0"/>
          </a:p>
        </p:txBody>
      </p:sp>
      <p:sp>
        <p:nvSpPr>
          <p:cNvPr id="25" name="Slide Number Placeholder 0"/>
          <p:cNvSpPr>
            <a:spLocks noGrp="1"/>
          </p:cNvSpPr>
          <p:nvPr>
            <p:ph type="sldNum" sz="quarter" idx="4294967295"/>
          </p:nvPr>
        </p:nvSpPr>
        <p:spPr>
          <a:xfrm>
            <a:off x="11094415" y="644652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6"/>
                </a:solidFill>
              </a:defRPr>
            </a:lvl1pPr>
          </a:lstStyle>
          <a:p>
            <a:pPr algn="r"/>
            <a:fld id="{F7021451-1387-4CA6-816F-3879F97B5CBC}" type="slidenum">
              <a:rPr b="0" lang="en-US"/>
              <a:t>6</a:t>
            </a:fld>
            <a:endParaRPr lang="en-US"/>
          </a:p>
        </p:txBody>
      </p:sp>
    </p:spTree>
  </p:cSld>
  <p:clrMapOvr>
    <a:masterClrMapping/>
  </p:clrMapOvr>
  <p:transition spd="med">
    <p:fade/>
  </p:transition>
</p:sld>
</file>

<file path=ppt/theme/theme1.xml><?xml version="1.0" encoding="utf-8"?>
<a:theme xmlns:a="http://schemas.openxmlformats.org/drawingml/2006/main" name="Evidence Navy">
  <a:themeElements>
    <a:clrScheme name="Evidence Navy">
      <a:dk1>
        <a:srgbClr val="1B2633"/>
      </a:dk1>
      <a:lt1>
        <a:srgbClr val="FFFFFF"/>
      </a:lt1>
      <a:dk2>
        <a:srgbClr val="0B1F33"/>
      </a:dk2>
      <a:lt2>
        <a:srgbClr val="EEF2F6"/>
      </a:lt2>
      <a:accent1>
        <a:srgbClr val="0F8B8D"/>
      </a:accent1>
      <a:accent2>
        <a:srgbClr val="E3A43B"/>
      </a:accent2>
      <a:accent3>
        <a:srgbClr val="2F5D8A"/>
      </a:accent3>
      <a:accent4>
        <a:srgbClr val="B8462F"/>
      </a:accent4>
      <a:accent5>
        <a:srgbClr val="5E6B7A"/>
      </a:accent5>
      <a:accent6>
        <a:srgbClr val="CFE9E7"/>
      </a:accent6>
      <a:hlink>
        <a:srgbClr val="2F5D8A"/>
      </a:hlink>
      <a:folHlink>
        <a:srgbClr val="5E6B7A"/>
      </a:folHlink>
    </a:clrScheme>
    <a:fontScheme name="Evidence Nav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Implications of Advanced Statistics in Business and Research</dc:title>
  <dc:subject>Short university presentation on advanced statistics (title + five slides)</dc:subject>
  <dc:creator>[Team Name]</dc:creator>
  <cp:lastModifiedBy>[Team Name]</cp:lastModifiedBy>
  <cp:revision>1</cp:revision>
  <dcterms:created xsi:type="dcterms:W3CDTF">2026-10-28T13:32:10Z</dcterms:created>
  <dcterms:modified xsi:type="dcterms:W3CDTF">2026-10-28T13:32:10Z</dcterms:modified>
</cp:coreProperties>
</file>