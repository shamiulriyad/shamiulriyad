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9055e2b-5af0-3d5a-e75c-deafb8b6e5ab}">
          <p14:sldIdLst>
            <p14:sldId id="256"/>
          </p14:sldIdLst>
        </p14:section>
        <p14:section name="Foundations" id="{181d7535-98bd-d70a-54ab-8b3e37569591}">
          <p14:sldIdLst>
            <p14:sldId id="257"/>
          </p14:sldIdLst>
        </p14:section>
        <p14:section name="Methods" id="{9cef45b0-e32a-8eaf-6e5c-2b0274f0149e}">
          <p14:sldIdLst>
            <p14:sldId id="258"/>
          </p14:sldIdLst>
        </p14:section>
        <p14:section name="Implications" id="{9595709a-9249-24f1-f61c-bcdcf890cf50}">
          <p14:sldIdLst>
            <p14:sldId id="259"/>
            <p14:sldId id="260"/>
          </p14:sldIdLst>
        </p14:section>
        <p14:section name="Case study" id="{f9ae71f0-8ed4-fb62-238a-145df545287c}">
          <p14:sldIdLst>
            <p14:sldId id="261"/>
          </p14:sldIdLst>
        </p14:section>
        <p14:section name="Risks and ethics" id="{8391ce4c-6391-413a-8332-a85abb6311da}">
          <p14:sldIdLst>
            <p14:sldId id="262"/>
          </p14:sldIdLst>
        </p14:section>
        <p14:section name="Conclusion" id="{f1f05f5e-546c-a190-5ed5-b15c3a96369e}">
          <p14:sldIdLst>
            <p14:sldId id="263"/>
          </p14:sldIdLst>
        </p14:section>
        <p14:section name="Appendix" id="{53131af1-46f5-e6a1-df97-f8f5d67ab274}">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Conversion rate (%)</c:v>
                </c:pt>
              </c:strCache>
            </c:strRef>
          </c:tx>
          <c:spPr>
            <a:solidFill>
              <a:srgbClr val="2F5D8A"/>
            </a:solidFill>
            <a:effectLst/>
          </c:spPr>
          <c:invertIfNegative val="0"/>
          <c:dLbls>
            <c:numFmt formatCode="0.00&quot;%&quot;" sourceLinked="0"/>
            <c:txPr>
              <a:bodyPr/>
              <a:lstStyle/>
              <a:p>
                <a:pPr>
                  <a:defRPr b="1" i="0" strike="noStrike" sz="1300" u="none">
                    <a:solidFill>
                      <a:srgbClr val="0B1F33"/>
                    </a:solidFill>
                    <a:latin typeface="+mn-lt"/>
                  </a:defRPr>
                </a:pPr>
              </a:p>
            </c:txPr>
            <c:showLegendKey val="0"/>
            <c:showVal val="1"/>
            <c:showCatName val="0"/>
            <c:showSerName val="0"/>
            <c:showPercent val="0"/>
            <c:showBubbleSize val="0"/>
            <c:showLeaderLines val="0"/>
          </c:dLbls>
          <c:dPt>
            <c:idx val="0"/>
            <c:invertIfNegative val="0"/>
            <c:bubble3D val="0"/>
            <c:spPr>
              <a:solidFill>
                <a:srgbClr val="2F5D8A"/>
              </a:solidFill>
              <a:effectLst/>
            </c:spPr>
          </c:dPt>
          <c:dPt>
            <c:idx val="1"/>
            <c:invertIfNegative val="0"/>
            <c:bubble3D val="0"/>
            <c:spPr>
              <a:solidFill>
                <a:srgbClr val="0F8B8D"/>
              </a:solidFill>
              <a:effectLst/>
            </c:spPr>
          </c:dPt>
          <c:cat>
            <c:multiLvlStrRef>
              <c:f>Sheet1!$A$2:$A$3</c:f>
              <c:multiLvlStrCache>
                <c:ptCount val="2"/>
                <c:lvl>
                  <c:pt idx="0">
                    <c:v>A · Current page</c:v>
                  </c:pt>
                  <c:pt idx="1">
                    <c:v>B · Redesign</c:v>
                  </c:pt>
                </c:lvl>
              </c:multiLvlStrCache>
            </c:multiLvlStrRef>
          </c:cat>
          <c:val>
            <c:numRef>
              <c:f>Sheet1!$B$2:$B$3</c:f>
              <c:numCache>
                <c:formatCode>General</c:formatCode>
                <c:ptCount val="2"/>
                <c:pt idx="0">
                  <c:v>4.2</c:v>
                </c:pt>
                <c:pt idx="1">
                  <c:v>4.8</c:v>
                </c:pt>
              </c:numCache>
            </c:numRef>
          </c:val>
        </c:ser>
        <c:dLbls>
          <c:numFmt formatCode="0.00&quot;%&quot;" sourceLinked="0"/>
          <c:txPr>
            <a:bodyPr/>
            <a:lstStyle/>
            <a:p>
              <a:pPr>
                <a:defRPr b="1" i="0" strike="noStrike" sz="1300" u="none">
                  <a:solidFill>
                    <a:srgbClr val="0B1F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B2633"/>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9525" cap="flat">
              <a:solidFill>
                <a:srgbClr val="E2E7ED"/>
              </a:solidFill>
              <a:prstDash val="solid"/>
              <a:round/>
            </a:ln>
          </c:spPr>
        </c:majorGridlines>
        <c:title>
          <c:tx>
            <c:rich>
              <a:bodyPr/>
              <a:lstStyle/>
              <a:p>
                <a:pPr>
                  <a:defRPr sz="1100" b="0" i="0" u="none" strike="noStrike">
                    <a:solidFill>
                      <a:srgbClr val="5E6B7A"/>
                    </a:solidFill>
                    <a:latin typeface="+mn-lt"/>
                  </a:defRPr>
                </a:pPr>
                <a:r>
                  <a:rPr sz="1100" b="0" i="0" u="none" strike="noStrike">
                    <a:solidFill>
                      <a:srgbClr val="5E6B7A"/>
                    </a:solidFill>
                    <a:latin typeface="+mn-lt"/>
                  </a:rPr>
                  <a:t>Conversion rate (%)</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7A"/>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Introduce the team and the question this presentation answers: what changes when organizations and researchers move beyond simple summaries to advanced statistical methods?
The visual on the right is the story of the talk in one picture (simulated data, for illustration only): raw observations (white points), a fitted model with an uncertainty band (teal), a forecast whose interval widens with the horizon (amber), and the predictive distribution that a decision-maker compares with a threshold (the horizontal line).
Roadmap: why it matters, the key methods, business implications, research implications, a worked A/B-test case, risks and ethics, and the takeaways.
Editing: team member names and IDs are in a borderless table. Click the last cell and press Tab to add a member; right-click a row and choose Delete Rows to remove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(about 2 minutes)
Walk the five stages left to right (each appears on click).
- Business intelligence describes what happened: dashboards, KPIs, averages. Useful, but it cannot tell you whether a change is real or random.
- Predictive analytics answers 'what is likely next?' It can be very accurate without explaining why.
- Statistical inference asks whether a pattern is real, how large it is, how uncertain we are, and which explanation the evidence favors. Causal designs go one step further and ask what happens if we intervene.
Shmueli (2010), 'To explain or to predict?', makes this distinction: explanatory, predictive and descriptive models serve different goals and are judged by different criteria.
Limits of intuition: Simpson's paradox (aggregated data can reverse a subgroup trend); sampling variability (small samples produce striking but unstable patterns); confounding (a third factor drives both variables).
Evidence: Brynjolfsson, Hitt and Kim (2011) surveyed 179 large publicly traded firms and found that firms adopting data-driven decision-making had output and productivity about 5-6% higher than expected given their other investments and IT use. Be precise: this is an observational association; the authors use instrumental-variable methods to argue against reverse causality, but it is not a randomized experiment.
Source: Brynjolfsson, E., Hitt, L. M., &amp; Kim, H. H. (2011). Strength in numbers: How does data-driven decisionmaking affect firm performance? https://doi.org/10.2139/ssrn.1819486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METHODS (about 2 minutes). For each method: what it does, why it is useful, how it is applied, what it supports, and its limits.
1. Regression and predictive modeling. Models an outcome as a function of predictors and quantifies each association with uncertainty. Useful for explaining variation and predicting new cases. Business: price elasticity, sales-driver analysis. Research: wage equations, dose-response. Supports pricing, budgeting and targeting decisions. Limits: omitted variables, multicollinearity, overfitting; coefficients are associations unless the design is causal.
2. Hypothesis tests and confidence intervals. Ask whether an observed difference is larger than expected from sampling variation, and give a range of effect sizes compatible with the data. Supports go/no-go decisions and scientific claims. Limits: a p-value is not the probability that the hypothesis is true and does not measure effect size or importance (ASA statement, Wasserstein &amp; Lazar, 2016). Always report the effect size and its interval.
3. Bayesian inference. Combines a prior distribution with the likelihood of the data to give a posterior distribution, so results can be stated as probabilities of hypotheses or parameter values. Useful with small samples, sequential decisions and when prior evidence exists. Applications: credit-risk updating, adaptive clinical trials, Bayesian A/B testing. Limits: sensitivity to the prior and computational cost; report the prior and run sensitivity analyses (Gelman et al., 2013).
4. Time-series forecasting. Models trend, seasonality and autocorrelation (exponential smoothing, ARIMA) to forecast future values with prediction intervals. Supports inventory, staffing and cash-flow planning. Limits: assumes the past pattern continues; structural breaks (for example, a pandemic) can invalidate a model (Hyndman &amp; Athanasopoulos, 2021).
5. Experimental design and causal inference. Random assignment makes groups comparable on both measured and unmeasured factors, so differences in outcomes can be attributed to the intervention. Quasi-experimental methods (difference-in-differences, instrumental variables, regression discontinuity) estimate causal effects from observational data under explicit assumptions. Supports decisions about interventions. Limits: experiments are not always ethical or feasible; quasi-experiments rest on assumptions that must be defended (Hernan &amp; Robins, 2020).
6. Multivariate analysis and clustering. Principal component and factor analysis reduce many correlated variables to a few dimensions; cluster analysis groups similar observations. Supports segmentation and measurement design. Limits: clusters are descriptive, depend on scaling and the number of clusters, and should be validated for stability.
Key message: the question, data structure and assumptions decide the method, not the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IMPLICATIONS (about 2 minutes)
Reveal the reasoning chain one step per click.
Case (Kohavi &amp; Thomke, 2017, Harvard Business Review): a Bing employee proposed lengthening ad title lines by merging text from the line below the title. The idea was rated low priority and sat in the backlog for more than six months. When it was finally tested in an online controlled experiment, revenue rose about 12% with no significant harm to key user-experience metrics. The result was so large that it triggered a 'too good to be true' alert, so it was checked and replicated before shipping. The authors estimated the change was worth more than $100 million a year in U.S. revenue at the time. Note: these are the authors' published figures for Bing, not our estimates.
Why statistics mattered: expert judgment had ranked the idea low. Randomization isolated the causal effect of the change; guardrail metrics checked that revenue did not come at the cost of user experience; replication protected against a false positive.
Table: each business function pairs a question with an appropriate method. Two contrasts to highlight:
- Forecasting: planning from a prediction interval rather than a point forecast is what turns a forecast into an inventory policy (safety stock).
- Churn: a churn model predicts who will leave; it does not tell you who an offer will change. Uplift (treatment-effect) modeling with randomized offers estimates the causal effect, so budget goes where the offer actually works.
Sources: Kohavi, R., &amp; Thomke, S. (2017). The surprising power of online experiments. Harvard Business Review, 95(5), 74-82. Kohavi, R., Tang, D., &amp; Xu, Y. (2020). Trustworthy online controlled experiments. Cambridge University Press. Hyndman, R. J., &amp; Athanasopoulos, G. (2021). Forecasting: Principles and practice (3rd ed.). OTexts.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IMPLICATIONS (about 2 minutes)
Reveal the six workflow steps on click. Statistical thinking enters at every step, not only at 'analysis':
- Question: a falsifiable hypothesis and a pre-specified primary outcome prevent outcome-switching.
- Design: randomization balances measured and unmeasured confounders; observational designs need explicit adjustment and causal assumptions.
- Data collection: a power analysis sets the sample size. Underpowered studies miss real effects and exaggerate the ones they find (Button et al., 2013).
- Analysis: the model must fit the data type and assumptions (independence, distribution, missing-data mechanism).
- Interpretation: report effect sizes with confidence intervals, and run robustness and sensitivity analyses.
- Conclusion: claims should match the strength of evidence; share code and data so others can reproduce them.
Evidence example: RECOVERY trial (RECOVERY Collaborative Group, NEJM 2021). 2,104 patients were randomized to dexamethasone and 4,321 to usual care. 28-day mortality: 22.9% vs 25.7%, age-adjusted rate ratio 0.83 (95% CI 0.75 to 0.93; P&lt;0.001). Ventilated patients: 29.3% vs 41.4%, RR 0.64 (0.51 to 0.81). Oxygen only: 23.3% vs 26.2%, RR 0.82 (0.72 to 0.94). No respiratory support: 17.8% vs 14.0%, RR 1.19 (0.92 to 1.55), so no benefit was shown in that group.
What statistics contributed: randomization made the comparison causal; confidence intervals show both size and precision; the subgroup pattern informed who should receive the drug. Subgroup results should be read with caution, since many subgroups increase the chance of spurious differences.
Reproducibility: the Open Science Collaboration (2015) replicated 100 studies from three psychology journals. 97% of originals had p &lt; .05; 36% of replications did, and mean replication effect sizes were about half the original. This is a warning about weak designs and selective reporting, not a reason to distrust statistics.
Sources: RECOVERY Collaborative Group (2021), NEJM 384(8), 693-704, https://doi.org/10.1056/NEJMoa2021436. Open Science Collaboration (2015), Science 349(6251), aac4716, https://doi.org/10.1126/science.aac4716. Button et al. (2013), Nature Reviews Neuroscience 14, 365-376.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(about 2 minutes). ALL NUMBERS ON THIS SLIDE ARE HYPOTHETICAL, created to illustrate the method. They are not results from any real company.
Design: 40,000 visitors are randomly assigned 50/50. Random assignment means the two groups differ only by chance and by the page they see, so a difference in conversion can be attributed to the redesign. Hypotheses: H0: pB = pA; H1: pB != pA, two-sided, alpha = 0.05. Primary metric fixed in advance: conversion rate = orders / visitors.
Power analysis (normal approximation): to detect 4.2% -&gt; 4.8% with 80% power at alpha 0.05 two-sided, n per arm = [1.96*sqrt(2*0.045*0.955) + 0.8416*sqrt(0.042*0.958 + 0.048*0.952)]^2 / 0.006^2 = about 18,738. We plan 20,000 per arm. The test runs for a fixed period; stopping early when p first dips below 0.05 inflates the false-positive rate.
Results (click 1): A = 840/20,000 = 4.20%; B = 960/20,000 = 4.80%.
Inference (click 2): two-proportion z-test.
Pooled p = 1,800/40,000 = 0.045. SE under H0 = sqrt(0.045*0.955*(1/20,000 + 1/20,000)) = 0.002073.
z = 0.006 / 0.002073 = 2.89; two-sided p = 0.0038, about 0.004.
95% CI for the difference uses the unpooled SE = sqrt(0.042*0.958/20,000 + 0.048*0.952/20,000) = 0.002073; 0.006 +/- 1.96*0.002073 = +0.19 to +1.01 percentage points.
Relative lift = 0.60/4.20 = 14.3%.
Interpretation (click 3): the p-value is the probability of a difference at least this large if there were truly no effect; it is not the probability that the redesign works. The confidence interval matters more for the business: the effect could be as small as 0.19 pp or as large as 1.01 pp. Assumptions: independent visitors (one count per visitor), stable traffic mix, no interference between groups.
Decision: launch B, provided guardrail metrics such as return rate and page load time show no harm. Monitor after launch, because novelty effects can fade. If the minimum worthwhile lift were, say, 0.5 pp, the interval would not settle that question and a larger test would be justified.
Method reference: Kohavi, Tang &amp; Xu (2020), Trustworthy Online Controlled Experiments; Montgomery (2017), Design and Analysis of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ETHICS (about 2 minutes)
Advanced methods amplify whatever goes into them. The table pairs each common failure with a practical safeguard.
- Sampling bias: a large biased sample is still biased; size does not fix representativeness.
- Assumptions: check residuals, independence, and missing-data mechanisms; use robust methods when assumptions fail.
- Overfitting: evaluate on data the model has not seen (hold-out sets, cross-validation) (Hastie et al., 2009).
- Multiple testing and p-hacking: with 20 independent tests at alpha 0.05, about one 'significant' result is expected by chance. Flexible analysis choices can push false-positive rates far above 5% (Simmons, Nelson &amp; Simonsohn, 2011). Pre-register and correct for multiplicity.
- Confounding: causal claims need randomization or explicit causal assumptions (Hernan &amp; Robins, 2020).
- Significance: the ASA statement (Wasserstein &amp; Lazar, 2016) stresses that p-values do not measure effect size or importance; Amrhein, Greenland &amp; McShane (2019) argue against dichotomizing results as significant or not.
- Privacy and fairness: Obermeyer et al. (2019, Science) showed that an algorithm using health-care cost as a proxy for health need assigned Black patients the same risk score as White patients who were less sick, because less money had been spent on their care. The statistical target, not just the model, created the bias.
- Domain expertise: statistics answers the question you asked; experts make sure it is the right question.
ML and AI: machine learning is increasingly used alongside classical statistics, especially for prediction with many variables. Statistical thinking remains essential for uncertainty, study design and causal questions.
Framework: Plan, Check, Estimate, Stress-test,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1 minute)
Four takeaways:
1. Advanced statistics turns raw data into structured evidence: description, prediction and inference answer different questions.
2. Businesses decide better when they quantify uncertainty and test alternatives, as the Bing experiment showed.
3. Researchers strengthen conclusions through design (power, randomization) and rigorous inference (effect sizes, intervals, robustness), as RECOVERY showed and the replication project warned.
4. Responsible interpretation matters as much as technical sophistication: significance is not importance, prediction is not causation, and fairness and transparency are part of good practice.
Closing line: 'The value of data lies not merely in collecting it, but in drawing reliable conclusions from it.'
Invite questions. Full references are on the appendix slide after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Supplementary reference slide. It sits outside the eight-slide main presentation; hide it (right-click &gt; Hide Slide) if your course requires exactly eight slides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5760720" cy="1691640"/>
          </a:xfrm>
          <a:prstGeom prst="rect">
            <a:avLst/>
          </a:prstGeom>
          <a:noFill/>
          <a:ln/>
        </p:spPr>
        <p:txBody>
          <a:bodyPr wrap="square" rtlCol="0"/>
          <a:lstStyle>
            <a:lvl1pPr algn="l" indent="0" marL="0">
              <a:buNone/>
              <a:defRPr lang="en-US" sz="3600" b="1" dirty="0">
                <a:solidFill>
                  <a:schemeClr val="bg1"/>
                </a:solidFill>
                <a:latin typeface="+mj-lt" pitchFamily="34" charset="0"/>
                <a:ea typeface="+mj-lt" pitchFamily="34" charset="-122"/>
                <a:cs typeface="+mj-lt"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tx2"/>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rtlCol="0"/>
          <a:lstStyle>
            <a:lvl1pPr algn="l" indent="0" marL="0">
              <a:buNone/>
              <a:defRPr lang="en-US" sz="3400" b="1" dirty="0">
                <a:solidFill>
                  <a:schemeClr val="bg1"/>
                </a:solidFill>
                <a:latin typeface="+mj-lt" pitchFamily="34" charset="0"/>
                <a:ea typeface="+mj-lt" pitchFamily="34" charset="-122"/>
                <a:cs typeface="+mj-lt" pitchFamily="34" charset="-120"/>
              </a:defRPr>
            </a:lvl1pPr>
          </a:lstStyle>
          <a:p>
            <a:pPr algn="l" indent="0" marL="0">
              <a:buNone/>
            </a:pPr>
            <a:endParaRPr lang="en-US" sz="3400" dirty="0"/>
          </a:p>
        </p:txBody>
      </p:sp>
      <p:sp>
        <p:nvSpPr>
          <p:cNvPr id="4" name="Text 0"/>
          <p:cNvSpPr/>
          <p:nvPr/>
        </p:nvSpPr>
        <p:spPr>
          <a:xfrm>
            <a:off x="548640" y="6446520"/>
            <a:ext cx="7315200" cy="256032"/>
          </a:xfrm>
          <a:prstGeom prst="rect">
            <a:avLst/>
          </a:prstGeom>
          <a:noFill/>
          <a:ln/>
        </p:spPr>
        <p:txBody>
          <a:bodyPr wrap="square" lIns="0" tIns="0" rIns="0" bIns="0" rtlCol="0" anchor="ctr"/>
          <a:lstStyle/>
          <a:p>
            <a:pPr indent="0" marL="0">
              <a:buNone/>
            </a:pPr>
            <a:r>
              <a:rPr lang="en-US" sz="900" dirty="0">
                <a:solidFill>
                  <a:schemeClr val="accent6"/>
                </a:solidFill>
              </a:rPr>
              <a:t>Implications of Advanced Statistics in Business and Research</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visual (simulated data)" descr="Illustrative graphic built from simulated data: raw observations, a fitted trend with its uncertainty band, a widening forecast interval, and the predictive distribution used for a decision.">    </p:cNvPr>
          <p:cNvPicPr>
            <a:picLocks noChangeAspect="1"/>
          </p:cNvPicPr>
          <p:nvPr/>
        </p:nvPicPr>
        <p:blipFill>
          <a:blip r:embed="rId1"/>
          <a:stretch>
            <a:fillRect/>
          </a:stretch>
        </p:blipFill>
        <p:spPr>
          <a:xfrm>
            <a:off x="6659575" y="0"/>
            <a:ext cx="5532120" cy="6858000"/>
          </a:xfrm>
          <a:prstGeom prst="rect">
            <a:avLst/>
          </a:prstGeom>
        </p:spPr>
      </p:pic>
      <p:sp>
        <p:nvSpPr>
          <p:cNvPr id="3" name="Hero label: Data"/>
          <p:cNvSpPr txBox="1"/>
          <p:nvPr/>
        </p:nvSpPr>
        <p:spPr>
          <a:xfrm>
            <a:off x="6869887"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Data</a:t>
            </a:r>
            <a:endParaRPr lang="en-US" sz="1000" dirty="0"/>
          </a:p>
        </p:txBody>
      </p:sp>
      <p:sp>
        <p:nvSpPr>
          <p:cNvPr id="4" name="Hero label: Model + uncertainty"/>
          <p:cNvSpPr txBox="1"/>
          <p:nvPr/>
        </p:nvSpPr>
        <p:spPr>
          <a:xfrm>
            <a:off x="8716975" y="6382512"/>
            <a:ext cx="1371600" cy="237744"/>
          </a:xfrm>
          <a:prstGeom prst="rect">
            <a:avLst/>
          </a:prstGeom>
          <a:noFill/>
          <a:ln/>
        </p:spPr>
        <p:txBody>
          <a:bodyPr wrap="square" lIns="0" tIns="0" rIns="0" bIns="0" rtlCol="0" anchor="t"/>
          <a:lstStyle/>
          <a:p>
            <a:pPr algn="ctr" indent="0" marL="0">
              <a:buNone/>
            </a:pPr>
            <a:r>
              <a:rPr lang="en-US" sz="1000" dirty="0">
                <a:solidFill>
                  <a:schemeClr val="accent6"/>
                </a:solidFill>
              </a:rPr>
              <a:t>Model + uncertainty</a:t>
            </a:r>
            <a:endParaRPr lang="en-US" sz="1000" dirty="0"/>
          </a:p>
        </p:txBody>
      </p:sp>
      <p:sp>
        <p:nvSpPr>
          <p:cNvPr id="5" name="Hero label: Forecast → decision"/>
          <p:cNvSpPr txBox="1"/>
          <p:nvPr/>
        </p:nvSpPr>
        <p:spPr>
          <a:xfrm>
            <a:off x="10042855" y="6382512"/>
            <a:ext cx="1371600" cy="237744"/>
          </a:xfrm>
          <a:prstGeom prst="rect">
            <a:avLst/>
          </a:prstGeom>
          <a:noFill/>
          <a:ln/>
        </p:spPr>
        <p:txBody>
          <a:bodyPr wrap="square" lIns="0" tIns="0" rIns="0" bIns="0" rtlCol="0" anchor="t"/>
          <a:lstStyle/>
          <a:p>
            <a:pPr algn="r" indent="0" marL="0">
              <a:buNone/>
            </a:pPr>
            <a:r>
              <a:rPr lang="en-US" sz="1000" dirty="0">
                <a:solidFill>
                  <a:schemeClr val="accent6"/>
                </a:solidFill>
              </a:rPr>
              <a:t>Forecast → decision</a:t>
            </a:r>
            <a:endParaRPr lang="en-US" sz="1000" dirty="0"/>
          </a:p>
        </p:txBody>
      </p:sp>
      <p:sp>
        <p:nvSpPr>
          <p:cNvPr id="6" name="Hero caption"/>
          <p:cNvSpPr txBox="1"/>
          <p:nvPr/>
        </p:nvSpPr>
        <p:spPr>
          <a:xfrm>
            <a:off x="9966960" y="228600"/>
            <a:ext cx="2011680" cy="219456"/>
          </a:xfrm>
          <a:prstGeom prst="rect">
            <a:avLst/>
          </a:prstGeom>
          <a:noFill/>
          <a:ln/>
        </p:spPr>
        <p:txBody>
          <a:bodyPr wrap="square" lIns="0" tIns="0" rIns="0" bIns="0" rtlCol="0" anchor="t"/>
          <a:lstStyle/>
          <a:p>
            <a:pPr algn="r" indent="0" marL="0">
              <a:buNone/>
            </a:pPr>
            <a:r>
              <a:rPr lang="en-US" sz="900" i="1" dirty="0">
                <a:solidFill>
                  <a:schemeClr val="accent5"/>
                </a:solidFill>
              </a:rPr>
              <a:t>Illustrative visual · simulated data</a:t>
            </a:r>
            <a:endParaRPr lang="en-US" sz="900" dirty="0"/>
          </a:p>
        </p:txBody>
      </p:sp>
      <p:sp>
        <p:nvSpPr>
          <p:cNvPr id="7" name="Kicker"/>
          <p:cNvSpPr txBox="1"/>
          <p:nvPr/>
        </p:nvSpPr>
        <p:spPr>
          <a:xfrm>
            <a:off x="548640" y="502920"/>
            <a:ext cx="576072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ADVANCED STATISTICS IN PRACTICE</a:t>
            </a:r>
            <a:endParaRPr lang="en-US" sz="1200" dirty="0"/>
          </a:p>
        </p:txBody>
      </p:sp>
      <p:sp>
        <p:nvSpPr>
          <p:cNvPr id="8" name="Text 0"/>
          <p:cNvSpPr/>
          <p:nvPr>
            <p:ph idx="100" type="title" hasCustomPrompt="1"/>
          </p:nvPr>
        </p:nvSpPr>
        <p:spPr>
          <a:xfrm>
            <a:off x="548640" y="896112"/>
            <a:ext cx="5760720" cy="1691640"/>
          </a:xfrm>
          <a:prstGeom prst="rect">
            <a:avLst/>
          </a:prstGeom>
          <a:noFill/>
          <a:ln/>
        </p:spPr>
        <p:txBody>
          <a:bodyPr wrap="square" lIns="0" tIns="0" rIns="0" bIns="0" rtlCol="0" anchor="t"/>
          <a:lstStyle/>
          <a:p>
            <a:pPr algn="l" indent="0" marL="0">
              <a:buNone/>
            </a:pPr>
            <a:r>
              <a:rPr lang="en-US" sz="3600" b="1" dirty="0">
                <a:solidFill>
                  <a:schemeClr val="bg1"/>
                </a:solidFill>
                <a:latin typeface="+mj-lt" pitchFamily="34" charset="0"/>
                <a:ea typeface="+mj-lt" pitchFamily="34" charset="-122"/>
                <a:cs typeface="+mj-lt" pitchFamily="34" charset="-120"/>
              </a:rPr>
              <a:t>Implications of Advanced Statistics in Business and Research</a:t>
            </a:r>
            <a:endParaRPr lang="en-US" sz="3600" dirty="0"/>
          </a:p>
        </p:txBody>
      </p:sp>
      <p:sp>
        <p:nvSpPr>
          <p:cNvPr id="9" name="Subtitle"/>
          <p:cNvSpPr txBox="1"/>
          <p:nvPr/>
        </p:nvSpPr>
        <p:spPr>
          <a:xfrm>
            <a:off x="548640" y="2670048"/>
            <a:ext cx="5852160" cy="384048"/>
          </a:xfrm>
          <a:prstGeom prst="rect">
            <a:avLst/>
          </a:prstGeom>
          <a:noFill/>
          <a:ln/>
        </p:spPr>
        <p:txBody>
          <a:bodyPr wrap="square" lIns="0" tIns="0" rIns="0" bIns="0" rtlCol="0" anchor="t"/>
          <a:lstStyle/>
          <a:p>
            <a:pPr indent="0" marL="0">
              <a:buNone/>
            </a:pPr>
            <a:r>
              <a:rPr lang="en-US" sz="1900" i="1" dirty="0">
                <a:solidFill>
                  <a:schemeClr val="accent6"/>
                </a:solidFill>
              </a:rPr>
              <a:t>Turning data into evidence, decisions, and discovery</a:t>
            </a:r>
            <a:endParaRPr lang="en-US" sz="1900" dirty="0"/>
          </a:p>
        </p:txBody>
      </p:sp>
      <p:sp>
        <p:nvSpPr>
          <p:cNvPr id="10" name="Team name"/>
          <p:cNvSpPr txBox="1"/>
          <p:nvPr/>
        </p:nvSpPr>
        <p:spPr>
          <a:xfrm>
            <a:off x="548640" y="3346704"/>
            <a:ext cx="5760720" cy="256032"/>
          </a:xfrm>
          <a:prstGeom prst="rect">
            <a:avLst/>
          </a:prstGeom>
          <a:noFill/>
          <a:ln/>
        </p:spPr>
        <p:txBody>
          <a:bodyPr wrap="square" lIns="0" tIns="0" rIns="0" bIns="0" rtlCol="0" anchor="t"/>
          <a:lstStyle/>
          <a:p>
            <a:pPr indent="0" marL="0">
              <a:buNone/>
            </a:pPr>
            <a:r>
              <a:rPr lang="en-US" sz="1150" b="1" spc="200" kern="0" dirty="0">
                <a:solidFill>
                  <a:schemeClr val="accent2"/>
                </a:solidFill>
              </a:rPr>
              <a:t>PRESENTED BY  </a:t>
            </a:r>
            <a:pPr indent="0" marL="0">
              <a:buNone/>
            </a:pPr>
            <a:r>
              <a:rPr lang="en-US" sz="1150" b="1" dirty="0">
                <a:solidFill>
                  <a:schemeClr val="bg1"/>
                </a:solidFill>
              </a:rPr>
              <a:t>[Team Name]</a:t>
            </a:r>
            <a:endParaRPr lang="en-US" sz="1150" dirty="0"/>
          </a:p>
        </p:txBody>
      </p:sp>
      <p:graphicFrame>
        <p:nvGraphicFramePr>
          <p:cNvPr id="2" name="Team members table"/>
          <p:cNvGraphicFramePr>
            <a:graphicFrameLocks noGrp="1"/>
          </p:cNvGraphicFramePr>
          <p:nvPr>
            <p:extLst>
              <p:ext uri="{D42A27DB-BD31-4B8C-83A1-F6EECF244321}">
                <p14:modId xmlns:p14="http://schemas.microsoft.com/office/powerpoint/2010/main" val="1579011935"/>
              </p:ext>
            </p:extLst>
          </p:nvPr>
        </p:nvGraphicFramePr>
        <p:xfrm>
          <a:off x="548640" y="3639312"/>
          <a:ext cx="4937760" cy="914400"/>
        </p:xfrm>
        <a:graphic>
          <a:graphicData uri="http://schemas.openxmlformats.org/drawingml/2006/table">
            <a:tbl>
              <a:tblPr/>
              <a:tblGrid>
                <a:gridCol w="3017520"/>
                <a:gridCol w="1920240"/>
              </a:tblGrid>
              <a:tr h="246888">
                <a:tc>
                  <a:txBody>
                    <a:bodyPr/>
                    <a:lstStyle/>
                    <a:p>
                      <a:pPr indent="0" marL="0">
                        <a:buNone/>
                      </a:pPr>
                      <a:r>
                        <a:rPr lang="en-US" sz="1300" dirty="0">
                          <a:solidFill>
                            <a:schemeClr val="bg1"/>
                          </a:solidFill>
                        </a:rPr>
                        <a:t>[Member 1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2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3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4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r h="246888">
                <a:tc>
                  <a:txBody>
                    <a:bodyPr/>
                    <a:lstStyle/>
                    <a:p>
                      <a:pPr indent="0" marL="0">
                        <a:buNone/>
                      </a:pPr>
                      <a:r>
                        <a:rPr lang="en-US" sz="1300" dirty="0">
                          <a:solidFill>
                            <a:schemeClr val="bg1"/>
                          </a:solidFill>
                        </a:rPr>
                        <a:t>[Member 5 Full Name]</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dirty="0">
                          <a:solidFill>
                            <a:schemeClr val="accent6"/>
                          </a:solidFill>
                        </a:rPr>
                        <a:t>[Student ID]</a:t>
                      </a:r>
                      <a:endParaRPr lang="en-US" sz="1300" dirty="0"/>
                    </a:p>
                  </a:txBody>
                  <a:tcPr marL="0" marR="0" marT="0" marB="0" anchor="ctr">
                    <a:lnL w="0" cap="flat" cmpd="sng" algn="ctr">
                      <a:noFill/>
                    </a:lnL>
                    <a:lnR w="0" cap="flat" cmpd="sng" algn="ctr">
                      <a:noFill/>
                    </a:lnR>
                    <a:lnT w="0" cap="flat" cmpd="sng" algn="ctr">
                      <a:noFill/>
                    </a:lnT>
                    <a:lnB w="0" cap="flat" cmpd="sng" algn="ctr">
                      <a:noFill/>
                    </a:lnB>
                    <a:solidFill>
                      <a:schemeClr val="tx2"/>
                    </a:solidFill>
                  </a:tcPr>
                </a:tc>
              </a:tr>
            </a:tbl>
          </a:graphicData>
        </a:graphic>
      </p:graphicFrame>
      <p:sp>
        <p:nvSpPr>
          <p:cNvPr id="12" name="Course title and code"/>
          <p:cNvSpPr txBox="1"/>
          <p:nvPr/>
        </p:nvSpPr>
        <p:spPr>
          <a:xfrm>
            <a:off x="548640" y="502920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COURSE</a:t>
            </a:r>
            <a:endParaRPr lang="en-US" sz="1400" dirty="0"/>
          </a:p>
          <a:p>
            <a:pPr indent="0" marL="0">
              <a:buNone/>
            </a:pPr>
            <a:r>
              <a:rPr lang="en-US" sz="1250" dirty="0">
                <a:solidFill>
                  <a:schemeClr val="bg1"/>
                </a:solidFill>
              </a:rPr>
              <a:t>[Course Title] ([Course Code])</a:t>
            </a:r>
            <a:endParaRPr lang="en-US" sz="1400" dirty="0"/>
          </a:p>
        </p:txBody>
      </p:sp>
      <p:sp>
        <p:nvSpPr>
          <p:cNvPr id="13" name="Instructor"/>
          <p:cNvSpPr txBox="1"/>
          <p:nvPr/>
        </p:nvSpPr>
        <p:spPr>
          <a:xfrm>
            <a:off x="3703320" y="502920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INSTRUCTOR</a:t>
            </a:r>
            <a:endParaRPr lang="en-US" sz="1400" dirty="0"/>
          </a:p>
          <a:p>
            <a:pPr indent="0" marL="0">
              <a:buNone/>
            </a:pPr>
            <a:r>
              <a:rPr lang="en-US" sz="1250" dirty="0">
                <a:solidFill>
                  <a:schemeClr val="bg1"/>
                </a:solidFill>
              </a:rPr>
              <a:t>[Instructor Name], [Designation]</a:t>
            </a:r>
            <a:endParaRPr lang="en-US" sz="1400" dirty="0"/>
          </a:p>
        </p:txBody>
      </p:sp>
      <p:sp>
        <p:nvSpPr>
          <p:cNvPr id="14" name="Department"/>
          <p:cNvSpPr txBox="1"/>
          <p:nvPr/>
        </p:nvSpPr>
        <p:spPr>
          <a:xfrm>
            <a:off x="548640" y="553212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DEPARTMENT</a:t>
            </a:r>
            <a:endParaRPr lang="en-US" sz="1400" dirty="0"/>
          </a:p>
          <a:p>
            <a:pPr indent="0" marL="0">
              <a:buNone/>
            </a:pPr>
            <a:r>
              <a:rPr lang="en-US" sz="1250" dirty="0">
                <a:solidFill>
                  <a:schemeClr val="bg1"/>
                </a:solidFill>
              </a:rPr>
              <a:t>[Department]</a:t>
            </a:r>
            <a:endParaRPr lang="en-US" sz="1400" dirty="0"/>
          </a:p>
        </p:txBody>
      </p:sp>
      <p:sp>
        <p:nvSpPr>
          <p:cNvPr id="15" name="University"/>
          <p:cNvSpPr txBox="1"/>
          <p:nvPr/>
        </p:nvSpPr>
        <p:spPr>
          <a:xfrm>
            <a:off x="3703320" y="5532120"/>
            <a:ext cx="274320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UNIVERSITY</a:t>
            </a:r>
            <a:endParaRPr lang="en-US" sz="1400" dirty="0"/>
          </a:p>
          <a:p>
            <a:pPr indent="0" marL="0">
              <a:buNone/>
            </a:pPr>
            <a:r>
              <a:rPr lang="en-US" sz="1250" dirty="0">
                <a:solidFill>
                  <a:schemeClr val="bg1"/>
                </a:solidFill>
              </a:rPr>
              <a:t>[University Name]</a:t>
            </a:r>
            <a:endParaRPr lang="en-US" sz="1400" dirty="0"/>
          </a:p>
        </p:txBody>
      </p:sp>
      <p:sp>
        <p:nvSpPr>
          <p:cNvPr id="16" name="Presentation date"/>
          <p:cNvSpPr txBox="1"/>
          <p:nvPr/>
        </p:nvSpPr>
        <p:spPr>
          <a:xfrm>
            <a:off x="548640" y="6035040"/>
            <a:ext cx="3017520" cy="420624"/>
          </a:xfrm>
          <a:prstGeom prst="rect">
            <a:avLst/>
          </a:prstGeom>
          <a:noFill/>
          <a:ln/>
        </p:spPr>
        <p:txBody>
          <a:bodyPr wrap="square" lIns="0" tIns="0" rIns="0" bIns="0" rtlCol="0" anchor="t"/>
          <a:lstStyle/>
          <a:p>
            <a:pPr indent="0" marL="0">
              <a:buNone/>
            </a:pPr>
            <a:r>
              <a:rPr lang="en-US" sz="950" b="1" spc="200" kern="0" dirty="0">
                <a:solidFill>
                  <a:schemeClr val="accent2"/>
                </a:solidFill>
              </a:rPr>
              <a:t>DATE</a:t>
            </a:r>
            <a:endParaRPr lang="en-US" sz="1400" dirty="0"/>
          </a:p>
          <a:p>
            <a:pPr indent="0" marL="0">
              <a:buNone/>
            </a:pPr>
            <a:r>
              <a:rPr lang="en-US" sz="1250" dirty="0">
                <a:solidFill>
                  <a:schemeClr val="bg1"/>
                </a:solidFill>
              </a:rPr>
              <a:t>[Presentation Date]</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02 · WHY ADVANCED STATISTICS MATTERS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Statistics turns data into evidence you can act on</a:t>
            </a:r>
            <a:endParaRPr lang="en-US" sz="3400" dirty="0"/>
          </a:p>
        </p:txBody>
      </p:sp>
      <p:sp>
        <p:nvSpPr>
          <p:cNvPr id="4" name="Stage 1 card"/>
          <p:cNvSpPr/>
          <p:nvPr/>
        </p:nvSpPr>
        <p:spPr>
          <a:xfrm>
            <a:off x="548640" y="1572768"/>
            <a:ext cx="2057400" cy="1901952"/>
          </a:xfrm>
          <a:prstGeom prst="roundRect">
            <a:avLst>
              <a:gd name="adj" fmla="val 3846"/>
            </a:avLst>
          </a:prstGeom>
          <a:solidFill>
            <a:schemeClr val="bg2"/>
          </a:solidFill>
          <a:ln/>
        </p:spPr>
      </p:sp>
      <p:sp>
        <p:nvSpPr>
          <p:cNvPr id="5" name="Stage 1 tag"/>
          <p:cNvSpPr txBox="1"/>
          <p:nvPr/>
        </p:nvSpPr>
        <p:spPr>
          <a:xfrm>
            <a:off x="685800" y="1719072"/>
            <a:ext cx="1783080" cy="219456"/>
          </a:xfrm>
          <a:prstGeom prst="rect">
            <a:avLst/>
          </a:prstGeom>
          <a:noFill/>
          <a:ln/>
        </p:spPr>
        <p:txBody>
          <a:bodyPr wrap="square" lIns="0" tIns="0" rIns="0" bIns="0" rtlCol="0" anchor="t"/>
          <a:lstStyle/>
          <a:p>
            <a:pPr indent="0" marL="0">
              <a:buNone/>
            </a:pPr>
            <a:r>
              <a:rPr lang="en-US" sz="1000" b="1" spc="100" kern="0" dirty="0">
                <a:solidFill>
                  <a:schemeClr val="accent5"/>
                </a:solidFill>
              </a:rPr>
              <a:t>RAW DATA</a:t>
            </a:r>
            <a:endParaRPr lang="en-US" sz="1000" dirty="0"/>
          </a:p>
        </p:txBody>
      </p:sp>
      <p:sp>
        <p:nvSpPr>
          <p:cNvPr id="6" name="Stage 1 question"/>
          <p:cNvSpPr txBox="1"/>
          <p:nvPr/>
        </p:nvSpPr>
        <p:spPr>
          <a:xfrm>
            <a:off x="685800" y="1975104"/>
            <a:ext cx="1783080" cy="54864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What was recorded?</a:t>
            </a:r>
            <a:endParaRPr lang="en-US" sz="1500" dirty="0"/>
          </a:p>
        </p:txBody>
      </p:sp>
      <p:sp>
        <p:nvSpPr>
          <p:cNvPr id="7" name="Stage 1 description"/>
          <p:cNvSpPr txBox="1"/>
          <p:nvPr/>
        </p:nvSpPr>
        <p:spPr>
          <a:xfrm>
            <a:off x="685800" y="2578608"/>
            <a:ext cx="1783080" cy="822960"/>
          </a:xfrm>
          <a:prstGeom prst="rect">
            <a:avLst/>
          </a:prstGeom>
          <a:noFill/>
          <a:ln/>
        </p:spPr>
        <p:txBody>
          <a:bodyPr wrap="square" lIns="0" tIns="0" rIns="0" bIns="0" rtlCol="0" anchor="t"/>
          <a:lstStyle/>
          <a:p>
            <a:pPr indent="0" marL="0">
              <a:buNone/>
            </a:pPr>
            <a:r>
              <a:rPr lang="en-US" sz="1200" dirty="0">
                <a:solidFill>
                  <a:schemeClr val="tx1"/>
                </a:solidFill>
              </a:rPr>
              <a:t>Transactions, sensors, surveys and trial records — noisy and incomplete.</a:t>
            </a:r>
            <a:endParaRPr lang="en-US" sz="1200" dirty="0"/>
          </a:p>
        </p:txBody>
      </p:sp>
      <p:sp>
        <p:nvSpPr>
          <p:cNvPr id="8" name="Stage 2 card"/>
          <p:cNvSpPr/>
          <p:nvPr/>
        </p:nvSpPr>
        <p:spPr>
          <a:xfrm>
            <a:off x="2807208" y="1572768"/>
            <a:ext cx="2057400" cy="1901952"/>
          </a:xfrm>
          <a:prstGeom prst="roundRect">
            <a:avLst>
              <a:gd name="adj" fmla="val 3846"/>
            </a:avLst>
          </a:prstGeom>
          <a:solidFill>
            <a:schemeClr val="bg2"/>
          </a:solidFill>
          <a:ln/>
        </p:spPr>
      </p:sp>
      <p:sp>
        <p:nvSpPr>
          <p:cNvPr id="9" name="Stage 2 tag"/>
          <p:cNvSpPr txBox="1"/>
          <p:nvPr/>
        </p:nvSpPr>
        <p:spPr>
          <a:xfrm>
            <a:off x="2944368" y="1719072"/>
            <a:ext cx="1783080" cy="219456"/>
          </a:xfrm>
          <a:prstGeom prst="rect">
            <a:avLst/>
          </a:prstGeom>
          <a:noFill/>
          <a:ln/>
        </p:spPr>
        <p:txBody>
          <a:bodyPr wrap="square" lIns="0" tIns="0" rIns="0" bIns="0" rtlCol="0" anchor="t"/>
          <a:lstStyle/>
          <a:p>
            <a:pPr indent="0" marL="0">
              <a:buNone/>
            </a:pPr>
            <a:r>
              <a:rPr lang="en-US" sz="1000" b="1" spc="100" kern="0" dirty="0">
                <a:solidFill>
                  <a:schemeClr val="accent3"/>
                </a:solidFill>
              </a:rPr>
              <a:t>DESCRIPTION · BI</a:t>
            </a:r>
            <a:endParaRPr lang="en-US" sz="1000" dirty="0"/>
          </a:p>
        </p:txBody>
      </p:sp>
      <p:sp>
        <p:nvSpPr>
          <p:cNvPr id="10" name="Stage 2 question"/>
          <p:cNvSpPr txBox="1"/>
          <p:nvPr/>
        </p:nvSpPr>
        <p:spPr>
          <a:xfrm>
            <a:off x="2944368" y="1975104"/>
            <a:ext cx="1783080" cy="54864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What happened?</a:t>
            </a:r>
            <a:endParaRPr lang="en-US" sz="1500" dirty="0"/>
          </a:p>
        </p:txBody>
      </p:sp>
      <p:sp>
        <p:nvSpPr>
          <p:cNvPr id="11" name="Stage 2 description"/>
          <p:cNvSpPr txBox="1"/>
          <p:nvPr/>
        </p:nvSpPr>
        <p:spPr>
          <a:xfrm>
            <a:off x="2944368" y="2578608"/>
            <a:ext cx="1783080" cy="822960"/>
          </a:xfrm>
          <a:prstGeom prst="rect">
            <a:avLst/>
          </a:prstGeom>
          <a:noFill/>
          <a:ln/>
        </p:spPr>
        <p:txBody>
          <a:bodyPr wrap="square" lIns="0" tIns="0" rIns="0" bIns="0" rtlCol="0" anchor="t"/>
          <a:lstStyle/>
          <a:p>
            <a:pPr indent="0" marL="0">
              <a:buNone/>
            </a:pPr>
            <a:r>
              <a:rPr lang="en-US" sz="1200" dirty="0">
                <a:solidFill>
                  <a:schemeClr val="tx1"/>
                </a:solidFill>
              </a:rPr>
              <a:t>Dashboards and averages summarize the past but cannot separate signal from noise.</a:t>
            </a:r>
            <a:endParaRPr lang="en-US" sz="1200" dirty="0"/>
          </a:p>
        </p:txBody>
      </p:sp>
      <p:sp>
        <p:nvSpPr>
          <p:cNvPr id="12" name="Arrow into stage 2"/>
          <p:cNvSpPr/>
          <p:nvPr/>
        </p:nvSpPr>
        <p:spPr>
          <a:xfrm>
            <a:off x="2647188" y="2404872"/>
            <a:ext cx="118872" cy="237744"/>
          </a:xfrm>
          <a:prstGeom prst="chevron">
            <a:avLst/>
          </a:prstGeom>
          <a:solidFill>
            <a:schemeClr val="accent5"/>
          </a:solidFill>
          <a:ln/>
        </p:spPr>
      </p:sp>
      <p:sp>
        <p:nvSpPr>
          <p:cNvPr id="13" name="Stage 3 card"/>
          <p:cNvSpPr/>
          <p:nvPr/>
        </p:nvSpPr>
        <p:spPr>
          <a:xfrm>
            <a:off x="5065776" y="1572768"/>
            <a:ext cx="2057400" cy="1901952"/>
          </a:xfrm>
          <a:prstGeom prst="roundRect">
            <a:avLst>
              <a:gd name="adj" fmla="val 3846"/>
            </a:avLst>
          </a:prstGeom>
          <a:solidFill>
            <a:schemeClr val="bg2"/>
          </a:solidFill>
          <a:ln/>
        </p:spPr>
      </p:sp>
      <p:sp>
        <p:nvSpPr>
          <p:cNvPr id="14" name="Stage 3 tag"/>
          <p:cNvSpPr txBox="1"/>
          <p:nvPr/>
        </p:nvSpPr>
        <p:spPr>
          <a:xfrm>
            <a:off x="5202936" y="1719072"/>
            <a:ext cx="1783080" cy="219456"/>
          </a:xfrm>
          <a:prstGeom prst="rect">
            <a:avLst/>
          </a:prstGeom>
          <a:noFill/>
          <a:ln/>
        </p:spPr>
        <p:txBody>
          <a:bodyPr wrap="square" lIns="0" tIns="0" rIns="0" bIns="0" rtlCol="0" anchor="t"/>
          <a:lstStyle/>
          <a:p>
            <a:pPr indent="0" marL="0">
              <a:buNone/>
            </a:pPr>
            <a:r>
              <a:rPr lang="en-US" sz="1000" b="1" spc="100" kern="0" dirty="0">
                <a:solidFill>
                  <a:schemeClr val="accent3"/>
                </a:solidFill>
              </a:rPr>
              <a:t>PREDICTIVE ANALYTICS</a:t>
            </a:r>
            <a:endParaRPr lang="en-US" sz="1000" dirty="0"/>
          </a:p>
        </p:txBody>
      </p:sp>
      <p:sp>
        <p:nvSpPr>
          <p:cNvPr id="15" name="Stage 3 question"/>
          <p:cNvSpPr txBox="1"/>
          <p:nvPr/>
        </p:nvSpPr>
        <p:spPr>
          <a:xfrm>
            <a:off x="5202936" y="1975104"/>
            <a:ext cx="1783080" cy="54864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What is likely next?</a:t>
            </a:r>
            <a:endParaRPr lang="en-US" sz="1500" dirty="0"/>
          </a:p>
        </p:txBody>
      </p:sp>
      <p:sp>
        <p:nvSpPr>
          <p:cNvPr id="16" name="Stage 3 description"/>
          <p:cNvSpPr txBox="1"/>
          <p:nvPr/>
        </p:nvSpPr>
        <p:spPr>
          <a:xfrm>
            <a:off x="5202936" y="2578608"/>
            <a:ext cx="1783080" cy="822960"/>
          </a:xfrm>
          <a:prstGeom prst="rect">
            <a:avLst/>
          </a:prstGeom>
          <a:noFill/>
          <a:ln/>
        </p:spPr>
        <p:txBody>
          <a:bodyPr wrap="square" lIns="0" tIns="0" rIns="0" bIns="0" rtlCol="0" anchor="t"/>
          <a:lstStyle/>
          <a:p>
            <a:pPr indent="0" marL="0">
              <a:buNone/>
            </a:pPr>
            <a:r>
              <a:rPr lang="en-US" sz="1200" dirty="0">
                <a:solidFill>
                  <a:schemeClr val="tx1"/>
                </a:solidFill>
              </a:rPr>
              <a:t>Models learn patterns to forecast outcomes and score the risk of new cases.</a:t>
            </a:r>
            <a:endParaRPr lang="en-US" sz="1200" dirty="0"/>
          </a:p>
        </p:txBody>
      </p:sp>
      <p:sp>
        <p:nvSpPr>
          <p:cNvPr id="17" name="Arrow into stage 3"/>
          <p:cNvSpPr/>
          <p:nvPr/>
        </p:nvSpPr>
        <p:spPr>
          <a:xfrm>
            <a:off x="4905756" y="2404872"/>
            <a:ext cx="118872" cy="237744"/>
          </a:xfrm>
          <a:prstGeom prst="chevron">
            <a:avLst/>
          </a:prstGeom>
          <a:solidFill>
            <a:schemeClr val="accent5"/>
          </a:solidFill>
          <a:ln/>
        </p:spPr>
      </p:sp>
      <p:sp>
        <p:nvSpPr>
          <p:cNvPr id="18" name="Stage 4 card"/>
          <p:cNvSpPr/>
          <p:nvPr/>
        </p:nvSpPr>
        <p:spPr>
          <a:xfrm>
            <a:off x="7324344" y="1572768"/>
            <a:ext cx="2057400" cy="1901952"/>
          </a:xfrm>
          <a:prstGeom prst="roundRect">
            <a:avLst>
              <a:gd name="adj" fmla="val 3846"/>
            </a:avLst>
          </a:prstGeom>
          <a:solidFill>
            <a:schemeClr val="bg2"/>
          </a:solidFill>
          <a:ln/>
        </p:spPr>
      </p:sp>
      <p:sp>
        <p:nvSpPr>
          <p:cNvPr id="19" name="Stage 4 tag"/>
          <p:cNvSpPr txBox="1"/>
          <p:nvPr/>
        </p:nvSpPr>
        <p:spPr>
          <a:xfrm>
            <a:off x="7461504" y="1719072"/>
            <a:ext cx="1783080"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STATISTICAL INFERENCE</a:t>
            </a:r>
            <a:endParaRPr lang="en-US" sz="1000" dirty="0"/>
          </a:p>
        </p:txBody>
      </p:sp>
      <p:sp>
        <p:nvSpPr>
          <p:cNvPr id="20" name="Stage 4 question"/>
          <p:cNvSpPr txBox="1"/>
          <p:nvPr/>
        </p:nvSpPr>
        <p:spPr>
          <a:xfrm>
            <a:off x="7461504" y="1975104"/>
            <a:ext cx="1783080" cy="548640"/>
          </a:xfrm>
          <a:prstGeom prst="rect">
            <a:avLst/>
          </a:prstGeom>
          <a:noFill/>
          <a:ln/>
        </p:spPr>
        <p:txBody>
          <a:bodyPr wrap="square" lIns="0" tIns="0" rIns="0" bIns="0" rtlCol="0" anchor="t"/>
          <a:lstStyle/>
          <a:p>
            <a:pPr indent="0" marL="0">
              <a:buNone/>
            </a:pPr>
            <a:r>
              <a:rPr lang="en-US" sz="1500" b="1" dirty="0">
                <a:solidFill>
                  <a:schemeClr val="tx2"/>
                </a:solidFill>
                <a:latin typeface="+mj-lt" pitchFamily="34" charset="0"/>
                <a:ea typeface="+mj-lt" pitchFamily="34" charset="-122"/>
                <a:cs typeface="+mj-lt" pitchFamily="34" charset="-120"/>
              </a:rPr>
              <a:t>Is it real, why, and how sure are we?</a:t>
            </a:r>
            <a:endParaRPr lang="en-US" sz="1500" dirty="0"/>
          </a:p>
        </p:txBody>
      </p:sp>
      <p:sp>
        <p:nvSpPr>
          <p:cNvPr id="21" name="Stage 4 description"/>
          <p:cNvSpPr txBox="1"/>
          <p:nvPr/>
        </p:nvSpPr>
        <p:spPr>
          <a:xfrm>
            <a:off x="7461504" y="2578608"/>
            <a:ext cx="1783080" cy="822960"/>
          </a:xfrm>
          <a:prstGeom prst="rect">
            <a:avLst/>
          </a:prstGeom>
          <a:noFill/>
          <a:ln/>
        </p:spPr>
        <p:txBody>
          <a:bodyPr wrap="square" lIns="0" tIns="0" rIns="0" bIns="0" rtlCol="0" anchor="t"/>
          <a:lstStyle/>
          <a:p>
            <a:pPr indent="0" marL="0">
              <a:buNone/>
            </a:pPr>
            <a:r>
              <a:rPr lang="en-US" sz="1200" dirty="0">
                <a:solidFill>
                  <a:schemeClr val="tx1"/>
                </a:solidFill>
              </a:rPr>
              <a:t>Tests, intervals and causal designs weigh competing explanations.</a:t>
            </a:r>
            <a:endParaRPr lang="en-US" sz="1200" dirty="0"/>
          </a:p>
        </p:txBody>
      </p:sp>
      <p:sp>
        <p:nvSpPr>
          <p:cNvPr id="22" name="Arrow into stage 4"/>
          <p:cNvSpPr/>
          <p:nvPr/>
        </p:nvSpPr>
        <p:spPr>
          <a:xfrm>
            <a:off x="7164324" y="2404872"/>
            <a:ext cx="118872" cy="237744"/>
          </a:xfrm>
          <a:prstGeom prst="chevron">
            <a:avLst/>
          </a:prstGeom>
          <a:solidFill>
            <a:schemeClr val="accent5"/>
          </a:solidFill>
          <a:ln/>
        </p:spPr>
      </p:sp>
      <p:sp>
        <p:nvSpPr>
          <p:cNvPr id="23" name="Stage 5 card"/>
          <p:cNvSpPr/>
          <p:nvPr/>
        </p:nvSpPr>
        <p:spPr>
          <a:xfrm>
            <a:off x="9582912" y="1572768"/>
            <a:ext cx="2057400" cy="1901952"/>
          </a:xfrm>
          <a:prstGeom prst="roundRect">
            <a:avLst>
              <a:gd name="adj" fmla="val 3846"/>
            </a:avLst>
          </a:prstGeom>
          <a:solidFill>
            <a:schemeClr val="tx2"/>
          </a:solidFill>
          <a:ln/>
        </p:spPr>
      </p:sp>
      <p:sp>
        <p:nvSpPr>
          <p:cNvPr id="24" name="Stage 5 tag"/>
          <p:cNvSpPr txBox="1"/>
          <p:nvPr/>
        </p:nvSpPr>
        <p:spPr>
          <a:xfrm>
            <a:off x="9720072" y="1719072"/>
            <a:ext cx="1783080"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EVIDENCE-BASED DECISION</a:t>
            </a:r>
            <a:endParaRPr lang="en-US" sz="1000" dirty="0"/>
          </a:p>
        </p:txBody>
      </p:sp>
      <p:sp>
        <p:nvSpPr>
          <p:cNvPr id="25" name="Stage 5 question"/>
          <p:cNvSpPr txBox="1"/>
          <p:nvPr/>
        </p:nvSpPr>
        <p:spPr>
          <a:xfrm>
            <a:off x="9720072" y="1975104"/>
            <a:ext cx="1783080" cy="548640"/>
          </a:xfrm>
          <a:prstGeom prst="rect">
            <a:avLst/>
          </a:prstGeom>
          <a:noFill/>
          <a:ln/>
        </p:spPr>
        <p:txBody>
          <a:bodyPr wrap="square" lIns="0" tIns="0" rIns="0" bIns="0" rtlCol="0" anchor="t"/>
          <a:lstStyle/>
          <a:p>
            <a:pPr indent="0" marL="0">
              <a:buNone/>
            </a:pPr>
            <a:r>
              <a:rPr lang="en-US" sz="1500" b="1" dirty="0">
                <a:solidFill>
                  <a:schemeClr val="bg1"/>
                </a:solidFill>
                <a:latin typeface="+mj-lt" pitchFamily="34" charset="0"/>
                <a:ea typeface="+mj-lt" pitchFamily="34" charset="-122"/>
                <a:cs typeface="+mj-lt" pitchFamily="34" charset="-120"/>
              </a:rPr>
              <a:t>What should we do?</a:t>
            </a:r>
            <a:endParaRPr lang="en-US" sz="1500" dirty="0"/>
          </a:p>
        </p:txBody>
      </p:sp>
      <p:sp>
        <p:nvSpPr>
          <p:cNvPr id="26" name="Stage 5 description"/>
          <p:cNvSpPr txBox="1"/>
          <p:nvPr/>
        </p:nvSpPr>
        <p:spPr>
          <a:xfrm>
            <a:off x="9720072" y="2578608"/>
            <a:ext cx="1783080" cy="822960"/>
          </a:xfrm>
          <a:prstGeom prst="rect">
            <a:avLst/>
          </a:prstGeom>
          <a:noFill/>
          <a:ln/>
        </p:spPr>
        <p:txBody>
          <a:bodyPr wrap="square" lIns="0" tIns="0" rIns="0" bIns="0" rtlCol="0" anchor="t"/>
          <a:lstStyle/>
          <a:p>
            <a:pPr indent="0" marL="0">
              <a:buNone/>
            </a:pPr>
            <a:r>
              <a:rPr lang="en-US" sz="1200" dirty="0">
                <a:solidFill>
                  <a:schemeClr val="accent6"/>
                </a:solidFill>
              </a:rPr>
              <a:t>Act with the expected benefit and its uncertainty made explicit.</a:t>
            </a:r>
            <a:endParaRPr lang="en-US" sz="1200" dirty="0"/>
          </a:p>
        </p:txBody>
      </p:sp>
      <p:sp>
        <p:nvSpPr>
          <p:cNvPr id="27" name="Arrow into stage 5"/>
          <p:cNvSpPr/>
          <p:nvPr/>
        </p:nvSpPr>
        <p:spPr>
          <a:xfrm>
            <a:off x="9422892" y="2404872"/>
            <a:ext cx="118872" cy="237744"/>
          </a:xfrm>
          <a:prstGeom prst="chevron">
            <a:avLst/>
          </a:prstGeom>
          <a:solidFill>
            <a:schemeClr val="accent5"/>
          </a:solidFill>
          <a:ln/>
        </p:spPr>
      </p:sp>
      <p:sp>
        <p:nvSpPr>
          <p:cNvPr id="28" name="Limits heading"/>
          <p:cNvSpPr txBox="1"/>
          <p:nvPr/>
        </p:nvSpPr>
        <p:spPr>
          <a:xfrm>
            <a:off x="548640" y="3794760"/>
            <a:ext cx="7040880" cy="329184"/>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Why intuition and simple summaries fall short</a:t>
            </a:r>
            <a:endParaRPr lang="en-US" sz="1700" dirty="0"/>
          </a:p>
        </p:txBody>
      </p:sp>
      <p:sp>
        <p:nvSpPr>
          <p:cNvPr id="29" name="Limit 1 card"/>
          <p:cNvSpPr/>
          <p:nvPr/>
        </p:nvSpPr>
        <p:spPr>
          <a:xfrm>
            <a:off x="548640" y="4251960"/>
            <a:ext cx="2221992" cy="2011680"/>
          </a:xfrm>
          <a:prstGeom prst="roundRect">
            <a:avLst>
              <a:gd name="adj" fmla="val 3636"/>
            </a:avLst>
          </a:prstGeom>
          <a:solidFill>
            <a:schemeClr val="bg1"/>
          </a:solidFill>
          <a:ln w="15875">
            <a:solidFill>
              <a:schemeClr val="bg2"/>
            </a:solidFill>
            <a:prstDash val="solid"/>
          </a:ln>
          <a:effectLst>
            <a:outerShdw sx="100000" sy="100000" kx="0" ky="0" algn="bl" rotWithShape="0" blurRad="76200" dist="19050" dir="5400000">
              <a:srgbClr val="0B1F33">
                <a:alpha val="12000"/>
              </a:srgbClr>
            </a:outerShdw>
          </a:effectLst>
        </p:spPr>
      </p:sp>
      <p:sp>
        <p:nvSpPr>
          <p:cNvPr id="30" name="Limit 1 icon circle"/>
          <p:cNvSpPr/>
          <p:nvPr/>
        </p:nvSpPr>
        <p:spPr>
          <a:xfrm>
            <a:off x="713232" y="4434840"/>
            <a:ext cx="457200" cy="457200"/>
          </a:xfrm>
          <a:prstGeom prst="ellipse">
            <a:avLst/>
          </a:prstGeom>
          <a:solidFill>
            <a:schemeClr val="accent1"/>
          </a:solidFill>
          <a:ln/>
        </p:spPr>
      </p:sp>
      <p:pic>
        <p:nvPicPr>
          <p:cNvPr id="31" name="Limit 1 icon" descr="Averages hide structure">    </p:cNvPr>
          <p:cNvPicPr>
            <a:picLocks noChangeAspect="1"/>
          </p:cNvPicPr>
          <p:nvPr/>
        </p:nvPicPr>
        <p:blipFill>
          <a:blip r:embed="rId1"/>
          <a:stretch>
            <a:fillRect/>
          </a:stretch>
        </p:blipFill>
        <p:spPr>
          <a:xfrm>
            <a:off x="822960" y="4544568"/>
            <a:ext cx="237744" cy="237744"/>
          </a:xfrm>
          <a:prstGeom prst="rect">
            <a:avLst/>
          </a:prstGeom>
        </p:spPr>
      </p:pic>
      <p:sp>
        <p:nvSpPr>
          <p:cNvPr id="32" name="Limit 1 heading"/>
          <p:cNvSpPr txBox="1"/>
          <p:nvPr/>
        </p:nvSpPr>
        <p:spPr>
          <a:xfrm>
            <a:off x="713232" y="5001768"/>
            <a:ext cx="1892808" cy="274320"/>
          </a:xfrm>
          <a:prstGeom prst="rect">
            <a:avLst/>
          </a:prstGeom>
          <a:noFill/>
          <a:ln/>
        </p:spPr>
        <p:txBody>
          <a:bodyPr wrap="square" lIns="0" tIns="0" rIns="0" bIns="0" rtlCol="0" anchor="t"/>
          <a:lstStyle/>
          <a:p>
            <a:pPr indent="0" marL="0">
              <a:buNone/>
            </a:pPr>
            <a:r>
              <a:rPr lang="en-US" sz="1400" b="1" dirty="0">
                <a:solidFill>
                  <a:schemeClr val="tx2"/>
                </a:solidFill>
              </a:rPr>
              <a:t>Averages hide structure</a:t>
            </a:r>
            <a:endParaRPr lang="en-US" sz="1400" dirty="0"/>
          </a:p>
        </p:txBody>
      </p:sp>
      <p:sp>
        <p:nvSpPr>
          <p:cNvPr id="33" name="Limit 1 text"/>
          <p:cNvSpPr txBox="1"/>
          <p:nvPr/>
        </p:nvSpPr>
        <p:spPr>
          <a:xfrm>
            <a:off x="713232" y="5303520"/>
            <a:ext cx="1892808" cy="868680"/>
          </a:xfrm>
          <a:prstGeom prst="rect">
            <a:avLst/>
          </a:prstGeom>
          <a:noFill/>
          <a:ln/>
        </p:spPr>
        <p:txBody>
          <a:bodyPr wrap="square" lIns="0" tIns="0" rIns="0" bIns="0" rtlCol="0" anchor="t"/>
          <a:lstStyle/>
          <a:p>
            <a:pPr indent="0" marL="0">
              <a:buNone/>
            </a:pPr>
            <a:r>
              <a:rPr lang="en-US" sz="1200" dirty="0">
                <a:solidFill>
                  <a:schemeClr val="tx1"/>
                </a:solidFill>
              </a:rPr>
              <a:t>Combined data can show the opposite trend to every subgroup (Simpson’s paradox).</a:t>
            </a:r>
            <a:endParaRPr lang="en-US" sz="1200" dirty="0"/>
          </a:p>
        </p:txBody>
      </p:sp>
      <p:sp>
        <p:nvSpPr>
          <p:cNvPr id="34" name="Limit 2 card"/>
          <p:cNvSpPr/>
          <p:nvPr/>
        </p:nvSpPr>
        <p:spPr>
          <a:xfrm>
            <a:off x="2953512" y="4251960"/>
            <a:ext cx="2221992" cy="2011680"/>
          </a:xfrm>
          <a:prstGeom prst="roundRect">
            <a:avLst>
              <a:gd name="adj" fmla="val 3636"/>
            </a:avLst>
          </a:prstGeom>
          <a:solidFill>
            <a:schemeClr val="bg1"/>
          </a:solidFill>
          <a:ln w="15875">
            <a:solidFill>
              <a:schemeClr val="bg2"/>
            </a:solidFill>
            <a:prstDash val="solid"/>
          </a:ln>
          <a:effectLst>
            <a:outerShdw sx="100000" sy="100000" kx="0" ky="0" algn="bl" rotWithShape="0" blurRad="76200" dist="19050" dir="5400000">
              <a:srgbClr val="0B1F33">
                <a:alpha val="12000"/>
              </a:srgbClr>
            </a:outerShdw>
          </a:effectLst>
        </p:spPr>
      </p:sp>
      <p:sp>
        <p:nvSpPr>
          <p:cNvPr id="35" name="Limit 2 icon circle"/>
          <p:cNvSpPr/>
          <p:nvPr/>
        </p:nvSpPr>
        <p:spPr>
          <a:xfrm>
            <a:off x="3118104" y="4434840"/>
            <a:ext cx="457200" cy="457200"/>
          </a:xfrm>
          <a:prstGeom prst="ellipse">
            <a:avLst/>
          </a:prstGeom>
          <a:solidFill>
            <a:schemeClr val="accent1"/>
          </a:solidFill>
          <a:ln/>
        </p:spPr>
      </p:sp>
      <p:pic>
        <p:nvPicPr>
          <p:cNvPr id="36" name="Limit 2 icon" descr="Patterns can be noise">    </p:cNvPr>
          <p:cNvPicPr>
            <a:picLocks noChangeAspect="1"/>
          </p:cNvPicPr>
          <p:nvPr/>
        </p:nvPicPr>
        <p:blipFill>
          <a:blip r:embed="rId2"/>
          <a:stretch>
            <a:fillRect/>
          </a:stretch>
        </p:blipFill>
        <p:spPr>
          <a:xfrm>
            <a:off x="3227832" y="4544568"/>
            <a:ext cx="237744" cy="237744"/>
          </a:xfrm>
          <a:prstGeom prst="rect">
            <a:avLst/>
          </a:prstGeom>
        </p:spPr>
      </p:pic>
      <p:sp>
        <p:nvSpPr>
          <p:cNvPr id="37" name="Limit 2 heading"/>
          <p:cNvSpPr txBox="1"/>
          <p:nvPr/>
        </p:nvSpPr>
        <p:spPr>
          <a:xfrm>
            <a:off x="3118104" y="5001768"/>
            <a:ext cx="1892808" cy="274320"/>
          </a:xfrm>
          <a:prstGeom prst="rect">
            <a:avLst/>
          </a:prstGeom>
          <a:noFill/>
          <a:ln/>
        </p:spPr>
        <p:txBody>
          <a:bodyPr wrap="square" lIns="0" tIns="0" rIns="0" bIns="0" rtlCol="0" anchor="t"/>
          <a:lstStyle/>
          <a:p>
            <a:pPr indent="0" marL="0">
              <a:buNone/>
            </a:pPr>
            <a:r>
              <a:rPr lang="en-US" sz="1400" b="1" dirty="0">
                <a:solidFill>
                  <a:schemeClr val="tx2"/>
                </a:solidFill>
              </a:rPr>
              <a:t>Patterns can be noise</a:t>
            </a:r>
            <a:endParaRPr lang="en-US" sz="1400" dirty="0"/>
          </a:p>
        </p:txBody>
      </p:sp>
      <p:sp>
        <p:nvSpPr>
          <p:cNvPr id="38" name="Limit 2 text"/>
          <p:cNvSpPr txBox="1"/>
          <p:nvPr/>
        </p:nvSpPr>
        <p:spPr>
          <a:xfrm>
            <a:off x="3118104" y="5303520"/>
            <a:ext cx="1892808" cy="868680"/>
          </a:xfrm>
          <a:prstGeom prst="rect">
            <a:avLst/>
          </a:prstGeom>
          <a:noFill/>
          <a:ln/>
        </p:spPr>
        <p:txBody>
          <a:bodyPr wrap="square" lIns="0" tIns="0" rIns="0" bIns="0" rtlCol="0" anchor="t"/>
          <a:lstStyle/>
          <a:p>
            <a:pPr indent="0" marL="0">
              <a:buNone/>
            </a:pPr>
            <a:r>
              <a:rPr lang="en-US" sz="1200" dirty="0">
                <a:solidFill>
                  <a:schemeClr val="tx1"/>
                </a:solidFill>
              </a:rPr>
              <a:t>Without a measure of sampling variability, chance fluctuations look like real signals.</a:t>
            </a:r>
            <a:endParaRPr lang="en-US" sz="1200" dirty="0"/>
          </a:p>
        </p:txBody>
      </p:sp>
      <p:sp>
        <p:nvSpPr>
          <p:cNvPr id="39" name="Limit 3 card"/>
          <p:cNvSpPr/>
          <p:nvPr/>
        </p:nvSpPr>
        <p:spPr>
          <a:xfrm>
            <a:off x="5358384" y="4251960"/>
            <a:ext cx="2221992" cy="2011680"/>
          </a:xfrm>
          <a:prstGeom prst="roundRect">
            <a:avLst>
              <a:gd name="adj" fmla="val 3636"/>
            </a:avLst>
          </a:prstGeom>
          <a:solidFill>
            <a:schemeClr val="bg1"/>
          </a:solidFill>
          <a:ln w="15875">
            <a:solidFill>
              <a:schemeClr val="bg2"/>
            </a:solidFill>
            <a:prstDash val="solid"/>
          </a:ln>
          <a:effectLst>
            <a:outerShdw sx="100000" sy="100000" kx="0" ky="0" algn="bl" rotWithShape="0" blurRad="76200" dist="19050" dir="5400000">
              <a:srgbClr val="0B1F33">
                <a:alpha val="12000"/>
              </a:srgbClr>
            </a:outerShdw>
          </a:effectLst>
        </p:spPr>
      </p:sp>
      <p:sp>
        <p:nvSpPr>
          <p:cNvPr id="40" name="Limit 3 icon circle"/>
          <p:cNvSpPr/>
          <p:nvPr/>
        </p:nvSpPr>
        <p:spPr>
          <a:xfrm>
            <a:off x="5522976" y="4434840"/>
            <a:ext cx="457200" cy="457200"/>
          </a:xfrm>
          <a:prstGeom prst="ellipse">
            <a:avLst/>
          </a:prstGeom>
          <a:solidFill>
            <a:schemeClr val="accent1"/>
          </a:solidFill>
          <a:ln/>
        </p:spPr>
      </p:sp>
      <p:pic>
        <p:nvPicPr>
          <p:cNvPr id="41" name="Limit 3 icon" descr="Correlation ≠ causation">    </p:cNvPr>
          <p:cNvPicPr>
            <a:picLocks noChangeAspect="1"/>
          </p:cNvPicPr>
          <p:nvPr/>
        </p:nvPicPr>
        <p:blipFill>
          <a:blip r:embed="rId3"/>
          <a:stretch>
            <a:fillRect/>
          </a:stretch>
        </p:blipFill>
        <p:spPr>
          <a:xfrm>
            <a:off x="5632704" y="4544568"/>
            <a:ext cx="237744" cy="237744"/>
          </a:xfrm>
          <a:prstGeom prst="rect">
            <a:avLst/>
          </a:prstGeom>
        </p:spPr>
      </p:pic>
      <p:sp>
        <p:nvSpPr>
          <p:cNvPr id="42" name="Limit 3 heading"/>
          <p:cNvSpPr txBox="1"/>
          <p:nvPr/>
        </p:nvSpPr>
        <p:spPr>
          <a:xfrm>
            <a:off x="5522976" y="5001768"/>
            <a:ext cx="1892808" cy="274320"/>
          </a:xfrm>
          <a:prstGeom prst="rect">
            <a:avLst/>
          </a:prstGeom>
          <a:noFill/>
          <a:ln/>
        </p:spPr>
        <p:txBody>
          <a:bodyPr wrap="square" lIns="0" tIns="0" rIns="0" bIns="0" rtlCol="0" anchor="t"/>
          <a:lstStyle/>
          <a:p>
            <a:pPr indent="0" marL="0">
              <a:buNone/>
            </a:pPr>
            <a:r>
              <a:rPr lang="en-US" sz="1400" b="1" dirty="0">
                <a:solidFill>
                  <a:schemeClr val="tx2"/>
                </a:solidFill>
              </a:rPr>
              <a:t>Correlation ≠ causation</a:t>
            </a:r>
            <a:endParaRPr lang="en-US" sz="1400" dirty="0"/>
          </a:p>
        </p:txBody>
      </p:sp>
      <p:sp>
        <p:nvSpPr>
          <p:cNvPr id="43" name="Limit 3 text"/>
          <p:cNvSpPr txBox="1"/>
          <p:nvPr/>
        </p:nvSpPr>
        <p:spPr>
          <a:xfrm>
            <a:off x="5522976" y="5303520"/>
            <a:ext cx="1892808" cy="868680"/>
          </a:xfrm>
          <a:prstGeom prst="rect">
            <a:avLst/>
          </a:prstGeom>
          <a:noFill/>
          <a:ln/>
        </p:spPr>
        <p:txBody>
          <a:bodyPr wrap="square" lIns="0" tIns="0" rIns="0" bIns="0" rtlCol="0" anchor="t"/>
          <a:lstStyle/>
          <a:p>
            <a:pPr indent="0" marL="0">
              <a:buNone/>
            </a:pPr>
            <a:r>
              <a:rPr lang="en-US" sz="1200" dirty="0">
                <a:solidFill>
                  <a:schemeClr val="tx1"/>
                </a:solidFill>
              </a:rPr>
              <a:t>A hidden confounder can drive both variables; only design or explicit causal assumptions resolve it.</a:t>
            </a:r>
            <a:endParaRPr lang="en-US" sz="1200" dirty="0"/>
          </a:p>
        </p:txBody>
      </p:sp>
      <p:sp>
        <p:nvSpPr>
          <p:cNvPr id="44" name="Evidence panel"/>
          <p:cNvSpPr/>
          <p:nvPr/>
        </p:nvSpPr>
        <p:spPr>
          <a:xfrm>
            <a:off x="7946136" y="3794760"/>
            <a:ext cx="3696919" cy="2468880"/>
          </a:xfrm>
          <a:prstGeom prst="roundRect">
            <a:avLst>
              <a:gd name="adj" fmla="val 2963"/>
            </a:avLst>
          </a:prstGeom>
          <a:solidFill>
            <a:schemeClr val="tx2"/>
          </a:solidFill>
          <a:ln/>
        </p:spPr>
      </p:sp>
      <p:sp>
        <p:nvSpPr>
          <p:cNvPr id="45" name="Evidence tag"/>
          <p:cNvSpPr txBox="1"/>
          <p:nvPr/>
        </p:nvSpPr>
        <p:spPr>
          <a:xfrm>
            <a:off x="8174736" y="3977640"/>
            <a:ext cx="3239719"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EVIDENCE FROM BUSINESS RESEARCH</a:t>
            </a:r>
            <a:endParaRPr lang="en-US" sz="1000" dirty="0"/>
          </a:p>
        </p:txBody>
      </p:sp>
      <p:sp>
        <p:nvSpPr>
          <p:cNvPr id="46" name="Evidence statistic"/>
          <p:cNvSpPr txBox="1"/>
          <p:nvPr/>
        </p:nvSpPr>
        <p:spPr>
          <a:xfrm>
            <a:off x="8174736" y="4206240"/>
            <a:ext cx="3239719" cy="658368"/>
          </a:xfrm>
          <a:prstGeom prst="rect">
            <a:avLst/>
          </a:prstGeom>
          <a:noFill/>
          <a:ln/>
        </p:spPr>
        <p:txBody>
          <a:bodyPr wrap="square" lIns="0" tIns="0" rIns="0" bIns="0" rtlCol="0" anchor="ctr"/>
          <a:lstStyle/>
          <a:p>
            <a:pPr indent="0" marL="0">
              <a:buNone/>
            </a:pPr>
            <a:r>
              <a:rPr lang="en-US" sz="4400" b="1" dirty="0">
                <a:solidFill>
                  <a:schemeClr val="accent2"/>
                </a:solidFill>
                <a:latin typeface="+mj-lt" pitchFamily="34" charset="0"/>
                <a:ea typeface="+mj-lt" pitchFamily="34" charset="-122"/>
                <a:cs typeface="+mj-lt" pitchFamily="34" charset="-120"/>
              </a:rPr>
              <a:t>5–6%</a:t>
            </a:r>
            <a:endParaRPr lang="en-US" sz="4400" dirty="0"/>
          </a:p>
        </p:txBody>
      </p:sp>
      <p:sp>
        <p:nvSpPr>
          <p:cNvPr id="47" name="Evidence text"/>
          <p:cNvSpPr txBox="1"/>
          <p:nvPr/>
        </p:nvSpPr>
        <p:spPr>
          <a:xfrm>
            <a:off x="8174736" y="4892040"/>
            <a:ext cx="3239719" cy="841248"/>
          </a:xfrm>
          <a:prstGeom prst="rect">
            <a:avLst/>
          </a:prstGeom>
          <a:noFill/>
          <a:ln/>
        </p:spPr>
        <p:txBody>
          <a:bodyPr wrap="square" lIns="0" tIns="0" rIns="0" bIns="0" rtlCol="0" anchor="t"/>
          <a:lstStyle/>
          <a:p>
            <a:pPr indent="0" marL="0">
              <a:buNone/>
            </a:pPr>
            <a:r>
              <a:rPr lang="en-US" sz="1250" dirty="0">
                <a:solidFill>
                  <a:schemeClr val="bg1"/>
                </a:solidFill>
              </a:rPr>
              <a:t>higher output and productivity in firms that use data-driven decision-making than their other investments and IT use would predict (179 large publicly traded U.S. firms).</a:t>
            </a:r>
            <a:endParaRPr lang="en-US" sz="1250" dirty="0"/>
          </a:p>
        </p:txBody>
      </p:sp>
      <p:sp>
        <p:nvSpPr>
          <p:cNvPr id="48" name="Evidence source"/>
          <p:cNvSpPr txBox="1"/>
          <p:nvPr/>
        </p:nvSpPr>
        <p:spPr>
          <a:xfrm>
            <a:off x="8174736" y="5760720"/>
            <a:ext cx="3239719" cy="411480"/>
          </a:xfrm>
          <a:prstGeom prst="rect">
            <a:avLst/>
          </a:prstGeom>
          <a:noFill/>
          <a:ln/>
        </p:spPr>
        <p:txBody>
          <a:bodyPr wrap="square" lIns="0" tIns="0" rIns="0" bIns="0" rtlCol="0" anchor="t"/>
          <a:lstStyle/>
          <a:p>
            <a:pPr indent="0" marL="0">
              <a:buNone/>
            </a:pPr>
            <a:r>
              <a:rPr lang="en-US" sz="1000" dirty="0">
                <a:solidFill>
                  <a:schemeClr val="accent6"/>
                </a:solidFill>
              </a:rPr>
              <a:t>Brynjolfsson, Hitt &amp; Kim (2011). Observational study; instrumental variables used to address reverse causality.</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03 · KEY ADVANCED STATISTICAL METHODS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Different methods answer different questions</a:t>
            </a:r>
            <a:endParaRPr lang="en-US" sz="3400" dirty="0"/>
          </a:p>
        </p:txBody>
      </p:sp>
      <p:sp>
        <p:nvSpPr>
          <p:cNvPr id="4" name="Regression &amp; predictive modeling card"/>
          <p:cNvSpPr/>
          <p:nvPr/>
        </p:nvSpPr>
        <p:spPr>
          <a:xfrm>
            <a:off x="548640" y="1536192"/>
            <a:ext cx="3576218" cy="2103120"/>
          </a:xfrm>
          <a:prstGeom prst="roundRect">
            <a:avLst>
              <a:gd name="adj" fmla="val 3478"/>
            </a:avLst>
          </a:prstGeom>
          <a:solidFill>
            <a:schemeClr val="bg2"/>
          </a:solidFill>
          <a:ln/>
        </p:spPr>
      </p:sp>
      <p:pic>
        <p:nvPicPr>
          <p:cNvPr id="5" name="Regression &amp; predictive modeling diagram" descr="Diagram: Regression &amp; predictive modeling">    </p:cNvPr>
          <p:cNvPicPr>
            <a:picLocks noChangeAspect="1"/>
          </p:cNvPicPr>
          <p:nvPr/>
        </p:nvPicPr>
        <p:blipFill>
          <a:blip r:embed="rId1"/>
          <a:stretch>
            <a:fillRect/>
          </a:stretch>
        </p:blipFill>
        <p:spPr>
          <a:xfrm>
            <a:off x="676656" y="1645920"/>
            <a:ext cx="658368" cy="658368"/>
          </a:xfrm>
          <a:prstGeom prst="rect">
            <a:avLst/>
          </a:prstGeom>
        </p:spPr>
      </p:pic>
      <p:sp>
        <p:nvSpPr>
          <p:cNvPr id="6" name="Regression &amp;amp; predictive modeling title"/>
          <p:cNvSpPr txBox="1"/>
          <p:nvPr/>
        </p:nvSpPr>
        <p:spPr>
          <a:xfrm>
            <a:off x="1463040" y="1645920"/>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Regression &amp; predictive modeling</a:t>
            </a:r>
            <a:endParaRPr lang="en-US" sz="1500" dirty="0"/>
          </a:p>
        </p:txBody>
      </p:sp>
      <p:sp>
        <p:nvSpPr>
          <p:cNvPr id="7" name="Regression &amp; predictive modeling summary"/>
          <p:cNvSpPr txBox="1"/>
          <p:nvPr/>
        </p:nvSpPr>
        <p:spPr>
          <a:xfrm>
            <a:off x="685800" y="2377440"/>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How does an outcome move with its drivers, and what will it be for a new case?</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Price elasticity and sales drivers; wage and dose–response studies.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Coefficients show association unless the design supports causation.</a:t>
            </a:r>
            <a:endParaRPr lang="en-US" sz="1200" dirty="0"/>
          </a:p>
        </p:txBody>
      </p:sp>
      <p:sp>
        <p:nvSpPr>
          <p:cNvPr id="8" name="Hypothesis tests &amp; confidence intervals card"/>
          <p:cNvSpPr/>
          <p:nvPr/>
        </p:nvSpPr>
        <p:spPr>
          <a:xfrm>
            <a:off x="4289450" y="1536192"/>
            <a:ext cx="3576218" cy="2103120"/>
          </a:xfrm>
          <a:prstGeom prst="roundRect">
            <a:avLst>
              <a:gd name="adj" fmla="val 3478"/>
            </a:avLst>
          </a:prstGeom>
          <a:solidFill>
            <a:schemeClr val="bg2"/>
          </a:solidFill>
          <a:ln/>
        </p:spPr>
      </p:sp>
      <p:pic>
        <p:nvPicPr>
          <p:cNvPr id="9" name="Hypothesis tests &amp; confidence intervals diagram" descr="Diagram: Hypothesis tests &amp; confidence intervals">    </p:cNvPr>
          <p:cNvPicPr>
            <a:picLocks noChangeAspect="1"/>
          </p:cNvPicPr>
          <p:nvPr/>
        </p:nvPicPr>
        <p:blipFill>
          <a:blip r:embed="rId2"/>
          <a:stretch>
            <a:fillRect/>
          </a:stretch>
        </p:blipFill>
        <p:spPr>
          <a:xfrm>
            <a:off x="4417466" y="1645920"/>
            <a:ext cx="658368" cy="658368"/>
          </a:xfrm>
          <a:prstGeom prst="rect">
            <a:avLst/>
          </a:prstGeom>
        </p:spPr>
      </p:pic>
      <p:sp>
        <p:nvSpPr>
          <p:cNvPr id="10" name="Hypothesis tests &amp;amp; confidence intervals title"/>
          <p:cNvSpPr txBox="1"/>
          <p:nvPr/>
        </p:nvSpPr>
        <p:spPr>
          <a:xfrm>
            <a:off x="5203850" y="1645920"/>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Hypothesis tests &amp; confidence intervals</a:t>
            </a:r>
            <a:endParaRPr lang="en-US" sz="1500" dirty="0"/>
          </a:p>
        </p:txBody>
      </p:sp>
      <p:sp>
        <p:nvSpPr>
          <p:cNvPr id="11" name="Hypothesis tests &amp; confidence intervals summary"/>
          <p:cNvSpPr txBox="1"/>
          <p:nvPr/>
        </p:nvSpPr>
        <p:spPr>
          <a:xfrm>
            <a:off x="4426610" y="2377440"/>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Is a difference bigger than sampling noise, and how large could it plausibly be?</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Comparing campaigns or treatments; quality-control checks.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p &lt; 0.05 does not prove an important effect — report effect sizes.</a:t>
            </a:r>
            <a:endParaRPr lang="en-US" sz="1200" dirty="0"/>
          </a:p>
        </p:txBody>
      </p:sp>
      <p:sp>
        <p:nvSpPr>
          <p:cNvPr id="12" name="Bayesian inference card"/>
          <p:cNvSpPr/>
          <p:nvPr/>
        </p:nvSpPr>
        <p:spPr>
          <a:xfrm>
            <a:off x="8030261" y="1536192"/>
            <a:ext cx="3576218" cy="2103120"/>
          </a:xfrm>
          <a:prstGeom prst="roundRect">
            <a:avLst>
              <a:gd name="adj" fmla="val 3478"/>
            </a:avLst>
          </a:prstGeom>
          <a:solidFill>
            <a:schemeClr val="bg2"/>
          </a:solidFill>
          <a:ln/>
        </p:spPr>
      </p:sp>
      <p:pic>
        <p:nvPicPr>
          <p:cNvPr id="13" name="Bayesian inference diagram" descr="Diagram: Bayesian inference">    </p:cNvPr>
          <p:cNvPicPr>
            <a:picLocks noChangeAspect="1"/>
          </p:cNvPicPr>
          <p:nvPr/>
        </p:nvPicPr>
        <p:blipFill>
          <a:blip r:embed="rId3"/>
          <a:stretch>
            <a:fillRect/>
          </a:stretch>
        </p:blipFill>
        <p:spPr>
          <a:xfrm>
            <a:off x="8158277" y="1645920"/>
            <a:ext cx="658368" cy="658368"/>
          </a:xfrm>
          <a:prstGeom prst="rect">
            <a:avLst/>
          </a:prstGeom>
        </p:spPr>
      </p:pic>
      <p:sp>
        <p:nvSpPr>
          <p:cNvPr id="14" name="Bayesian inference title"/>
          <p:cNvSpPr txBox="1"/>
          <p:nvPr/>
        </p:nvSpPr>
        <p:spPr>
          <a:xfrm>
            <a:off x="8944661" y="1645920"/>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Bayesian inference</a:t>
            </a:r>
            <a:endParaRPr lang="en-US" sz="1500" dirty="0"/>
          </a:p>
        </p:txBody>
      </p:sp>
      <p:sp>
        <p:nvSpPr>
          <p:cNvPr id="15" name="Bayesian inference summary"/>
          <p:cNvSpPr txBox="1"/>
          <p:nvPr/>
        </p:nvSpPr>
        <p:spPr>
          <a:xfrm>
            <a:off x="8167421" y="2377440"/>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Given prior knowledge and new data, how probable is each explanation?</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Updating risk estimates; adaptive clinical trials; small-sample tests.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Conclusions depend on the prior — state it and test its influence.</a:t>
            </a:r>
            <a:endParaRPr lang="en-US" sz="1200" dirty="0"/>
          </a:p>
        </p:txBody>
      </p:sp>
      <p:sp>
        <p:nvSpPr>
          <p:cNvPr id="16" name="Time-series forecasting card"/>
          <p:cNvSpPr/>
          <p:nvPr/>
        </p:nvSpPr>
        <p:spPr>
          <a:xfrm>
            <a:off x="548640" y="3803904"/>
            <a:ext cx="3576218" cy="2103120"/>
          </a:xfrm>
          <a:prstGeom prst="roundRect">
            <a:avLst>
              <a:gd name="adj" fmla="val 3478"/>
            </a:avLst>
          </a:prstGeom>
          <a:solidFill>
            <a:schemeClr val="bg2"/>
          </a:solidFill>
          <a:ln/>
        </p:spPr>
      </p:sp>
      <p:pic>
        <p:nvPicPr>
          <p:cNvPr id="17" name="Time-series forecasting diagram" descr="Diagram: Time-series forecasting">    </p:cNvPr>
          <p:cNvPicPr>
            <a:picLocks noChangeAspect="1"/>
          </p:cNvPicPr>
          <p:nvPr/>
        </p:nvPicPr>
        <p:blipFill>
          <a:blip r:embed="rId4"/>
          <a:stretch>
            <a:fillRect/>
          </a:stretch>
        </p:blipFill>
        <p:spPr>
          <a:xfrm>
            <a:off x="676656" y="3913632"/>
            <a:ext cx="658368" cy="658368"/>
          </a:xfrm>
          <a:prstGeom prst="rect">
            <a:avLst/>
          </a:prstGeom>
        </p:spPr>
      </p:pic>
      <p:sp>
        <p:nvSpPr>
          <p:cNvPr id="18" name="Time-series forecasting title"/>
          <p:cNvSpPr txBox="1"/>
          <p:nvPr/>
        </p:nvSpPr>
        <p:spPr>
          <a:xfrm>
            <a:off x="1463040" y="3913632"/>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Time-series forecasting</a:t>
            </a:r>
            <a:endParaRPr lang="en-US" sz="1500" dirty="0"/>
          </a:p>
        </p:txBody>
      </p:sp>
      <p:sp>
        <p:nvSpPr>
          <p:cNvPr id="19" name="Time-series forecasting summary"/>
          <p:cNvSpPr txBox="1"/>
          <p:nvPr/>
        </p:nvSpPr>
        <p:spPr>
          <a:xfrm>
            <a:off x="685800" y="4645152"/>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What comes next, given trend, seasonality and autocorrelation?</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Demand, inventory and cash-flow planning; economic and disease series.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Structural breaks can ruin forecasts; always show prediction intervals.</a:t>
            </a:r>
            <a:endParaRPr lang="en-US" sz="1200" dirty="0"/>
          </a:p>
        </p:txBody>
      </p:sp>
      <p:sp>
        <p:nvSpPr>
          <p:cNvPr id="20" name="Experimental design &amp; causal inference card"/>
          <p:cNvSpPr/>
          <p:nvPr/>
        </p:nvSpPr>
        <p:spPr>
          <a:xfrm>
            <a:off x="4289450" y="3803904"/>
            <a:ext cx="3576218" cy="2103120"/>
          </a:xfrm>
          <a:prstGeom prst="roundRect">
            <a:avLst>
              <a:gd name="adj" fmla="val 3478"/>
            </a:avLst>
          </a:prstGeom>
          <a:solidFill>
            <a:schemeClr val="bg2"/>
          </a:solidFill>
          <a:ln/>
        </p:spPr>
      </p:sp>
      <p:pic>
        <p:nvPicPr>
          <p:cNvPr id="21" name="Experimental design &amp; causal inference diagram" descr="Diagram: Experimental design &amp; causal inference">    </p:cNvPr>
          <p:cNvPicPr>
            <a:picLocks noChangeAspect="1"/>
          </p:cNvPicPr>
          <p:nvPr/>
        </p:nvPicPr>
        <p:blipFill>
          <a:blip r:embed="rId5"/>
          <a:stretch>
            <a:fillRect/>
          </a:stretch>
        </p:blipFill>
        <p:spPr>
          <a:xfrm>
            <a:off x="4417466" y="3913632"/>
            <a:ext cx="658368" cy="658368"/>
          </a:xfrm>
          <a:prstGeom prst="rect">
            <a:avLst/>
          </a:prstGeom>
        </p:spPr>
      </p:pic>
      <p:sp>
        <p:nvSpPr>
          <p:cNvPr id="22" name="Experimental design &amp;amp; causal inference title"/>
          <p:cNvSpPr txBox="1"/>
          <p:nvPr/>
        </p:nvSpPr>
        <p:spPr>
          <a:xfrm>
            <a:off x="5203850" y="3913632"/>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Experimental design &amp; causal inference</a:t>
            </a:r>
            <a:endParaRPr lang="en-US" sz="1500" dirty="0"/>
          </a:p>
        </p:txBody>
      </p:sp>
      <p:sp>
        <p:nvSpPr>
          <p:cNvPr id="23" name="Experimental design &amp; causal inference summary"/>
          <p:cNvSpPr txBox="1"/>
          <p:nvPr/>
        </p:nvSpPr>
        <p:spPr>
          <a:xfrm>
            <a:off x="4426610" y="4645152"/>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What happens if we intervene, rather than merely observe?</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A/B tests and pricing trials; randomized controlled trials; difference-in-differences.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Needs randomization or strong, explicitly stated assumptions.</a:t>
            </a:r>
            <a:endParaRPr lang="en-US" sz="1200" dirty="0"/>
          </a:p>
        </p:txBody>
      </p:sp>
      <p:sp>
        <p:nvSpPr>
          <p:cNvPr id="24" name="Multivariate analysis &amp; clustering card"/>
          <p:cNvSpPr/>
          <p:nvPr/>
        </p:nvSpPr>
        <p:spPr>
          <a:xfrm>
            <a:off x="8030261" y="3803904"/>
            <a:ext cx="3576218" cy="2103120"/>
          </a:xfrm>
          <a:prstGeom prst="roundRect">
            <a:avLst>
              <a:gd name="adj" fmla="val 3478"/>
            </a:avLst>
          </a:prstGeom>
          <a:solidFill>
            <a:schemeClr val="bg2"/>
          </a:solidFill>
          <a:ln/>
        </p:spPr>
      </p:sp>
      <p:pic>
        <p:nvPicPr>
          <p:cNvPr id="25" name="Multivariate analysis &amp; clustering diagram" descr="Diagram: Multivariate analysis &amp; clustering">    </p:cNvPr>
          <p:cNvPicPr>
            <a:picLocks noChangeAspect="1"/>
          </p:cNvPicPr>
          <p:nvPr/>
        </p:nvPicPr>
        <p:blipFill>
          <a:blip r:embed="rId6"/>
          <a:stretch>
            <a:fillRect/>
          </a:stretch>
        </p:blipFill>
        <p:spPr>
          <a:xfrm>
            <a:off x="8158277" y="3913632"/>
            <a:ext cx="658368" cy="658368"/>
          </a:xfrm>
          <a:prstGeom prst="rect">
            <a:avLst/>
          </a:prstGeom>
        </p:spPr>
      </p:pic>
      <p:sp>
        <p:nvSpPr>
          <p:cNvPr id="26" name="Multivariate analysis &amp;amp; clustering title"/>
          <p:cNvSpPr txBox="1"/>
          <p:nvPr/>
        </p:nvSpPr>
        <p:spPr>
          <a:xfrm>
            <a:off x="8944661" y="3913632"/>
            <a:ext cx="2524658" cy="658368"/>
          </a:xfrm>
          <a:prstGeom prst="rect">
            <a:avLst/>
          </a:prstGeom>
          <a:noFill/>
          <a:ln/>
        </p:spPr>
        <p:txBody>
          <a:bodyPr wrap="square" lIns="0" tIns="0" rIns="0" bIns="0" rtlCol="0" anchor="ctr"/>
          <a:lstStyle/>
          <a:p>
            <a:pPr indent="0" marL="0">
              <a:buNone/>
            </a:pPr>
            <a:r>
              <a:rPr lang="en-US" sz="1500" b="1" dirty="0">
                <a:solidFill>
                  <a:schemeClr val="tx2"/>
                </a:solidFill>
                <a:latin typeface="+mj-lt" pitchFamily="34" charset="0"/>
                <a:ea typeface="+mj-lt" pitchFamily="34" charset="-122"/>
                <a:cs typeface="+mj-lt" pitchFamily="34" charset="-120"/>
              </a:rPr>
              <a:t>Multivariate analysis &amp; clustering</a:t>
            </a:r>
            <a:endParaRPr lang="en-US" sz="1500" dirty="0"/>
          </a:p>
        </p:txBody>
      </p:sp>
      <p:sp>
        <p:nvSpPr>
          <p:cNvPr id="27" name="Multivariate analysis &amp; clustering summary"/>
          <p:cNvSpPr txBox="1"/>
          <p:nvPr/>
        </p:nvSpPr>
        <p:spPr>
          <a:xfrm>
            <a:off x="8167421" y="4645152"/>
            <a:ext cx="3301898" cy="1188720"/>
          </a:xfrm>
          <a:prstGeom prst="rect">
            <a:avLst/>
          </a:prstGeom>
          <a:noFill/>
          <a:ln/>
        </p:spPr>
        <p:txBody>
          <a:bodyPr wrap="square" lIns="0" tIns="0" rIns="0" bIns="0" rtlCol="0" anchor="t"/>
          <a:lstStyle/>
          <a:p>
            <a:pPr indent="0" marL="0">
              <a:spcAft>
                <a:spcPts val="300"/>
              </a:spcAft>
              <a:buNone/>
            </a:pPr>
            <a:r>
              <a:rPr lang="en-US" sz="1200" b="1" dirty="0">
                <a:solidFill>
                  <a:schemeClr val="accent1"/>
                </a:solidFill>
              </a:rPr>
              <a:t>Asks  </a:t>
            </a:r>
            <a:pPr indent="0" marL="0">
              <a:spcAft>
                <a:spcPts val="300"/>
              </a:spcAft>
              <a:buNone/>
            </a:pPr>
            <a:r>
              <a:rPr lang="en-US" sz="1200" dirty="0">
                <a:solidFill>
                  <a:schemeClr val="tx1"/>
                </a:solidFill>
              </a:rPr>
              <a:t>What structure exists across many variables at once?</a:t>
            </a:r>
            <a:endParaRPr lang="en-US" sz="1200" dirty="0"/>
          </a:p>
          <a:p>
            <a:pPr indent="0" marL="0">
              <a:spcAft>
                <a:spcPts val="300"/>
              </a:spcAft>
              <a:buNone/>
            </a:pPr>
            <a:r>
              <a:rPr lang="en-US" sz="1200" b="1" dirty="0">
                <a:solidFill>
                  <a:schemeClr val="accent3"/>
                </a:solidFill>
              </a:rPr>
              <a:t>Applied  </a:t>
            </a:r>
            <a:pPr indent="0" marL="0">
              <a:spcAft>
                <a:spcPts val="300"/>
              </a:spcAft>
              <a:buNone/>
            </a:pPr>
            <a:r>
              <a:rPr lang="en-US" sz="1200" dirty="0">
                <a:solidFill>
                  <a:schemeClr val="tx1"/>
                </a:solidFill>
              </a:rPr>
              <a:t>Customer segments; survey scales (PCA, factor analysis); gene groups.</a:t>
            </a:r>
            <a:endParaRPr lang="en-US" sz="1200" dirty="0"/>
          </a:p>
          <a:p>
            <a:pPr indent="0" marL="0">
              <a:spcAft>
                <a:spcPts val="300"/>
              </a:spcAft>
              <a:buNone/>
            </a:pPr>
            <a:r>
              <a:rPr lang="en-US" sz="1200" b="1" dirty="0">
                <a:solidFill>
                  <a:schemeClr val="accent4"/>
                </a:solidFill>
              </a:rPr>
              <a:t>Caveat  </a:t>
            </a:r>
            <a:pPr indent="0" marL="0">
              <a:spcAft>
                <a:spcPts val="300"/>
              </a:spcAft>
              <a:buNone/>
            </a:pPr>
            <a:r>
              <a:rPr lang="en-US" sz="1200" dirty="0">
                <a:solidFill>
                  <a:schemeClr val="tx1"/>
                </a:solidFill>
              </a:rPr>
              <a:t>Clusters are descriptive and shift with variable scaling and the chosen k.</a:t>
            </a:r>
            <a:endParaRPr lang="en-US" sz="1200" dirty="0"/>
          </a:p>
        </p:txBody>
      </p:sp>
      <p:sp>
        <p:nvSpPr>
          <p:cNvPr id="28" name="Method selection note"/>
          <p:cNvSpPr/>
          <p:nvPr/>
        </p:nvSpPr>
        <p:spPr>
          <a:xfrm>
            <a:off x="548640" y="5971032"/>
            <a:ext cx="11094415" cy="365760"/>
          </a:xfrm>
          <a:prstGeom prst="roundRect">
            <a:avLst>
              <a:gd name="adj" fmla="val 50000"/>
            </a:avLst>
          </a:prstGeom>
          <a:solidFill>
            <a:schemeClr val="tx2"/>
          </a:solidFill>
          <a:ln/>
        </p:spPr>
      </p:sp>
      <p:sp>
        <p:nvSpPr>
          <p:cNvPr id="29" name="Method selection text"/>
          <p:cNvSpPr txBox="1"/>
          <p:nvPr/>
        </p:nvSpPr>
        <p:spPr>
          <a:xfrm>
            <a:off x="822960" y="5971032"/>
            <a:ext cx="10545775" cy="365760"/>
          </a:xfrm>
          <a:prstGeom prst="rect">
            <a:avLst/>
          </a:prstGeom>
          <a:noFill/>
          <a:ln/>
        </p:spPr>
        <p:txBody>
          <a:bodyPr wrap="square" lIns="0" tIns="0" rIns="0" bIns="0" rtlCol="0" anchor="ctr"/>
          <a:lstStyle/>
          <a:p>
            <a:pPr algn="ctr" indent="0" marL="0">
              <a:buNone/>
            </a:pPr>
            <a:r>
              <a:rPr lang="en-US" sz="1250" b="1" dirty="0">
                <a:solidFill>
                  <a:schemeClr val="accent2"/>
                </a:solidFill>
              </a:rPr>
              <a:t>Choosing a method:  </a:t>
            </a:r>
            <a:pPr algn="ctr" indent="0" marL="0">
              <a:buNone/>
            </a:pPr>
            <a:r>
              <a:rPr lang="en-US" sz="1250" dirty="0">
                <a:solidFill>
                  <a:schemeClr val="bg1"/>
                </a:solidFill>
              </a:rPr>
              <a:t>research objective  →  data structure (scale, dependence, sample size)  →  assumptions  →  decision context</a:t>
            </a:r>
            <a:endParaRPr lang="en-US" sz="12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04 · IMPLICATIONS IN BUSINESS DECISION-MAKING</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Statistics changes how firms decide</a:t>
            </a:r>
            <a:endParaRPr lang="en-US" sz="3400" dirty="0"/>
          </a:p>
        </p:txBody>
      </p:sp>
      <p:sp>
        <p:nvSpPr>
          <p:cNvPr id="4" name="Case label"/>
          <p:cNvSpPr txBox="1"/>
          <p:nvPr/>
        </p:nvSpPr>
        <p:spPr>
          <a:xfrm>
            <a:off x="548640" y="1463040"/>
            <a:ext cx="11094415" cy="256032"/>
          </a:xfrm>
          <a:prstGeom prst="rect">
            <a:avLst/>
          </a:prstGeom>
          <a:noFill/>
          <a:ln/>
        </p:spPr>
        <p:txBody>
          <a:bodyPr wrap="square" lIns="0" tIns="0" rIns="0" bIns="0" rtlCol="0" anchor="t"/>
          <a:lstStyle/>
          <a:p>
            <a:pPr indent="0" marL="0">
              <a:buNone/>
            </a:pPr>
            <a:r>
              <a:rPr lang="en-US" sz="1250" b="1" spc="100" kern="0" dirty="0">
                <a:solidFill>
                  <a:schemeClr val="accent1"/>
                </a:solidFill>
              </a:rPr>
              <a:t>VERIFIED CASE  </a:t>
            </a:r>
            <a:pPr indent="0" marL="0">
              <a:buNone/>
            </a:pPr>
            <a:r>
              <a:rPr lang="en-US" sz="1250" dirty="0">
                <a:solidFill>
                  <a:schemeClr val="tx1"/>
                </a:solidFill>
              </a:rPr>
              <a:t>Bing search ads: one online controlled experiment, from question to outcome (Kohavi &amp; Thomke, 2017)</a:t>
            </a:r>
            <a:endParaRPr lang="en-US" sz="1250" dirty="0"/>
          </a:p>
        </p:txBody>
      </p:sp>
      <p:sp>
        <p:nvSpPr>
          <p:cNvPr id="5" name="Chain QUESTION card"/>
          <p:cNvSpPr/>
          <p:nvPr/>
        </p:nvSpPr>
        <p:spPr>
          <a:xfrm>
            <a:off x="548640" y="1792224"/>
            <a:ext cx="1727149" cy="1536192"/>
          </a:xfrm>
          <a:prstGeom prst="roundRect">
            <a:avLst>
              <a:gd name="adj" fmla="val 4762"/>
            </a:avLst>
          </a:prstGeom>
          <a:solidFill>
            <a:schemeClr val="bg2"/>
          </a:solidFill>
          <a:ln/>
        </p:spPr>
      </p:sp>
      <p:sp>
        <p:nvSpPr>
          <p:cNvPr id="6" name="Chain QUESTION tag"/>
          <p:cNvSpPr txBox="1"/>
          <p:nvPr/>
        </p:nvSpPr>
        <p:spPr>
          <a:xfrm>
            <a:off x="667512"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1 · QUESTION</a:t>
            </a:r>
            <a:endParaRPr lang="en-US" sz="1000" dirty="0"/>
          </a:p>
        </p:txBody>
      </p:sp>
      <p:sp>
        <p:nvSpPr>
          <p:cNvPr id="7" name="Chain QUESTION text"/>
          <p:cNvSpPr txBox="1"/>
          <p:nvPr/>
        </p:nvSpPr>
        <p:spPr>
          <a:xfrm>
            <a:off x="667512" y="2194560"/>
            <a:ext cx="1489405" cy="1033272"/>
          </a:xfrm>
          <a:prstGeom prst="rect">
            <a:avLst/>
          </a:prstGeom>
          <a:noFill/>
          <a:ln/>
        </p:spPr>
        <p:txBody>
          <a:bodyPr wrap="square" lIns="0" tIns="0" rIns="0" bIns="0" rtlCol="0" anchor="t"/>
          <a:lstStyle/>
          <a:p>
            <a:pPr indent="0" marL="0">
              <a:buNone/>
            </a:pPr>
            <a:r>
              <a:rPr lang="en-US" sz="1200" dirty="0">
                <a:solidFill>
                  <a:schemeClr val="tx1"/>
                </a:solidFill>
              </a:rPr>
              <a:t>Would longer ad titles raise revenue without hurting the user experience?</a:t>
            </a:r>
            <a:endParaRPr lang="en-US" sz="1200" dirty="0"/>
          </a:p>
        </p:txBody>
      </p:sp>
      <p:sp>
        <p:nvSpPr>
          <p:cNvPr id="8" name="Chain DATA card"/>
          <p:cNvSpPr/>
          <p:nvPr/>
        </p:nvSpPr>
        <p:spPr>
          <a:xfrm>
            <a:off x="2422093" y="1792224"/>
            <a:ext cx="1727149" cy="1536192"/>
          </a:xfrm>
          <a:prstGeom prst="roundRect">
            <a:avLst>
              <a:gd name="adj" fmla="val 4762"/>
            </a:avLst>
          </a:prstGeom>
          <a:solidFill>
            <a:schemeClr val="bg2"/>
          </a:solidFill>
          <a:ln/>
        </p:spPr>
      </p:sp>
      <p:sp>
        <p:nvSpPr>
          <p:cNvPr id="9" name="Chain DATA tag"/>
          <p:cNvSpPr txBox="1"/>
          <p:nvPr/>
        </p:nvSpPr>
        <p:spPr>
          <a:xfrm>
            <a:off x="2540965"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2 · DATA</a:t>
            </a:r>
            <a:endParaRPr lang="en-US" sz="1000" dirty="0"/>
          </a:p>
        </p:txBody>
      </p:sp>
      <p:sp>
        <p:nvSpPr>
          <p:cNvPr id="10" name="Chain DATA text"/>
          <p:cNvSpPr txBox="1"/>
          <p:nvPr/>
        </p:nvSpPr>
        <p:spPr>
          <a:xfrm>
            <a:off x="2540965" y="2194560"/>
            <a:ext cx="1489405" cy="1033272"/>
          </a:xfrm>
          <a:prstGeom prst="rect">
            <a:avLst/>
          </a:prstGeom>
          <a:noFill/>
          <a:ln/>
        </p:spPr>
        <p:txBody>
          <a:bodyPr wrap="square" lIns="0" tIns="0" rIns="0" bIns="0" rtlCol="0" anchor="t"/>
          <a:lstStyle/>
          <a:p>
            <a:pPr indent="0" marL="0">
              <a:buNone/>
            </a:pPr>
            <a:r>
              <a:rPr lang="en-US" sz="1200" dirty="0">
                <a:solidFill>
                  <a:schemeClr val="tx1"/>
                </a:solidFill>
              </a:rPr>
              <a:t>Users randomly assigned to the old or new ad layout; revenue and user-experience metrics logged.</a:t>
            </a:r>
            <a:endParaRPr lang="en-US" sz="1200" dirty="0"/>
          </a:p>
        </p:txBody>
      </p:sp>
      <p:sp>
        <p:nvSpPr>
          <p:cNvPr id="11" name="Chain arrow 2"/>
          <p:cNvSpPr/>
          <p:nvPr/>
        </p:nvSpPr>
        <p:spPr>
          <a:xfrm>
            <a:off x="2289505" y="2441448"/>
            <a:ext cx="118872" cy="237744"/>
          </a:xfrm>
          <a:prstGeom prst="chevron">
            <a:avLst/>
          </a:prstGeom>
          <a:solidFill>
            <a:schemeClr val="accent5"/>
          </a:solidFill>
          <a:ln/>
        </p:spPr>
      </p:sp>
      <p:sp>
        <p:nvSpPr>
          <p:cNvPr id="12" name="Chain METHOD card"/>
          <p:cNvSpPr/>
          <p:nvPr/>
        </p:nvSpPr>
        <p:spPr>
          <a:xfrm>
            <a:off x="4295546" y="1792224"/>
            <a:ext cx="1727149" cy="1536192"/>
          </a:xfrm>
          <a:prstGeom prst="roundRect">
            <a:avLst>
              <a:gd name="adj" fmla="val 4762"/>
            </a:avLst>
          </a:prstGeom>
          <a:solidFill>
            <a:schemeClr val="bg2"/>
          </a:solidFill>
          <a:ln/>
        </p:spPr>
      </p:sp>
      <p:sp>
        <p:nvSpPr>
          <p:cNvPr id="13" name="Chain METHOD tag"/>
          <p:cNvSpPr txBox="1"/>
          <p:nvPr/>
        </p:nvSpPr>
        <p:spPr>
          <a:xfrm>
            <a:off x="4414418"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3 · METHOD</a:t>
            </a:r>
            <a:endParaRPr lang="en-US" sz="1000" dirty="0"/>
          </a:p>
        </p:txBody>
      </p:sp>
      <p:sp>
        <p:nvSpPr>
          <p:cNvPr id="14" name="Chain METHOD text"/>
          <p:cNvSpPr txBox="1"/>
          <p:nvPr/>
        </p:nvSpPr>
        <p:spPr>
          <a:xfrm>
            <a:off x="4414418" y="2194560"/>
            <a:ext cx="1489405" cy="1033272"/>
          </a:xfrm>
          <a:prstGeom prst="rect">
            <a:avLst/>
          </a:prstGeom>
          <a:noFill/>
          <a:ln/>
        </p:spPr>
        <p:txBody>
          <a:bodyPr wrap="square" lIns="0" tIns="0" rIns="0" bIns="0" rtlCol="0" anchor="t"/>
          <a:lstStyle/>
          <a:p>
            <a:pPr indent="0" marL="0">
              <a:buNone/>
            </a:pPr>
            <a:r>
              <a:rPr lang="en-US" sz="1200" dirty="0">
                <a:solidFill>
                  <a:schemeClr val="tx1"/>
                </a:solidFill>
              </a:rPr>
              <a:t>Online controlled experiment (A/B test) with significance tests on each metric.</a:t>
            </a:r>
            <a:endParaRPr lang="en-US" sz="1200" dirty="0"/>
          </a:p>
        </p:txBody>
      </p:sp>
      <p:sp>
        <p:nvSpPr>
          <p:cNvPr id="15" name="Chain arrow 3"/>
          <p:cNvSpPr/>
          <p:nvPr/>
        </p:nvSpPr>
        <p:spPr>
          <a:xfrm>
            <a:off x="4162958" y="2441448"/>
            <a:ext cx="118872" cy="237744"/>
          </a:xfrm>
          <a:prstGeom prst="chevron">
            <a:avLst/>
          </a:prstGeom>
          <a:solidFill>
            <a:schemeClr val="accent5"/>
          </a:solidFill>
          <a:ln/>
        </p:spPr>
      </p:sp>
      <p:sp>
        <p:nvSpPr>
          <p:cNvPr id="16" name="Chain INSIGHT card"/>
          <p:cNvSpPr/>
          <p:nvPr/>
        </p:nvSpPr>
        <p:spPr>
          <a:xfrm>
            <a:off x="6169000" y="1792224"/>
            <a:ext cx="1727149" cy="1536192"/>
          </a:xfrm>
          <a:prstGeom prst="roundRect">
            <a:avLst>
              <a:gd name="adj" fmla="val 4762"/>
            </a:avLst>
          </a:prstGeom>
          <a:solidFill>
            <a:schemeClr val="bg2"/>
          </a:solidFill>
          <a:ln/>
        </p:spPr>
      </p:sp>
      <p:sp>
        <p:nvSpPr>
          <p:cNvPr id="17" name="Chain INSIGHT tag"/>
          <p:cNvSpPr txBox="1"/>
          <p:nvPr/>
        </p:nvSpPr>
        <p:spPr>
          <a:xfrm>
            <a:off x="6287872"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1"/>
                </a:solidFill>
              </a:rPr>
              <a:t>4 · INSIGHT</a:t>
            </a:r>
            <a:endParaRPr lang="en-US" sz="1000" dirty="0"/>
          </a:p>
        </p:txBody>
      </p:sp>
      <p:sp>
        <p:nvSpPr>
          <p:cNvPr id="18" name="Chain INSIGHT text"/>
          <p:cNvSpPr txBox="1"/>
          <p:nvPr/>
        </p:nvSpPr>
        <p:spPr>
          <a:xfrm>
            <a:off x="6287872" y="2194560"/>
            <a:ext cx="1489405" cy="1033272"/>
          </a:xfrm>
          <a:prstGeom prst="rect">
            <a:avLst/>
          </a:prstGeom>
          <a:noFill/>
          <a:ln/>
        </p:spPr>
        <p:txBody>
          <a:bodyPr wrap="square" lIns="0" tIns="0" rIns="0" bIns="0" rtlCol="0" anchor="t"/>
          <a:lstStyle/>
          <a:p>
            <a:pPr indent="0" marL="0">
              <a:buNone/>
            </a:pPr>
            <a:r>
              <a:rPr lang="en-US" sz="1200" dirty="0">
                <a:solidFill>
                  <a:schemeClr val="tx1"/>
                </a:solidFill>
              </a:rPr>
              <a:t>Revenue up about 12% with no harm to key user-experience metrics; result replicated.</a:t>
            </a:r>
            <a:endParaRPr lang="en-US" sz="1200" dirty="0"/>
          </a:p>
        </p:txBody>
      </p:sp>
      <p:sp>
        <p:nvSpPr>
          <p:cNvPr id="19" name="Chain arrow 4"/>
          <p:cNvSpPr/>
          <p:nvPr/>
        </p:nvSpPr>
        <p:spPr>
          <a:xfrm>
            <a:off x="6036412" y="2441448"/>
            <a:ext cx="118872" cy="237744"/>
          </a:xfrm>
          <a:prstGeom prst="chevron">
            <a:avLst/>
          </a:prstGeom>
          <a:solidFill>
            <a:schemeClr val="accent5"/>
          </a:solidFill>
          <a:ln/>
        </p:spPr>
      </p:sp>
      <p:sp>
        <p:nvSpPr>
          <p:cNvPr id="20" name="Chain DECISION card"/>
          <p:cNvSpPr/>
          <p:nvPr/>
        </p:nvSpPr>
        <p:spPr>
          <a:xfrm>
            <a:off x="8042453" y="1792224"/>
            <a:ext cx="1727149" cy="1536192"/>
          </a:xfrm>
          <a:prstGeom prst="roundRect">
            <a:avLst>
              <a:gd name="adj" fmla="val 4762"/>
            </a:avLst>
          </a:prstGeom>
          <a:solidFill>
            <a:schemeClr val="tx2"/>
          </a:solidFill>
          <a:ln/>
        </p:spPr>
      </p:sp>
      <p:sp>
        <p:nvSpPr>
          <p:cNvPr id="21" name="Chain DECISION tag"/>
          <p:cNvSpPr txBox="1"/>
          <p:nvPr/>
        </p:nvSpPr>
        <p:spPr>
          <a:xfrm>
            <a:off x="8161325"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5 · DECISION</a:t>
            </a:r>
            <a:endParaRPr lang="en-US" sz="1000" dirty="0"/>
          </a:p>
        </p:txBody>
      </p:sp>
      <p:sp>
        <p:nvSpPr>
          <p:cNvPr id="22" name="Chain DECISION text"/>
          <p:cNvSpPr txBox="1"/>
          <p:nvPr/>
        </p:nvSpPr>
        <p:spPr>
          <a:xfrm>
            <a:off x="8161325" y="2194560"/>
            <a:ext cx="1489405" cy="1033272"/>
          </a:xfrm>
          <a:prstGeom prst="rect">
            <a:avLst/>
          </a:prstGeom>
          <a:noFill/>
          <a:ln/>
        </p:spPr>
        <p:txBody>
          <a:bodyPr wrap="square" lIns="0" tIns="0" rIns="0" bIns="0" rtlCol="0" anchor="t"/>
          <a:lstStyle/>
          <a:p>
            <a:pPr indent="0" marL="0">
              <a:buNone/>
            </a:pPr>
            <a:r>
              <a:rPr lang="en-US" sz="1200" dirty="0">
                <a:solidFill>
                  <a:schemeClr val="bg1"/>
                </a:solidFill>
              </a:rPr>
              <a:t>Ship an idea that had sat in the backlog for more than six months.</a:t>
            </a:r>
            <a:endParaRPr lang="en-US" sz="1200" dirty="0"/>
          </a:p>
        </p:txBody>
      </p:sp>
      <p:sp>
        <p:nvSpPr>
          <p:cNvPr id="23" name="Chain arrow 5"/>
          <p:cNvSpPr/>
          <p:nvPr/>
        </p:nvSpPr>
        <p:spPr>
          <a:xfrm>
            <a:off x="7909865" y="2441448"/>
            <a:ext cx="118872" cy="237744"/>
          </a:xfrm>
          <a:prstGeom prst="chevron">
            <a:avLst/>
          </a:prstGeom>
          <a:solidFill>
            <a:schemeClr val="accent5"/>
          </a:solidFill>
          <a:ln/>
        </p:spPr>
      </p:sp>
      <p:sp>
        <p:nvSpPr>
          <p:cNvPr id="24" name="Chain OUTCOME card"/>
          <p:cNvSpPr/>
          <p:nvPr/>
        </p:nvSpPr>
        <p:spPr>
          <a:xfrm>
            <a:off x="9915906" y="1792224"/>
            <a:ext cx="1727149" cy="1536192"/>
          </a:xfrm>
          <a:prstGeom prst="roundRect">
            <a:avLst>
              <a:gd name="adj" fmla="val 4762"/>
            </a:avLst>
          </a:prstGeom>
          <a:solidFill>
            <a:schemeClr val="tx2"/>
          </a:solidFill>
          <a:ln/>
        </p:spPr>
      </p:sp>
      <p:sp>
        <p:nvSpPr>
          <p:cNvPr id="25" name="Chain OUTCOME tag"/>
          <p:cNvSpPr txBox="1"/>
          <p:nvPr/>
        </p:nvSpPr>
        <p:spPr>
          <a:xfrm>
            <a:off x="10034778" y="1920240"/>
            <a:ext cx="1489405"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6 · OUTCOME</a:t>
            </a:r>
            <a:endParaRPr lang="en-US" sz="1000" dirty="0"/>
          </a:p>
        </p:txBody>
      </p:sp>
      <p:sp>
        <p:nvSpPr>
          <p:cNvPr id="26" name="Chain OUTCOME text"/>
          <p:cNvSpPr txBox="1"/>
          <p:nvPr/>
        </p:nvSpPr>
        <p:spPr>
          <a:xfrm>
            <a:off x="10034778" y="2194560"/>
            <a:ext cx="1489405" cy="1033272"/>
          </a:xfrm>
          <a:prstGeom prst="rect">
            <a:avLst/>
          </a:prstGeom>
          <a:noFill/>
          <a:ln/>
        </p:spPr>
        <p:txBody>
          <a:bodyPr wrap="square" lIns="0" tIns="0" rIns="0" bIns="0" rtlCol="0" anchor="t"/>
          <a:lstStyle/>
          <a:p>
            <a:pPr indent="0" marL="0">
              <a:buNone/>
            </a:pPr>
            <a:r>
              <a:rPr lang="en-US" sz="1200" dirty="0">
                <a:solidFill>
                  <a:schemeClr val="bg1"/>
                </a:solidFill>
              </a:rPr>
              <a:t>Estimated at more than $100 million a year in U.S. revenue at the time.</a:t>
            </a:r>
            <a:endParaRPr lang="en-US" sz="1200" dirty="0"/>
          </a:p>
        </p:txBody>
      </p:sp>
      <p:sp>
        <p:nvSpPr>
          <p:cNvPr id="27" name="Chain arrow 6"/>
          <p:cNvSpPr/>
          <p:nvPr/>
        </p:nvSpPr>
        <p:spPr>
          <a:xfrm>
            <a:off x="9783318" y="2441448"/>
            <a:ext cx="118872" cy="237744"/>
          </a:xfrm>
          <a:prstGeom prst="chevron">
            <a:avLst/>
          </a:prstGeom>
          <a:solidFill>
            <a:schemeClr val="accent5"/>
          </a:solidFill>
          <a:ln/>
        </p:spPr>
      </p:sp>
      <p:sp>
        <p:nvSpPr>
          <p:cNvPr id="28" name="Functions heading"/>
          <p:cNvSpPr txBox="1"/>
          <p:nvPr/>
        </p:nvSpPr>
        <p:spPr>
          <a:xfrm>
            <a:off x="548640" y="3529584"/>
            <a:ext cx="11094415" cy="310896"/>
          </a:xfrm>
          <a:prstGeom prst="rect">
            <a:avLst/>
          </a:prstGeom>
          <a:noFill/>
          <a:ln/>
        </p:spPr>
        <p:txBody>
          <a:bodyPr wrap="square" lIns="0" tIns="0" rIns="0" bIns="0" rtlCol="0" anchor="t"/>
          <a:lstStyle/>
          <a:p>
            <a:pPr indent="0" marL="0">
              <a:buNone/>
            </a:pPr>
            <a:r>
              <a:rPr lang="en-US" sz="1700" b="1" dirty="0">
                <a:solidFill>
                  <a:schemeClr val="tx2"/>
                </a:solidFill>
                <a:latin typeface="+mj-lt" pitchFamily="34" charset="0"/>
                <a:ea typeface="+mj-lt" pitchFamily="34" charset="-122"/>
                <a:cs typeface="+mj-lt" pitchFamily="34" charset="-120"/>
              </a:rPr>
              <a:t>Across business functions: question, method, decision</a:t>
            </a:r>
            <a:endParaRPr lang="en-US" sz="1700" dirty="0"/>
          </a:p>
        </p:txBody>
      </p:sp>
      <p:graphicFrame>
        <p:nvGraphicFramePr>
          <p:cNvPr id="5" name="Business functions table"/>
          <p:cNvGraphicFramePr>
            <a:graphicFrameLocks noGrp="1"/>
          </p:cNvGraphicFramePr>
          <p:nvPr>
            <p:extLst>
              <p:ext uri="{D42A27DB-BD31-4B8C-83A1-F6EECF244321}">
                <p14:modId xmlns:p14="http://schemas.microsoft.com/office/powerpoint/2010/main" val="1579011935"/>
              </p:ext>
            </p:extLst>
          </p:nvPr>
        </p:nvGraphicFramePr>
        <p:xfrm>
          <a:off x="548640" y="3895344"/>
          <a:ext cx="11094415" cy="914400"/>
        </p:xfrm>
        <a:graphic>
          <a:graphicData uri="http://schemas.openxmlformats.org/drawingml/2006/table">
            <a:tbl>
              <a:tblPr/>
              <a:tblGrid>
                <a:gridCol w="1920240"/>
                <a:gridCol w="3429000"/>
                <a:gridCol w="2697480"/>
                <a:gridCol w="3047695"/>
              </a:tblGrid>
              <a:tr h="292608">
                <a:tc>
                  <a:txBody>
                    <a:bodyPr/>
                    <a:lstStyle/>
                    <a:p>
                      <a:pPr indent="0" marL="0">
                        <a:buNone/>
                      </a:pPr>
                      <a:r>
                        <a:rPr lang="en-US" sz="1150" b="1" dirty="0">
                          <a:solidFill>
                            <a:schemeClr val="bg1"/>
                          </a:solidFill>
                        </a:rPr>
                        <a:t>Function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Key question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Statistical method</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Decision supported</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r>
              <a:tr h="384048">
                <a:tc>
                  <a:txBody>
                    <a:bodyPr/>
                    <a:lstStyle/>
                    <a:p>
                      <a:pPr indent="0" marL="0">
                        <a:buNone/>
                      </a:pPr>
                      <a:r>
                        <a:rPr lang="en-US" sz="1150" b="1" dirty="0">
                          <a:solidFill>
                            <a:schemeClr val="tx2"/>
                          </a:solidFill>
                        </a:rPr>
                        <a:t>Demand &amp; inventory</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How much will we sell next quarter, and how uncertain is that?</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Time-series models (ETS, ARIMA) with prediction intervals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Set orders and safety stock from the interval, not a single point guess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Customer segmentation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Which customers behave alike, and how do the groups differ?</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Cluster analysis; principal component analysis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Tailor offers, channels and product design to each segment</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Pricing &amp; revenue</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How does demand respond to a price change?</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Price-elasticity regression; randomized price tests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Change prices with an expected revenue effect and its uncertainty</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150" b="1" dirty="0">
                          <a:solidFill>
                            <a:schemeClr val="tx2"/>
                          </a:solidFill>
                        </a:rPr>
                        <a:t>Credit risk &amp; fraud</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How likely is default or fraud for this application?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Logistic-regression scorecards; anomaly detection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Approve, price or flag — with error rates and fairness monitored</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r h="384048">
                <a:tc>
                  <a:txBody>
                    <a:bodyPr/>
                    <a:lstStyle/>
                    <a:p>
                      <a:pPr indent="0" marL="0">
                        <a:buNone/>
                      </a:pPr>
                      <a:r>
                        <a:rPr lang="en-US" sz="1150" b="1" dirty="0">
                          <a:solidFill>
                            <a:schemeClr val="tx2"/>
                          </a:solidFill>
                        </a:rPr>
                        <a:t>Churn &amp; retention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Who will leave, and does an offer change that?</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Survival or classification models plus uplift experiments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Target customers the offer persuades, not just those most at risk</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fade">
                                      <p:cBhvr>
                                        <p:cTn id="74" dur="500"/>
                                        <p:tgtEl>
                                          <p:spTgt spid="2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05 · IMPLICATIONS IN SCIENTIFIC &amp; ACADEMIC RESEARCH</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Rigor lives in the design, not just the analysis</a:t>
            </a:r>
            <a:endParaRPr lang="en-US" sz="3400" dirty="0"/>
          </a:p>
        </p:txBody>
      </p:sp>
      <p:sp>
        <p:nvSpPr>
          <p:cNvPr id="4" name="Workflow connector"/>
          <p:cNvSpPr/>
          <p:nvPr/>
        </p:nvSpPr>
        <p:spPr>
          <a:xfrm>
            <a:off x="1473175" y="1783080"/>
            <a:ext cx="9245346" cy="0"/>
          </a:xfrm>
          <a:prstGeom prst="line">
            <a:avLst/>
          </a:prstGeom>
          <a:noFill/>
          <a:ln w="15875">
            <a:solidFill>
              <a:schemeClr val="accent5"/>
            </a:solidFill>
            <a:prstDash val="solid"/>
          </a:ln>
        </p:spPr>
      </p:sp>
      <p:sp>
        <p:nvSpPr>
          <p:cNvPr id="5" name="Step 1 marker"/>
          <p:cNvSpPr/>
          <p:nvPr/>
        </p:nvSpPr>
        <p:spPr>
          <a:xfrm>
            <a:off x="1244575" y="1554480"/>
            <a:ext cx="457200" cy="457200"/>
          </a:xfrm>
          <a:prstGeom prst="ellipse">
            <a:avLst/>
          </a:prstGeom>
          <a:solidFill>
            <a:schemeClr val="accent1"/>
          </a:solidFill>
          <a:ln w="25400">
            <a:solidFill>
              <a:schemeClr val="bg1"/>
            </a:solidFill>
            <a:prstDash val="solid"/>
          </a:ln>
        </p:spPr>
      </p:sp>
      <p:sp>
        <p:nvSpPr>
          <p:cNvPr id="6" name="Step 1 number"/>
          <p:cNvSpPr txBox="1"/>
          <p:nvPr/>
        </p:nvSpPr>
        <p:spPr>
          <a:xfrm>
            <a:off x="1244575" y="1554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Step 1 name"/>
          <p:cNvSpPr txBox="1"/>
          <p:nvPr/>
        </p:nvSpPr>
        <p:spPr>
          <a:xfrm>
            <a:off x="603504"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Research question</a:t>
            </a:r>
            <a:endParaRPr lang="en-US" sz="1400" dirty="0"/>
          </a:p>
        </p:txBody>
      </p:sp>
      <p:sp>
        <p:nvSpPr>
          <p:cNvPr id="8" name="Step 1 text"/>
          <p:cNvSpPr txBox="1"/>
          <p:nvPr/>
        </p:nvSpPr>
        <p:spPr>
          <a:xfrm>
            <a:off x="640080"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Testable hypothesis; primary outcome fixed in advance</a:t>
            </a:r>
            <a:endParaRPr lang="en-US" sz="1200" dirty="0"/>
          </a:p>
        </p:txBody>
      </p:sp>
      <p:sp>
        <p:nvSpPr>
          <p:cNvPr id="9" name="Step 2 marker"/>
          <p:cNvSpPr/>
          <p:nvPr/>
        </p:nvSpPr>
        <p:spPr>
          <a:xfrm>
            <a:off x="3093644" y="1554480"/>
            <a:ext cx="457200" cy="457200"/>
          </a:xfrm>
          <a:prstGeom prst="ellipse">
            <a:avLst/>
          </a:prstGeom>
          <a:solidFill>
            <a:schemeClr val="accent1"/>
          </a:solidFill>
          <a:ln w="25400">
            <a:solidFill>
              <a:schemeClr val="bg1"/>
            </a:solidFill>
            <a:prstDash val="solid"/>
          </a:ln>
        </p:spPr>
      </p:sp>
      <p:sp>
        <p:nvSpPr>
          <p:cNvPr id="10" name="Step 2 number"/>
          <p:cNvSpPr txBox="1"/>
          <p:nvPr/>
        </p:nvSpPr>
        <p:spPr>
          <a:xfrm>
            <a:off x="3093644" y="1554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Step 2 name"/>
          <p:cNvSpPr txBox="1"/>
          <p:nvPr/>
        </p:nvSpPr>
        <p:spPr>
          <a:xfrm>
            <a:off x="2452573"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Study design</a:t>
            </a:r>
            <a:endParaRPr lang="en-US" sz="1400" dirty="0"/>
          </a:p>
        </p:txBody>
      </p:sp>
      <p:sp>
        <p:nvSpPr>
          <p:cNvPr id="12" name="Step 2 text"/>
          <p:cNvSpPr txBox="1"/>
          <p:nvPr/>
        </p:nvSpPr>
        <p:spPr>
          <a:xfrm>
            <a:off x="2489149"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Randomized or observational? Plan for confounding</a:t>
            </a:r>
            <a:endParaRPr lang="en-US" sz="1200" dirty="0"/>
          </a:p>
        </p:txBody>
      </p:sp>
      <p:sp>
        <p:nvSpPr>
          <p:cNvPr id="13" name="Step 3 marker"/>
          <p:cNvSpPr/>
          <p:nvPr/>
        </p:nvSpPr>
        <p:spPr>
          <a:xfrm>
            <a:off x="4942713" y="1554480"/>
            <a:ext cx="457200" cy="457200"/>
          </a:xfrm>
          <a:prstGeom prst="ellipse">
            <a:avLst/>
          </a:prstGeom>
          <a:solidFill>
            <a:schemeClr val="accent1"/>
          </a:solidFill>
          <a:ln w="25400">
            <a:solidFill>
              <a:schemeClr val="bg1"/>
            </a:solidFill>
            <a:prstDash val="solid"/>
          </a:ln>
        </p:spPr>
      </p:sp>
      <p:sp>
        <p:nvSpPr>
          <p:cNvPr id="14" name="Step 3 number"/>
          <p:cNvSpPr txBox="1"/>
          <p:nvPr/>
        </p:nvSpPr>
        <p:spPr>
          <a:xfrm>
            <a:off x="4942713" y="1554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5" name="Step 3 name"/>
          <p:cNvSpPr txBox="1"/>
          <p:nvPr/>
        </p:nvSpPr>
        <p:spPr>
          <a:xfrm>
            <a:off x="4301642"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Data collection</a:t>
            </a:r>
            <a:endParaRPr lang="en-US" sz="1400" dirty="0"/>
          </a:p>
        </p:txBody>
      </p:sp>
      <p:sp>
        <p:nvSpPr>
          <p:cNvPr id="16" name="Step 3 text"/>
          <p:cNvSpPr txBox="1"/>
          <p:nvPr/>
        </p:nvSpPr>
        <p:spPr>
          <a:xfrm>
            <a:off x="4338218"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Sample size from a power analysis; valid measures</a:t>
            </a:r>
            <a:endParaRPr lang="en-US" sz="1200" dirty="0"/>
          </a:p>
        </p:txBody>
      </p:sp>
      <p:sp>
        <p:nvSpPr>
          <p:cNvPr id="17" name="Step 4 marker"/>
          <p:cNvSpPr/>
          <p:nvPr/>
        </p:nvSpPr>
        <p:spPr>
          <a:xfrm>
            <a:off x="6791782" y="1554480"/>
            <a:ext cx="457200" cy="457200"/>
          </a:xfrm>
          <a:prstGeom prst="ellipse">
            <a:avLst/>
          </a:prstGeom>
          <a:solidFill>
            <a:schemeClr val="accent1"/>
          </a:solidFill>
          <a:ln w="25400">
            <a:solidFill>
              <a:schemeClr val="bg1"/>
            </a:solidFill>
            <a:prstDash val="solid"/>
          </a:ln>
        </p:spPr>
      </p:sp>
      <p:sp>
        <p:nvSpPr>
          <p:cNvPr id="18" name="Step 4 number"/>
          <p:cNvSpPr txBox="1"/>
          <p:nvPr/>
        </p:nvSpPr>
        <p:spPr>
          <a:xfrm>
            <a:off x="6791782" y="1554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9" name="Step 4 name"/>
          <p:cNvSpPr txBox="1"/>
          <p:nvPr/>
        </p:nvSpPr>
        <p:spPr>
          <a:xfrm>
            <a:off x="6150712"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Statistical analysis</a:t>
            </a:r>
            <a:endParaRPr lang="en-US" sz="1400" dirty="0"/>
          </a:p>
        </p:txBody>
      </p:sp>
      <p:sp>
        <p:nvSpPr>
          <p:cNvPr id="20" name="Step 4 text"/>
          <p:cNvSpPr txBox="1"/>
          <p:nvPr/>
        </p:nvSpPr>
        <p:spPr>
          <a:xfrm>
            <a:off x="6187288"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Model matched to the data and its assumptions</a:t>
            </a:r>
            <a:endParaRPr lang="en-US" sz="1200" dirty="0"/>
          </a:p>
        </p:txBody>
      </p:sp>
      <p:sp>
        <p:nvSpPr>
          <p:cNvPr id="21" name="Step 5 marker"/>
          <p:cNvSpPr/>
          <p:nvPr/>
        </p:nvSpPr>
        <p:spPr>
          <a:xfrm>
            <a:off x="8640851" y="1554480"/>
            <a:ext cx="457200" cy="457200"/>
          </a:xfrm>
          <a:prstGeom prst="ellipse">
            <a:avLst/>
          </a:prstGeom>
          <a:solidFill>
            <a:schemeClr val="accent1"/>
          </a:solidFill>
          <a:ln w="25400">
            <a:solidFill>
              <a:schemeClr val="bg1"/>
            </a:solidFill>
            <a:prstDash val="solid"/>
          </a:ln>
        </p:spPr>
      </p:sp>
      <p:sp>
        <p:nvSpPr>
          <p:cNvPr id="22" name="Step 5 number"/>
          <p:cNvSpPr txBox="1"/>
          <p:nvPr/>
        </p:nvSpPr>
        <p:spPr>
          <a:xfrm>
            <a:off x="8640851" y="15544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3" name="Step 5 name"/>
          <p:cNvSpPr txBox="1"/>
          <p:nvPr/>
        </p:nvSpPr>
        <p:spPr>
          <a:xfrm>
            <a:off x="7999781"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Interpretation</a:t>
            </a:r>
            <a:endParaRPr lang="en-US" sz="1400" dirty="0"/>
          </a:p>
        </p:txBody>
      </p:sp>
      <p:sp>
        <p:nvSpPr>
          <p:cNvPr id="24" name="Step 5 text"/>
          <p:cNvSpPr txBox="1"/>
          <p:nvPr/>
        </p:nvSpPr>
        <p:spPr>
          <a:xfrm>
            <a:off x="8036357"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Effect sizes, confidence intervals, robustness checks</a:t>
            </a:r>
            <a:endParaRPr lang="en-US" sz="1200" dirty="0"/>
          </a:p>
        </p:txBody>
      </p:sp>
      <p:sp>
        <p:nvSpPr>
          <p:cNvPr id="25" name="Step 6 marker"/>
          <p:cNvSpPr/>
          <p:nvPr/>
        </p:nvSpPr>
        <p:spPr>
          <a:xfrm>
            <a:off x="10489921" y="1554480"/>
            <a:ext cx="457200" cy="457200"/>
          </a:xfrm>
          <a:prstGeom prst="ellipse">
            <a:avLst/>
          </a:prstGeom>
          <a:solidFill>
            <a:schemeClr val="accent2"/>
          </a:solidFill>
          <a:ln w="25400">
            <a:solidFill>
              <a:schemeClr val="bg1"/>
            </a:solidFill>
            <a:prstDash val="solid"/>
          </a:ln>
        </p:spPr>
      </p:sp>
      <p:sp>
        <p:nvSpPr>
          <p:cNvPr id="26" name="Step 6 number"/>
          <p:cNvSpPr txBox="1"/>
          <p:nvPr/>
        </p:nvSpPr>
        <p:spPr>
          <a:xfrm>
            <a:off x="10489921" y="1554480"/>
            <a:ext cx="457200" cy="457200"/>
          </a:xfrm>
          <a:prstGeom prst="rect">
            <a:avLst/>
          </a:prstGeom>
          <a:noFill/>
          <a:ln/>
        </p:spPr>
        <p:txBody>
          <a:bodyPr wrap="square" lIns="0" tIns="0" rIns="0" bIns="0" rtlCol="0" anchor="ctr"/>
          <a:lstStyle/>
          <a:p>
            <a:pPr algn="ctr" indent="0" marL="0">
              <a:buNone/>
            </a:pPr>
            <a:r>
              <a:rPr lang="en-US" sz="1500" b="1" dirty="0">
                <a:solidFill>
                  <a:schemeClr val="tx2"/>
                </a:solidFill>
              </a:rPr>
              <a:t>6</a:t>
            </a:r>
            <a:endParaRPr lang="en-US" sz="1500" dirty="0"/>
          </a:p>
        </p:txBody>
      </p:sp>
      <p:sp>
        <p:nvSpPr>
          <p:cNvPr id="27" name="Step 6 name"/>
          <p:cNvSpPr txBox="1"/>
          <p:nvPr/>
        </p:nvSpPr>
        <p:spPr>
          <a:xfrm>
            <a:off x="9848850" y="2103120"/>
            <a:ext cx="1739341" cy="274320"/>
          </a:xfrm>
          <a:prstGeom prst="rect">
            <a:avLst/>
          </a:prstGeom>
          <a:noFill/>
          <a:ln/>
        </p:spPr>
        <p:txBody>
          <a:bodyPr wrap="square" lIns="0" tIns="0" rIns="0" bIns="0" rtlCol="0" anchor="t"/>
          <a:lstStyle/>
          <a:p>
            <a:pPr algn="ctr" indent="0" marL="0">
              <a:buNone/>
            </a:pPr>
            <a:r>
              <a:rPr lang="en-US" sz="1400" b="1" dirty="0">
                <a:solidFill>
                  <a:schemeClr val="tx2"/>
                </a:solidFill>
                <a:latin typeface="+mj-lt" pitchFamily="34" charset="0"/>
                <a:ea typeface="+mj-lt" pitchFamily="34" charset="-122"/>
                <a:cs typeface="+mj-lt" pitchFamily="34" charset="-120"/>
              </a:rPr>
              <a:t>Conclusion</a:t>
            </a:r>
            <a:endParaRPr lang="en-US" sz="1400" dirty="0"/>
          </a:p>
        </p:txBody>
      </p:sp>
      <p:sp>
        <p:nvSpPr>
          <p:cNvPr id="28" name="Step 6 text"/>
          <p:cNvSpPr txBox="1"/>
          <p:nvPr/>
        </p:nvSpPr>
        <p:spPr>
          <a:xfrm>
            <a:off x="9885426" y="2395728"/>
            <a:ext cx="1666189" cy="685800"/>
          </a:xfrm>
          <a:prstGeom prst="rect">
            <a:avLst/>
          </a:prstGeom>
          <a:noFill/>
          <a:ln/>
        </p:spPr>
        <p:txBody>
          <a:bodyPr wrap="square" lIns="0" tIns="0" rIns="0" bIns="0" rtlCol="0" anchor="t"/>
          <a:lstStyle/>
          <a:p>
            <a:pPr algn="ctr" indent="0" marL="0">
              <a:buNone/>
            </a:pPr>
            <a:r>
              <a:rPr lang="en-US" sz="1200" dirty="0">
                <a:solidFill>
                  <a:schemeClr val="tx1"/>
                </a:solidFill>
              </a:rPr>
              <a:t>Claims proportional to evidence; reproducible code and data</a:t>
            </a:r>
            <a:endParaRPr lang="en-US" sz="1200" dirty="0"/>
          </a:p>
        </p:txBody>
      </p:sp>
      <p:sp>
        <p:nvSpPr>
          <p:cNvPr id="29" name="RECOVERY panel"/>
          <p:cNvSpPr/>
          <p:nvPr/>
        </p:nvSpPr>
        <p:spPr>
          <a:xfrm>
            <a:off x="548640" y="3291840"/>
            <a:ext cx="7269480" cy="2999232"/>
          </a:xfrm>
          <a:prstGeom prst="roundRect">
            <a:avLst>
              <a:gd name="adj" fmla="val 1829"/>
            </a:avLst>
          </a:prstGeom>
          <a:solidFill>
            <a:schemeClr val="bg2"/>
          </a:solidFill>
          <a:ln/>
        </p:spPr>
      </p:sp>
      <p:sp>
        <p:nvSpPr>
          <p:cNvPr id="30" name="RECOVERY title"/>
          <p:cNvSpPr txBox="1"/>
          <p:nvPr/>
        </p:nvSpPr>
        <p:spPr>
          <a:xfrm>
            <a:off x="731520" y="3419856"/>
            <a:ext cx="6903720" cy="237744"/>
          </a:xfrm>
          <a:prstGeom prst="rect">
            <a:avLst/>
          </a:prstGeom>
          <a:noFill/>
          <a:ln/>
        </p:spPr>
        <p:txBody>
          <a:bodyPr wrap="square" lIns="0" tIns="0" rIns="0" bIns="0" rtlCol="0" anchor="t"/>
          <a:lstStyle/>
          <a:p>
            <a:pPr indent="0" marL="0">
              <a:buNone/>
            </a:pPr>
            <a:r>
              <a:rPr lang="en-US" sz="1250" b="1" spc="100" kern="0" dirty="0">
                <a:solidFill>
                  <a:schemeClr val="accent1"/>
                </a:solidFill>
              </a:rPr>
              <a:t>EVIDENCE EXAMPLE  </a:t>
            </a:r>
            <a:pPr indent="0" marL="0">
              <a:buNone/>
            </a:pPr>
            <a:r>
              <a:rPr lang="en-US" sz="1250" b="1" dirty="0">
                <a:solidFill>
                  <a:schemeClr val="tx2"/>
                </a:solidFill>
              </a:rPr>
              <a:t>RECOVERY randomized trial: dexamethasone vs. usual care</a:t>
            </a:r>
            <a:endParaRPr lang="en-US" sz="1250" dirty="0"/>
          </a:p>
        </p:txBody>
      </p:sp>
      <p:sp>
        <p:nvSpPr>
          <p:cNvPr id="31" name="RECOVERY subtitle"/>
          <p:cNvSpPr txBox="1"/>
          <p:nvPr/>
        </p:nvSpPr>
        <p:spPr>
          <a:xfrm>
            <a:off x="731520" y="3675888"/>
            <a:ext cx="6903720" cy="219456"/>
          </a:xfrm>
          <a:prstGeom prst="rect">
            <a:avLst/>
          </a:prstGeom>
          <a:noFill/>
          <a:ln/>
        </p:spPr>
        <p:txBody>
          <a:bodyPr wrap="square" lIns="0" tIns="0" rIns="0" bIns="0" rtlCol="0" anchor="t"/>
          <a:lstStyle/>
          <a:p>
            <a:pPr indent="0" marL="0">
              <a:buNone/>
            </a:pPr>
            <a:r>
              <a:rPr lang="en-US" sz="1050" dirty="0">
                <a:solidFill>
                  <a:schemeClr val="accent5"/>
                </a:solidFill>
              </a:rPr>
              <a:t>28-day mortality, hospitalized COVID-19 patients · 6,425 randomized (2,104 vs. 4,321) · age-adjusted rate ratios</a:t>
            </a:r>
            <a:endParaRPr lang="en-US" sz="1050" dirty="0"/>
          </a:p>
        </p:txBody>
      </p:sp>
      <p:sp>
        <p:nvSpPr>
          <p:cNvPr id="32" name="Forest header: Respiratory support"/>
          <p:cNvSpPr txBox="1"/>
          <p:nvPr/>
        </p:nvSpPr>
        <p:spPr>
          <a:xfrm>
            <a:off x="731520" y="3986784"/>
            <a:ext cx="2011680" cy="219456"/>
          </a:xfrm>
          <a:prstGeom prst="rect">
            <a:avLst/>
          </a:prstGeom>
          <a:noFill/>
          <a:ln/>
        </p:spPr>
        <p:txBody>
          <a:bodyPr wrap="square" lIns="0" tIns="0" rIns="0" bIns="0" rtlCol="0" anchor="t"/>
          <a:lstStyle/>
          <a:p>
            <a:pPr algn="l" indent="0" marL="0">
              <a:buNone/>
            </a:pPr>
            <a:r>
              <a:rPr lang="en-US" sz="1050" b="1" dirty="0">
                <a:solidFill>
                  <a:schemeClr val="accent5"/>
                </a:solidFill>
              </a:rPr>
              <a:t>Respiratory support</a:t>
            </a:r>
            <a:endParaRPr lang="en-US" sz="1050" dirty="0"/>
          </a:p>
        </p:txBody>
      </p:sp>
      <p:sp>
        <p:nvSpPr>
          <p:cNvPr id="33" name="Forest header: Dexa."/>
          <p:cNvSpPr txBox="1"/>
          <p:nvPr/>
        </p:nvSpPr>
        <p:spPr>
          <a:xfrm>
            <a:off x="2788920" y="3986784"/>
            <a:ext cx="658368" cy="219456"/>
          </a:xfrm>
          <a:prstGeom prst="rect">
            <a:avLst/>
          </a:prstGeom>
          <a:noFill/>
          <a:ln/>
        </p:spPr>
        <p:txBody>
          <a:bodyPr wrap="square" lIns="0" tIns="0" rIns="0" bIns="0" rtlCol="0" anchor="t"/>
          <a:lstStyle/>
          <a:p>
            <a:pPr algn="r" indent="0" marL="0">
              <a:buNone/>
            </a:pPr>
            <a:r>
              <a:rPr lang="en-US" sz="1050" b="1" dirty="0">
                <a:solidFill>
                  <a:schemeClr val="accent5"/>
                </a:solidFill>
              </a:rPr>
              <a:t>Dexa.</a:t>
            </a:r>
            <a:endParaRPr lang="en-US" sz="1050" dirty="0"/>
          </a:p>
        </p:txBody>
      </p:sp>
      <p:sp>
        <p:nvSpPr>
          <p:cNvPr id="34" name="Forest header: Usual care"/>
          <p:cNvSpPr txBox="1"/>
          <p:nvPr/>
        </p:nvSpPr>
        <p:spPr>
          <a:xfrm>
            <a:off x="3474720" y="3986784"/>
            <a:ext cx="777240" cy="219456"/>
          </a:xfrm>
          <a:prstGeom prst="rect">
            <a:avLst/>
          </a:prstGeom>
          <a:noFill/>
          <a:ln/>
        </p:spPr>
        <p:txBody>
          <a:bodyPr wrap="square" lIns="0" tIns="0" rIns="0" bIns="0" rtlCol="0" anchor="t"/>
          <a:lstStyle/>
          <a:p>
            <a:pPr algn="r" indent="0" marL="0">
              <a:buNone/>
            </a:pPr>
            <a:r>
              <a:rPr lang="en-US" sz="1050" b="1" dirty="0">
                <a:solidFill>
                  <a:schemeClr val="accent5"/>
                </a:solidFill>
              </a:rPr>
              <a:t>Usual care</a:t>
            </a:r>
            <a:endParaRPr lang="en-US" sz="1050" dirty="0"/>
          </a:p>
        </p:txBody>
      </p:sp>
      <p:sp>
        <p:nvSpPr>
          <p:cNvPr id="35" name="Forest header: Rate ratio (95% CI)"/>
          <p:cNvSpPr txBox="1"/>
          <p:nvPr/>
        </p:nvSpPr>
        <p:spPr>
          <a:xfrm>
            <a:off x="6400800" y="3986784"/>
            <a:ext cx="1325880" cy="219456"/>
          </a:xfrm>
          <a:prstGeom prst="rect">
            <a:avLst/>
          </a:prstGeom>
          <a:noFill/>
          <a:ln/>
        </p:spPr>
        <p:txBody>
          <a:bodyPr wrap="square" lIns="0" tIns="0" rIns="0" bIns="0" rtlCol="0" anchor="t"/>
          <a:lstStyle/>
          <a:p>
            <a:pPr algn="r" indent="0" marL="0">
              <a:buNone/>
            </a:pPr>
            <a:r>
              <a:rPr lang="en-US" sz="1050" b="1" dirty="0">
                <a:solidFill>
                  <a:schemeClr val="accent5"/>
                </a:solidFill>
              </a:rPr>
              <a:t>Rate ratio (95% CI)</a:t>
            </a:r>
            <a:endParaRPr lang="en-US" sz="1050" dirty="0"/>
          </a:p>
        </p:txBody>
      </p:sp>
      <p:sp>
        <p:nvSpPr>
          <p:cNvPr id="36" name="Forest no-effect line"/>
          <p:cNvSpPr/>
          <p:nvPr/>
        </p:nvSpPr>
        <p:spPr>
          <a:xfrm>
            <a:off x="5541072" y="4242816"/>
            <a:ext cx="0" cy="1444752"/>
          </a:xfrm>
          <a:prstGeom prst="line">
            <a:avLst/>
          </a:prstGeom>
          <a:noFill/>
          <a:ln w="12700">
            <a:solidFill>
              <a:schemeClr val="accent5"/>
            </a:solidFill>
            <a:prstDash val="dash"/>
          </a:ln>
        </p:spPr>
      </p:sp>
      <p:sp>
        <p:nvSpPr>
          <p:cNvPr id="37" name="Forest row: Invasive ventilation"/>
          <p:cNvSpPr txBox="1"/>
          <p:nvPr/>
        </p:nvSpPr>
        <p:spPr>
          <a:xfrm>
            <a:off x="731520" y="4279392"/>
            <a:ext cx="2011680" cy="347472"/>
          </a:xfrm>
          <a:prstGeom prst="rect">
            <a:avLst/>
          </a:prstGeom>
          <a:noFill/>
          <a:ln/>
        </p:spPr>
        <p:txBody>
          <a:bodyPr wrap="square" lIns="0" tIns="0" rIns="0" bIns="0" rtlCol="0" anchor="ctr"/>
          <a:lstStyle/>
          <a:p>
            <a:pPr indent="0" marL="0">
              <a:buNone/>
            </a:pPr>
            <a:r>
              <a:rPr lang="en-US" sz="1200" dirty="0">
                <a:solidFill>
                  <a:schemeClr val="tx1"/>
                </a:solidFill>
              </a:rPr>
              <a:t>Invasive ventilation</a:t>
            </a:r>
            <a:endParaRPr lang="en-US" sz="1200" dirty="0"/>
          </a:p>
        </p:txBody>
      </p:sp>
      <p:sp>
        <p:nvSpPr>
          <p:cNvPr id="38" name="Forest Invasive ventilation dexamethasone"/>
          <p:cNvSpPr txBox="1"/>
          <p:nvPr/>
        </p:nvSpPr>
        <p:spPr>
          <a:xfrm>
            <a:off x="2788920" y="4279392"/>
            <a:ext cx="658368" cy="347472"/>
          </a:xfrm>
          <a:prstGeom prst="rect">
            <a:avLst/>
          </a:prstGeom>
          <a:noFill/>
          <a:ln/>
        </p:spPr>
        <p:txBody>
          <a:bodyPr wrap="square" lIns="0" tIns="0" rIns="0" bIns="0" rtlCol="0" anchor="ctr"/>
          <a:lstStyle/>
          <a:p>
            <a:pPr algn="r" indent="0" marL="0">
              <a:buNone/>
            </a:pPr>
            <a:r>
              <a:rPr lang="en-US" sz="1200" dirty="0">
                <a:solidFill>
                  <a:schemeClr val="tx1"/>
                </a:solidFill>
              </a:rPr>
              <a:t>29.3%</a:t>
            </a:r>
            <a:endParaRPr lang="en-US" sz="1200" dirty="0"/>
          </a:p>
        </p:txBody>
      </p:sp>
      <p:sp>
        <p:nvSpPr>
          <p:cNvPr id="39" name="Forest Invasive ventilation usual care"/>
          <p:cNvSpPr txBox="1"/>
          <p:nvPr/>
        </p:nvSpPr>
        <p:spPr>
          <a:xfrm>
            <a:off x="3474720" y="4279392"/>
            <a:ext cx="777240" cy="347472"/>
          </a:xfrm>
          <a:prstGeom prst="rect">
            <a:avLst/>
          </a:prstGeom>
          <a:noFill/>
          <a:ln/>
        </p:spPr>
        <p:txBody>
          <a:bodyPr wrap="square" lIns="0" tIns="0" rIns="0" bIns="0" rtlCol="0" anchor="ctr"/>
          <a:lstStyle/>
          <a:p>
            <a:pPr algn="r" indent="0" marL="0">
              <a:buNone/>
            </a:pPr>
            <a:r>
              <a:rPr lang="en-US" sz="1200" dirty="0">
                <a:solidFill>
                  <a:schemeClr val="tx1"/>
                </a:solidFill>
              </a:rPr>
              <a:t>41.4%</a:t>
            </a:r>
            <a:endParaRPr lang="en-US" sz="1200" dirty="0"/>
          </a:p>
        </p:txBody>
      </p:sp>
      <p:sp>
        <p:nvSpPr>
          <p:cNvPr id="40" name="Forest Invasive ventilation estimate"/>
          <p:cNvSpPr txBox="1"/>
          <p:nvPr/>
        </p:nvSpPr>
        <p:spPr>
          <a:xfrm>
            <a:off x="6400800" y="4279392"/>
            <a:ext cx="1325880" cy="347472"/>
          </a:xfrm>
          <a:prstGeom prst="rect">
            <a:avLst/>
          </a:prstGeom>
          <a:noFill/>
          <a:ln/>
        </p:spPr>
        <p:txBody>
          <a:bodyPr wrap="square" lIns="0" tIns="0" rIns="0" bIns="0" rtlCol="0" anchor="ctr"/>
          <a:lstStyle/>
          <a:p>
            <a:pPr algn="r" indent="0" marL="0">
              <a:buNone/>
            </a:pPr>
            <a:r>
              <a:rPr lang="en-US" sz="1200" dirty="0">
                <a:solidFill>
                  <a:schemeClr val="tx1"/>
                </a:solidFill>
              </a:rPr>
              <a:t>0.64 (0.51–0.81)</a:t>
            </a:r>
            <a:endParaRPr lang="en-US" sz="1200" dirty="0"/>
          </a:p>
        </p:txBody>
      </p:sp>
      <p:sp>
        <p:nvSpPr>
          <p:cNvPr id="41" name="Forest Invasive ventilation interval"/>
          <p:cNvSpPr/>
          <p:nvPr/>
        </p:nvSpPr>
        <p:spPr>
          <a:xfrm>
            <a:off x="4660952" y="4453128"/>
            <a:ext cx="604689" cy="0"/>
          </a:xfrm>
          <a:prstGeom prst="line">
            <a:avLst/>
          </a:prstGeom>
          <a:noFill/>
          <a:ln w="22225">
            <a:solidFill>
              <a:schemeClr val="tx2"/>
            </a:solidFill>
            <a:prstDash val="solid"/>
          </a:ln>
        </p:spPr>
      </p:sp>
      <p:sp>
        <p:nvSpPr>
          <p:cNvPr id="42" name="Forest Invasive ventilation point"/>
          <p:cNvSpPr/>
          <p:nvPr/>
        </p:nvSpPr>
        <p:spPr>
          <a:xfrm>
            <a:off x="4884584" y="4379976"/>
            <a:ext cx="146304" cy="146304"/>
          </a:xfrm>
          <a:prstGeom prst="rect">
            <a:avLst/>
          </a:prstGeom>
          <a:solidFill>
            <a:schemeClr val="accent1"/>
          </a:solidFill>
          <a:ln/>
        </p:spPr>
      </p:sp>
      <p:sp>
        <p:nvSpPr>
          <p:cNvPr id="43" name="Forest row: Oxygen only"/>
          <p:cNvSpPr txBox="1"/>
          <p:nvPr/>
        </p:nvSpPr>
        <p:spPr>
          <a:xfrm>
            <a:off x="731520" y="4626864"/>
            <a:ext cx="2011680" cy="347472"/>
          </a:xfrm>
          <a:prstGeom prst="rect">
            <a:avLst/>
          </a:prstGeom>
          <a:noFill/>
          <a:ln/>
        </p:spPr>
        <p:txBody>
          <a:bodyPr wrap="square" lIns="0" tIns="0" rIns="0" bIns="0" rtlCol="0" anchor="ctr"/>
          <a:lstStyle/>
          <a:p>
            <a:pPr indent="0" marL="0">
              <a:buNone/>
            </a:pPr>
            <a:r>
              <a:rPr lang="en-US" sz="1200" dirty="0">
                <a:solidFill>
                  <a:schemeClr val="tx1"/>
                </a:solidFill>
              </a:rPr>
              <a:t>Oxygen only</a:t>
            </a:r>
            <a:endParaRPr lang="en-US" sz="1200" dirty="0"/>
          </a:p>
        </p:txBody>
      </p:sp>
      <p:sp>
        <p:nvSpPr>
          <p:cNvPr id="44" name="Forest Oxygen only dexamethasone"/>
          <p:cNvSpPr txBox="1"/>
          <p:nvPr/>
        </p:nvSpPr>
        <p:spPr>
          <a:xfrm>
            <a:off x="2788920" y="4626864"/>
            <a:ext cx="658368" cy="347472"/>
          </a:xfrm>
          <a:prstGeom prst="rect">
            <a:avLst/>
          </a:prstGeom>
          <a:noFill/>
          <a:ln/>
        </p:spPr>
        <p:txBody>
          <a:bodyPr wrap="square" lIns="0" tIns="0" rIns="0" bIns="0" rtlCol="0" anchor="ctr"/>
          <a:lstStyle/>
          <a:p>
            <a:pPr algn="r" indent="0" marL="0">
              <a:buNone/>
            </a:pPr>
            <a:r>
              <a:rPr lang="en-US" sz="1200" dirty="0">
                <a:solidFill>
                  <a:schemeClr val="tx1"/>
                </a:solidFill>
              </a:rPr>
              <a:t>23.3%</a:t>
            </a:r>
            <a:endParaRPr lang="en-US" sz="1200" dirty="0"/>
          </a:p>
        </p:txBody>
      </p:sp>
      <p:sp>
        <p:nvSpPr>
          <p:cNvPr id="45" name="Forest Oxygen only usual care"/>
          <p:cNvSpPr txBox="1"/>
          <p:nvPr/>
        </p:nvSpPr>
        <p:spPr>
          <a:xfrm>
            <a:off x="3474720" y="4626864"/>
            <a:ext cx="777240" cy="347472"/>
          </a:xfrm>
          <a:prstGeom prst="rect">
            <a:avLst/>
          </a:prstGeom>
          <a:noFill/>
          <a:ln/>
        </p:spPr>
        <p:txBody>
          <a:bodyPr wrap="square" lIns="0" tIns="0" rIns="0" bIns="0" rtlCol="0" anchor="ctr"/>
          <a:lstStyle/>
          <a:p>
            <a:pPr algn="r" indent="0" marL="0">
              <a:buNone/>
            </a:pPr>
            <a:r>
              <a:rPr lang="en-US" sz="1200" dirty="0">
                <a:solidFill>
                  <a:schemeClr val="tx1"/>
                </a:solidFill>
              </a:rPr>
              <a:t>26.2%</a:t>
            </a:r>
            <a:endParaRPr lang="en-US" sz="1200" dirty="0"/>
          </a:p>
        </p:txBody>
      </p:sp>
      <p:sp>
        <p:nvSpPr>
          <p:cNvPr id="46" name="Forest Oxygen only estimate"/>
          <p:cNvSpPr txBox="1"/>
          <p:nvPr/>
        </p:nvSpPr>
        <p:spPr>
          <a:xfrm>
            <a:off x="6400800" y="4626864"/>
            <a:ext cx="1325880" cy="347472"/>
          </a:xfrm>
          <a:prstGeom prst="rect">
            <a:avLst/>
          </a:prstGeom>
          <a:noFill/>
          <a:ln/>
        </p:spPr>
        <p:txBody>
          <a:bodyPr wrap="square" lIns="0" tIns="0" rIns="0" bIns="0" rtlCol="0" anchor="ctr"/>
          <a:lstStyle/>
          <a:p>
            <a:pPr algn="r" indent="0" marL="0">
              <a:buNone/>
            </a:pPr>
            <a:r>
              <a:rPr lang="en-US" sz="1200" dirty="0">
                <a:solidFill>
                  <a:schemeClr val="tx1"/>
                </a:solidFill>
              </a:rPr>
              <a:t>0.82 (0.72–0.94)</a:t>
            </a:r>
            <a:endParaRPr lang="en-US" sz="1200" dirty="0"/>
          </a:p>
        </p:txBody>
      </p:sp>
      <p:sp>
        <p:nvSpPr>
          <p:cNvPr id="47" name="Forest Oxygen only interval"/>
          <p:cNvSpPr/>
          <p:nvPr/>
        </p:nvSpPr>
        <p:spPr>
          <a:xfrm>
            <a:off x="5111688" y="4800600"/>
            <a:ext cx="348507" cy="0"/>
          </a:xfrm>
          <a:prstGeom prst="line">
            <a:avLst/>
          </a:prstGeom>
          <a:noFill/>
          <a:ln w="22225">
            <a:solidFill>
              <a:schemeClr val="tx2"/>
            </a:solidFill>
            <a:prstDash val="solid"/>
          </a:ln>
        </p:spPr>
      </p:sp>
      <p:sp>
        <p:nvSpPr>
          <p:cNvPr id="48" name="Forest Oxygen only point"/>
          <p:cNvSpPr/>
          <p:nvPr/>
        </p:nvSpPr>
        <p:spPr>
          <a:xfrm>
            <a:off x="5208527" y="4727448"/>
            <a:ext cx="146304" cy="146304"/>
          </a:xfrm>
          <a:prstGeom prst="rect">
            <a:avLst/>
          </a:prstGeom>
          <a:solidFill>
            <a:schemeClr val="accent1"/>
          </a:solidFill>
          <a:ln/>
        </p:spPr>
      </p:sp>
      <p:sp>
        <p:nvSpPr>
          <p:cNvPr id="49" name="Forest row: No respiratory support"/>
          <p:cNvSpPr txBox="1"/>
          <p:nvPr/>
        </p:nvSpPr>
        <p:spPr>
          <a:xfrm>
            <a:off x="731520" y="4974336"/>
            <a:ext cx="2011680" cy="347472"/>
          </a:xfrm>
          <a:prstGeom prst="rect">
            <a:avLst/>
          </a:prstGeom>
          <a:noFill/>
          <a:ln/>
        </p:spPr>
        <p:txBody>
          <a:bodyPr wrap="square" lIns="0" tIns="0" rIns="0" bIns="0" rtlCol="0" anchor="ctr"/>
          <a:lstStyle/>
          <a:p>
            <a:pPr indent="0" marL="0">
              <a:buNone/>
            </a:pPr>
            <a:r>
              <a:rPr lang="en-US" sz="1200" dirty="0">
                <a:solidFill>
                  <a:schemeClr val="tx1"/>
                </a:solidFill>
              </a:rPr>
              <a:t>No respiratory support</a:t>
            </a:r>
            <a:endParaRPr lang="en-US" sz="1200" dirty="0"/>
          </a:p>
        </p:txBody>
      </p:sp>
      <p:sp>
        <p:nvSpPr>
          <p:cNvPr id="50" name="Forest No respiratory support dexamethasone"/>
          <p:cNvSpPr txBox="1"/>
          <p:nvPr/>
        </p:nvSpPr>
        <p:spPr>
          <a:xfrm>
            <a:off x="2788920" y="4974336"/>
            <a:ext cx="658368" cy="347472"/>
          </a:xfrm>
          <a:prstGeom prst="rect">
            <a:avLst/>
          </a:prstGeom>
          <a:noFill/>
          <a:ln/>
        </p:spPr>
        <p:txBody>
          <a:bodyPr wrap="square" lIns="0" tIns="0" rIns="0" bIns="0" rtlCol="0" anchor="ctr"/>
          <a:lstStyle/>
          <a:p>
            <a:pPr algn="r" indent="0" marL="0">
              <a:buNone/>
            </a:pPr>
            <a:r>
              <a:rPr lang="en-US" sz="1200" dirty="0">
                <a:solidFill>
                  <a:schemeClr val="tx1"/>
                </a:solidFill>
              </a:rPr>
              <a:t>17.8%</a:t>
            </a:r>
            <a:endParaRPr lang="en-US" sz="1200" dirty="0"/>
          </a:p>
        </p:txBody>
      </p:sp>
      <p:sp>
        <p:nvSpPr>
          <p:cNvPr id="51" name="Forest No respiratory support usual care"/>
          <p:cNvSpPr txBox="1"/>
          <p:nvPr/>
        </p:nvSpPr>
        <p:spPr>
          <a:xfrm>
            <a:off x="3474720" y="4974336"/>
            <a:ext cx="777240" cy="347472"/>
          </a:xfrm>
          <a:prstGeom prst="rect">
            <a:avLst/>
          </a:prstGeom>
          <a:noFill/>
          <a:ln/>
        </p:spPr>
        <p:txBody>
          <a:bodyPr wrap="square" lIns="0" tIns="0" rIns="0" bIns="0" rtlCol="0" anchor="ctr"/>
          <a:lstStyle/>
          <a:p>
            <a:pPr algn="r" indent="0" marL="0">
              <a:buNone/>
            </a:pPr>
            <a:r>
              <a:rPr lang="en-US" sz="1200" dirty="0">
                <a:solidFill>
                  <a:schemeClr val="tx1"/>
                </a:solidFill>
              </a:rPr>
              <a:t>14.0%</a:t>
            </a:r>
            <a:endParaRPr lang="en-US" sz="1200" dirty="0"/>
          </a:p>
        </p:txBody>
      </p:sp>
      <p:sp>
        <p:nvSpPr>
          <p:cNvPr id="52" name="Forest No respiratory support estimate"/>
          <p:cNvSpPr txBox="1"/>
          <p:nvPr/>
        </p:nvSpPr>
        <p:spPr>
          <a:xfrm>
            <a:off x="6400800" y="4974336"/>
            <a:ext cx="1325880" cy="347472"/>
          </a:xfrm>
          <a:prstGeom prst="rect">
            <a:avLst/>
          </a:prstGeom>
          <a:noFill/>
          <a:ln/>
        </p:spPr>
        <p:txBody>
          <a:bodyPr wrap="square" lIns="0" tIns="0" rIns="0" bIns="0" rtlCol="0" anchor="ctr"/>
          <a:lstStyle/>
          <a:p>
            <a:pPr algn="r" indent="0" marL="0">
              <a:buNone/>
            </a:pPr>
            <a:r>
              <a:rPr lang="en-US" sz="1200" dirty="0">
                <a:solidFill>
                  <a:schemeClr val="tx1"/>
                </a:solidFill>
              </a:rPr>
              <a:t>1.19 (0.92–1.55)</a:t>
            </a:r>
            <a:endParaRPr lang="en-US" sz="1200" dirty="0"/>
          </a:p>
        </p:txBody>
      </p:sp>
      <p:sp>
        <p:nvSpPr>
          <p:cNvPr id="53" name="Forest No respiratory support interval"/>
          <p:cNvSpPr/>
          <p:nvPr/>
        </p:nvSpPr>
        <p:spPr>
          <a:xfrm>
            <a:off x="5432085" y="5148072"/>
            <a:ext cx="681824" cy="0"/>
          </a:xfrm>
          <a:prstGeom prst="line">
            <a:avLst/>
          </a:prstGeom>
          <a:noFill/>
          <a:ln w="22225">
            <a:solidFill>
              <a:schemeClr val="tx2"/>
            </a:solidFill>
            <a:prstDash val="solid"/>
          </a:ln>
        </p:spPr>
      </p:sp>
      <p:sp>
        <p:nvSpPr>
          <p:cNvPr id="54" name="Forest No respiratory support point"/>
          <p:cNvSpPr/>
          <p:nvPr/>
        </p:nvSpPr>
        <p:spPr>
          <a:xfrm>
            <a:off x="5695292" y="5074920"/>
            <a:ext cx="146304" cy="146304"/>
          </a:xfrm>
          <a:prstGeom prst="rect">
            <a:avLst/>
          </a:prstGeom>
          <a:solidFill>
            <a:schemeClr val="accent1"/>
          </a:solidFill>
          <a:ln/>
        </p:spPr>
      </p:sp>
      <p:sp>
        <p:nvSpPr>
          <p:cNvPr id="55" name="Forest row: All patients"/>
          <p:cNvSpPr txBox="1"/>
          <p:nvPr/>
        </p:nvSpPr>
        <p:spPr>
          <a:xfrm>
            <a:off x="731520" y="5321808"/>
            <a:ext cx="2011680" cy="347472"/>
          </a:xfrm>
          <a:prstGeom prst="rect">
            <a:avLst/>
          </a:prstGeom>
          <a:noFill/>
          <a:ln/>
        </p:spPr>
        <p:txBody>
          <a:bodyPr wrap="square" lIns="0" tIns="0" rIns="0" bIns="0" rtlCol="0" anchor="ctr"/>
          <a:lstStyle/>
          <a:p>
            <a:pPr indent="0" marL="0">
              <a:buNone/>
            </a:pPr>
            <a:r>
              <a:rPr lang="en-US" sz="1200" b="1" dirty="0">
                <a:solidFill>
                  <a:schemeClr val="tx2"/>
                </a:solidFill>
              </a:rPr>
              <a:t>All patients</a:t>
            </a:r>
            <a:endParaRPr lang="en-US" sz="1200" dirty="0"/>
          </a:p>
        </p:txBody>
      </p:sp>
      <p:sp>
        <p:nvSpPr>
          <p:cNvPr id="56" name="Forest All patients dexamethasone"/>
          <p:cNvSpPr txBox="1"/>
          <p:nvPr/>
        </p:nvSpPr>
        <p:spPr>
          <a:xfrm>
            <a:off x="2788920" y="5321808"/>
            <a:ext cx="658368" cy="347472"/>
          </a:xfrm>
          <a:prstGeom prst="rect">
            <a:avLst/>
          </a:prstGeom>
          <a:noFill/>
          <a:ln/>
        </p:spPr>
        <p:txBody>
          <a:bodyPr wrap="square" lIns="0" tIns="0" rIns="0" bIns="0" rtlCol="0" anchor="ctr"/>
          <a:lstStyle/>
          <a:p>
            <a:pPr algn="r" indent="0" marL="0">
              <a:buNone/>
            </a:pPr>
            <a:r>
              <a:rPr lang="en-US" sz="1200" b="1" dirty="0">
                <a:solidFill>
                  <a:schemeClr val="tx2"/>
                </a:solidFill>
              </a:rPr>
              <a:t>22.9%</a:t>
            </a:r>
            <a:endParaRPr lang="en-US" sz="1200" dirty="0"/>
          </a:p>
        </p:txBody>
      </p:sp>
      <p:sp>
        <p:nvSpPr>
          <p:cNvPr id="57" name="Forest All patients usual care"/>
          <p:cNvSpPr txBox="1"/>
          <p:nvPr/>
        </p:nvSpPr>
        <p:spPr>
          <a:xfrm>
            <a:off x="3474720" y="5321808"/>
            <a:ext cx="777240" cy="347472"/>
          </a:xfrm>
          <a:prstGeom prst="rect">
            <a:avLst/>
          </a:prstGeom>
          <a:noFill/>
          <a:ln/>
        </p:spPr>
        <p:txBody>
          <a:bodyPr wrap="square" lIns="0" tIns="0" rIns="0" bIns="0" rtlCol="0" anchor="ctr"/>
          <a:lstStyle/>
          <a:p>
            <a:pPr algn="r" indent="0" marL="0">
              <a:buNone/>
            </a:pPr>
            <a:r>
              <a:rPr lang="en-US" sz="1200" b="1" dirty="0">
                <a:solidFill>
                  <a:schemeClr val="tx2"/>
                </a:solidFill>
              </a:rPr>
              <a:t>25.7%</a:t>
            </a:r>
            <a:endParaRPr lang="en-US" sz="1200" dirty="0"/>
          </a:p>
        </p:txBody>
      </p:sp>
      <p:sp>
        <p:nvSpPr>
          <p:cNvPr id="58" name="Forest All patients estimate"/>
          <p:cNvSpPr txBox="1"/>
          <p:nvPr/>
        </p:nvSpPr>
        <p:spPr>
          <a:xfrm>
            <a:off x="6400800" y="5321808"/>
            <a:ext cx="1325880" cy="347472"/>
          </a:xfrm>
          <a:prstGeom prst="rect">
            <a:avLst/>
          </a:prstGeom>
          <a:noFill/>
          <a:ln/>
        </p:spPr>
        <p:txBody>
          <a:bodyPr wrap="square" lIns="0" tIns="0" rIns="0" bIns="0" rtlCol="0" anchor="ctr"/>
          <a:lstStyle/>
          <a:p>
            <a:pPr algn="r" indent="0" marL="0">
              <a:buNone/>
            </a:pPr>
            <a:r>
              <a:rPr lang="en-US" sz="1200" b="1" dirty="0">
                <a:solidFill>
                  <a:schemeClr val="tx2"/>
                </a:solidFill>
              </a:rPr>
              <a:t>0.83 (0.75–0.93)</a:t>
            </a:r>
            <a:endParaRPr lang="en-US" sz="1200" dirty="0"/>
          </a:p>
        </p:txBody>
      </p:sp>
      <p:sp>
        <p:nvSpPr>
          <p:cNvPr id="59" name="Forest All patients interval"/>
          <p:cNvSpPr/>
          <p:nvPr/>
        </p:nvSpPr>
        <p:spPr>
          <a:xfrm>
            <a:off x="5165046" y="5495544"/>
            <a:ext cx="281169" cy="0"/>
          </a:xfrm>
          <a:prstGeom prst="line">
            <a:avLst/>
          </a:prstGeom>
          <a:noFill/>
          <a:ln w="22225">
            <a:solidFill>
              <a:schemeClr val="tx2"/>
            </a:solidFill>
            <a:prstDash val="solid"/>
          </a:ln>
        </p:spPr>
      </p:sp>
      <p:sp>
        <p:nvSpPr>
          <p:cNvPr id="60" name="Forest All patients point"/>
          <p:cNvSpPr/>
          <p:nvPr/>
        </p:nvSpPr>
        <p:spPr>
          <a:xfrm>
            <a:off x="5187795" y="5385816"/>
            <a:ext cx="219456" cy="219456"/>
          </a:xfrm>
          <a:prstGeom prst="diamond">
            <a:avLst/>
          </a:prstGeom>
          <a:solidFill>
            <a:schemeClr val="tx2"/>
          </a:solidFill>
          <a:ln/>
        </p:spPr>
      </p:sp>
      <p:sp>
        <p:nvSpPr>
          <p:cNvPr id="61" name="Forest axis"/>
          <p:cNvSpPr/>
          <p:nvPr/>
        </p:nvSpPr>
        <p:spPr>
          <a:xfrm>
            <a:off x="4343400" y="5742432"/>
            <a:ext cx="1965960" cy="0"/>
          </a:xfrm>
          <a:prstGeom prst="line">
            <a:avLst/>
          </a:prstGeom>
          <a:noFill/>
          <a:ln w="12700">
            <a:solidFill>
              <a:schemeClr val="accent5"/>
            </a:solidFill>
            <a:prstDash val="solid"/>
          </a:ln>
        </p:spPr>
      </p:sp>
      <p:sp>
        <p:nvSpPr>
          <p:cNvPr id="62" name="Forest tick 0.5"/>
          <p:cNvSpPr txBox="1"/>
          <p:nvPr/>
        </p:nvSpPr>
        <p:spPr>
          <a:xfrm>
            <a:off x="4406468" y="576986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0.5</a:t>
            </a:r>
            <a:endParaRPr lang="en-US" sz="1000" dirty="0"/>
          </a:p>
        </p:txBody>
      </p:sp>
      <p:sp>
        <p:nvSpPr>
          <p:cNvPr id="63" name="Forest tick 0.75"/>
          <p:cNvSpPr txBox="1"/>
          <p:nvPr/>
        </p:nvSpPr>
        <p:spPr>
          <a:xfrm>
            <a:off x="4936446" y="576986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0.75</a:t>
            </a:r>
            <a:endParaRPr lang="en-US" sz="1000" dirty="0"/>
          </a:p>
        </p:txBody>
      </p:sp>
      <p:sp>
        <p:nvSpPr>
          <p:cNvPr id="64" name="Forest tick 1"/>
          <p:cNvSpPr txBox="1"/>
          <p:nvPr/>
        </p:nvSpPr>
        <p:spPr>
          <a:xfrm>
            <a:off x="5312472" y="576986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1</a:t>
            </a:r>
            <a:endParaRPr lang="en-US" sz="1000" dirty="0"/>
          </a:p>
        </p:txBody>
      </p:sp>
      <p:sp>
        <p:nvSpPr>
          <p:cNvPr id="65" name="Forest tick 1.5"/>
          <p:cNvSpPr txBox="1"/>
          <p:nvPr/>
        </p:nvSpPr>
        <p:spPr>
          <a:xfrm>
            <a:off x="5842450" y="576986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1.5</a:t>
            </a:r>
            <a:endParaRPr lang="en-US" sz="1000" dirty="0"/>
          </a:p>
        </p:txBody>
      </p:sp>
      <p:sp>
        <p:nvSpPr>
          <p:cNvPr id="66" name="Forest label left"/>
          <p:cNvSpPr txBox="1"/>
          <p:nvPr/>
        </p:nvSpPr>
        <p:spPr>
          <a:xfrm>
            <a:off x="3794760" y="5961888"/>
            <a:ext cx="1700592" cy="201168"/>
          </a:xfrm>
          <a:prstGeom prst="rect">
            <a:avLst/>
          </a:prstGeom>
          <a:noFill/>
          <a:ln/>
        </p:spPr>
        <p:txBody>
          <a:bodyPr wrap="square" lIns="0" tIns="0" rIns="0" bIns="0" rtlCol="0" anchor="t"/>
          <a:lstStyle/>
          <a:p>
            <a:pPr algn="r" indent="0" marL="0">
              <a:buNone/>
            </a:pPr>
            <a:r>
              <a:rPr lang="en-US" sz="1000" dirty="0">
                <a:solidFill>
                  <a:schemeClr val="accent5"/>
                </a:solidFill>
              </a:rPr>
              <a:t>← favors dexamethasone</a:t>
            </a:r>
            <a:endParaRPr lang="en-US" sz="1000" dirty="0"/>
          </a:p>
        </p:txBody>
      </p:sp>
      <p:sp>
        <p:nvSpPr>
          <p:cNvPr id="67" name="Forest label right"/>
          <p:cNvSpPr txBox="1"/>
          <p:nvPr/>
        </p:nvSpPr>
        <p:spPr>
          <a:xfrm>
            <a:off x="5614224" y="5961888"/>
            <a:ext cx="1463040" cy="201168"/>
          </a:xfrm>
          <a:prstGeom prst="rect">
            <a:avLst/>
          </a:prstGeom>
          <a:noFill/>
          <a:ln/>
        </p:spPr>
        <p:txBody>
          <a:bodyPr wrap="square" lIns="0" tIns="0" rIns="0" bIns="0" rtlCol="0" anchor="t"/>
          <a:lstStyle/>
          <a:p>
            <a:pPr indent="0" marL="0">
              <a:buNone/>
            </a:pPr>
            <a:r>
              <a:rPr lang="en-US" sz="1000" dirty="0">
                <a:solidFill>
                  <a:schemeClr val="accent5"/>
                </a:solidFill>
              </a:rPr>
              <a:t>favors usual care →</a:t>
            </a:r>
            <a:endParaRPr lang="en-US" sz="1000" dirty="0"/>
          </a:p>
        </p:txBody>
      </p:sp>
      <p:sp>
        <p:nvSpPr>
          <p:cNvPr id="68" name="Forest source"/>
          <p:cNvSpPr txBox="1"/>
          <p:nvPr/>
        </p:nvSpPr>
        <p:spPr>
          <a:xfrm>
            <a:off x="731520" y="5980176"/>
            <a:ext cx="3154680" cy="201168"/>
          </a:xfrm>
          <a:prstGeom prst="rect">
            <a:avLst/>
          </a:prstGeom>
          <a:noFill/>
          <a:ln/>
        </p:spPr>
        <p:txBody>
          <a:bodyPr wrap="square" lIns="0" tIns="0" rIns="0" bIns="0" rtlCol="0" anchor="t"/>
          <a:lstStyle/>
          <a:p>
            <a:pPr indent="0" marL="0">
              <a:buNone/>
            </a:pPr>
            <a:r>
              <a:rPr lang="en-US" sz="900" i="1" dirty="0">
                <a:solidFill>
                  <a:schemeClr val="accent5"/>
                </a:solidFill>
              </a:rPr>
              <a:t>Log scale. Redrawn from RECOVERY, NEJM 2021.</a:t>
            </a:r>
            <a:endParaRPr lang="en-US" sz="900" dirty="0"/>
          </a:p>
        </p:txBody>
      </p:sp>
      <p:sp>
        <p:nvSpPr>
          <p:cNvPr id="69" name="Reproducibility panel"/>
          <p:cNvSpPr/>
          <p:nvPr/>
        </p:nvSpPr>
        <p:spPr>
          <a:xfrm>
            <a:off x="8046720" y="3291840"/>
            <a:ext cx="3596335" cy="2999232"/>
          </a:xfrm>
          <a:prstGeom prst="roundRect">
            <a:avLst>
              <a:gd name="adj" fmla="val 1829"/>
            </a:avLst>
          </a:prstGeom>
          <a:solidFill>
            <a:schemeClr val="tx2"/>
          </a:solidFill>
          <a:ln/>
        </p:spPr>
      </p:sp>
      <p:sp>
        <p:nvSpPr>
          <p:cNvPr id="70" name="Reproducibility tag"/>
          <p:cNvSpPr txBox="1"/>
          <p:nvPr/>
        </p:nvSpPr>
        <p:spPr>
          <a:xfrm>
            <a:off x="8275320" y="3456432"/>
            <a:ext cx="3139135"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REPRODUCIBILITY CHECK</a:t>
            </a:r>
            <a:endParaRPr lang="en-US" sz="1000" dirty="0"/>
          </a:p>
        </p:txBody>
      </p:sp>
      <p:sp>
        <p:nvSpPr>
          <p:cNvPr id="71" name="Reproducibility statistic"/>
          <p:cNvSpPr txBox="1"/>
          <p:nvPr/>
        </p:nvSpPr>
        <p:spPr>
          <a:xfrm>
            <a:off x="8275320" y="3703320"/>
            <a:ext cx="3139135" cy="594360"/>
          </a:xfrm>
          <a:prstGeom prst="rect">
            <a:avLst/>
          </a:prstGeom>
          <a:noFill/>
          <a:ln/>
        </p:spPr>
        <p:txBody>
          <a:bodyPr wrap="square" lIns="0" tIns="0" rIns="0" bIns="0" rtlCol="0" anchor="ctr"/>
          <a:lstStyle/>
          <a:p>
            <a:pPr indent="0" marL="0">
              <a:buNone/>
            </a:pPr>
            <a:r>
              <a:rPr lang="en-US" sz="3600" b="1" dirty="0">
                <a:solidFill>
                  <a:schemeClr val="bg1"/>
                </a:solidFill>
                <a:latin typeface="+mj-lt" pitchFamily="34" charset="0"/>
                <a:ea typeface="+mj-lt" pitchFamily="34" charset="-122"/>
                <a:cs typeface="+mj-lt" pitchFamily="34" charset="-120"/>
              </a:rPr>
              <a:t>97%</a:t>
            </a:r>
            <a:pPr indent="0" marL="0">
              <a:buNone/>
            </a:pPr>
            <a:r>
              <a:rPr lang="en-US" sz="3600" b="1" dirty="0">
                <a:solidFill>
                  <a:schemeClr val="accent6"/>
                </a:solidFill>
                <a:latin typeface="+mn-lt" pitchFamily="34" charset="0"/>
                <a:ea typeface="+mn-lt" pitchFamily="34" charset="-122"/>
                <a:cs typeface="+mn-lt" pitchFamily="34" charset="-120"/>
              </a:rPr>
              <a:t> → </a:t>
            </a:r>
            <a:pPr indent="0" marL="0">
              <a:buNone/>
            </a:pPr>
            <a:r>
              <a:rPr lang="en-US" sz="3600" b="1" dirty="0">
                <a:solidFill>
                  <a:schemeClr val="accent2"/>
                </a:solidFill>
                <a:latin typeface="+mj-lt" pitchFamily="34" charset="0"/>
                <a:ea typeface="+mj-lt" pitchFamily="34" charset="-122"/>
                <a:cs typeface="+mj-lt" pitchFamily="34" charset="-120"/>
              </a:rPr>
              <a:t>36%</a:t>
            </a:r>
            <a:endParaRPr lang="en-US" sz="3600" dirty="0"/>
          </a:p>
        </p:txBody>
      </p:sp>
      <p:sp>
        <p:nvSpPr>
          <p:cNvPr id="72" name="Reproducibility text"/>
          <p:cNvSpPr txBox="1"/>
          <p:nvPr/>
        </p:nvSpPr>
        <p:spPr>
          <a:xfrm>
            <a:off x="8275320" y="4343400"/>
            <a:ext cx="3139135" cy="868680"/>
          </a:xfrm>
          <a:prstGeom prst="rect">
            <a:avLst/>
          </a:prstGeom>
          <a:noFill/>
          <a:ln/>
        </p:spPr>
        <p:txBody>
          <a:bodyPr wrap="square" lIns="0" tIns="0" rIns="0" bIns="0" rtlCol="0" anchor="t"/>
          <a:lstStyle/>
          <a:p>
            <a:pPr indent="0" marL="0">
              <a:buNone/>
            </a:pPr>
            <a:r>
              <a:rPr lang="en-US" sz="1200" dirty="0">
                <a:solidFill>
                  <a:schemeClr val="bg1"/>
                </a:solidFill>
              </a:rPr>
              <a:t>of 100 published psychology studies reported significant results; only 36% of their high-powered replications did. Replication effects were about half as large.</a:t>
            </a:r>
            <a:endParaRPr lang="en-US" sz="1200" dirty="0"/>
          </a:p>
        </p:txBody>
      </p:sp>
      <p:sp>
        <p:nvSpPr>
          <p:cNvPr id="73" name="Reproducibility source"/>
          <p:cNvSpPr txBox="1"/>
          <p:nvPr/>
        </p:nvSpPr>
        <p:spPr>
          <a:xfrm>
            <a:off x="8275320" y="5230368"/>
            <a:ext cx="3139135" cy="201168"/>
          </a:xfrm>
          <a:prstGeom prst="rect">
            <a:avLst/>
          </a:prstGeom>
          <a:noFill/>
          <a:ln/>
        </p:spPr>
        <p:txBody>
          <a:bodyPr wrap="square" lIns="0" tIns="0" rIns="0" bIns="0" rtlCol="0" anchor="t"/>
          <a:lstStyle/>
          <a:p>
            <a:pPr indent="0" marL="0">
              <a:buNone/>
            </a:pPr>
            <a:r>
              <a:rPr lang="en-US" sz="1000" dirty="0">
                <a:solidFill>
                  <a:schemeClr val="accent6"/>
                </a:solidFill>
              </a:rPr>
              <a:t>Open Science Collaboration (2015), Science</a:t>
            </a:r>
            <a:endParaRPr lang="en-US" sz="1000" dirty="0"/>
          </a:p>
        </p:txBody>
      </p:sp>
      <p:sp>
        <p:nvSpPr>
          <p:cNvPr id="74" name="Reproducibility lesson"/>
          <p:cNvSpPr txBox="1"/>
          <p:nvPr/>
        </p:nvSpPr>
        <p:spPr>
          <a:xfrm>
            <a:off x="8275320" y="5486400"/>
            <a:ext cx="3139135" cy="685800"/>
          </a:xfrm>
          <a:prstGeom prst="rect">
            <a:avLst/>
          </a:prstGeom>
          <a:noFill/>
          <a:ln/>
        </p:spPr>
        <p:txBody>
          <a:bodyPr wrap="square" lIns="0" tIns="0" rIns="0" bIns="0" rtlCol="0" anchor="t"/>
          <a:lstStyle/>
          <a:p>
            <a:pPr indent="0" marL="0">
              <a:buNone/>
            </a:pPr>
            <a:r>
              <a:rPr lang="en-US" sz="1150" i="1" dirty="0">
                <a:solidFill>
                  <a:schemeClr val="accent6"/>
                </a:solidFill>
              </a:rPr>
              <a:t>Low power, flexible analysis and selective publication inflate findings; pre-registration and open data counter them.</a:t>
            </a:r>
            <a:endParaRPr lang="en-US" sz="11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5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5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5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5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5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06 · PRACTICAL CASE STUDY</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Does a redesigned product page lift conversion?</a:t>
            </a:r>
            <a:endParaRPr lang="en-US" sz="3400" dirty="0"/>
          </a:p>
        </p:txBody>
      </p:sp>
      <p:sp>
        <p:nvSpPr>
          <p:cNvPr id="4" name="Illustrative data badge"/>
          <p:cNvSpPr/>
          <p:nvPr/>
        </p:nvSpPr>
        <p:spPr>
          <a:xfrm>
            <a:off x="7982712" y="347472"/>
            <a:ext cx="3657600" cy="329184"/>
          </a:xfrm>
          <a:prstGeom prst="roundRect">
            <a:avLst>
              <a:gd name="adj" fmla="val 50000"/>
            </a:avLst>
          </a:prstGeom>
          <a:solidFill>
            <a:schemeClr val="accent2"/>
          </a:solidFill>
          <a:ln/>
        </p:spPr>
      </p:sp>
      <p:sp>
        <p:nvSpPr>
          <p:cNvPr id="5" name="Illustrative data badge text"/>
          <p:cNvSpPr txBox="1"/>
          <p:nvPr/>
        </p:nvSpPr>
        <p:spPr>
          <a:xfrm>
            <a:off x="7982712" y="347472"/>
            <a:ext cx="3657600" cy="329184"/>
          </a:xfrm>
          <a:prstGeom prst="rect">
            <a:avLst/>
          </a:prstGeom>
          <a:noFill/>
          <a:ln/>
        </p:spPr>
        <p:txBody>
          <a:bodyPr wrap="square" lIns="0" tIns="0" rIns="0" bIns="0" rtlCol="0" anchor="ctr"/>
          <a:lstStyle/>
          <a:p>
            <a:pPr algn="ctr" indent="0" marL="0">
              <a:buNone/>
            </a:pPr>
            <a:r>
              <a:rPr lang="en-US" sz="1100" b="1" dirty="0">
                <a:solidFill>
                  <a:schemeClr val="tx2"/>
                </a:solidFill>
              </a:rPr>
              <a:t>ILLUSTRATIVE DATA  </a:t>
            </a:r>
            <a:pPr algn="ctr" indent="0" marL="0">
              <a:buNone/>
            </a:pPr>
            <a:r>
              <a:rPr lang="en-US" sz="1100" dirty="0">
                <a:solidFill>
                  <a:schemeClr val="tx2"/>
                </a:solidFill>
              </a:rPr>
              <a:t>hypothetical, not real company results</a:t>
            </a:r>
            <a:endParaRPr lang="en-US" sz="1100" dirty="0"/>
          </a:p>
        </p:txBody>
      </p:sp>
      <p:sp>
        <p:nvSpPr>
          <p:cNvPr id="6" name="Design heading"/>
          <p:cNvSpPr txBox="1"/>
          <p:nvPr/>
        </p:nvSpPr>
        <p:spPr>
          <a:xfrm>
            <a:off x="548640" y="1517904"/>
            <a:ext cx="3520440" cy="310896"/>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1  </a:t>
            </a:r>
            <a:pPr indent="0" marL="0">
              <a:buNone/>
            </a:pPr>
            <a:r>
              <a:rPr lang="en-US" sz="1600" b="1" dirty="0">
                <a:solidFill>
                  <a:schemeClr val="tx2"/>
                </a:solidFill>
                <a:latin typeface="+mj-lt" pitchFamily="34" charset="0"/>
                <a:ea typeface="+mj-lt" pitchFamily="34" charset="-122"/>
                <a:cs typeface="+mj-lt" pitchFamily="34" charset="-120"/>
              </a:rPr>
              <a:t>Design</a:t>
            </a:r>
            <a:endParaRPr lang="en-US" sz="1600" dirty="0"/>
          </a:p>
        </p:txBody>
      </p:sp>
      <p:sp>
        <p:nvSpPr>
          <p:cNvPr id="7" name="Visitors box"/>
          <p:cNvSpPr/>
          <p:nvPr/>
        </p:nvSpPr>
        <p:spPr>
          <a:xfrm>
            <a:off x="548640" y="1938528"/>
            <a:ext cx="3520440" cy="384048"/>
          </a:xfrm>
          <a:prstGeom prst="roundRect">
            <a:avLst>
              <a:gd name="adj" fmla="val 14286"/>
            </a:avLst>
          </a:prstGeom>
          <a:solidFill>
            <a:schemeClr val="bg2"/>
          </a:solidFill>
          <a:ln/>
        </p:spPr>
      </p:sp>
      <p:sp>
        <p:nvSpPr>
          <p:cNvPr id="8" name="Visitors text"/>
          <p:cNvSpPr txBox="1"/>
          <p:nvPr/>
        </p:nvSpPr>
        <p:spPr>
          <a:xfrm>
            <a:off x="548640" y="1938528"/>
            <a:ext cx="3520440" cy="384048"/>
          </a:xfrm>
          <a:prstGeom prst="rect">
            <a:avLst/>
          </a:prstGeom>
          <a:noFill/>
          <a:ln/>
        </p:spPr>
        <p:txBody>
          <a:bodyPr wrap="square" lIns="0" tIns="0" rIns="0" bIns="0" rtlCol="0" anchor="ctr"/>
          <a:lstStyle/>
          <a:p>
            <a:pPr algn="ctr" indent="0" marL="0">
              <a:buNone/>
            </a:pPr>
            <a:r>
              <a:rPr lang="en-US" sz="1250" b="1" dirty="0">
                <a:solidFill>
                  <a:schemeClr val="tx2"/>
                </a:solidFill>
              </a:rPr>
              <a:t>40,000 product-page visitors</a:t>
            </a:r>
            <a:endParaRPr lang="en-US" sz="1250" dirty="0"/>
          </a:p>
        </p:txBody>
      </p:sp>
      <p:sp>
        <p:nvSpPr>
          <p:cNvPr id="9" name="Arrow to randomization"/>
          <p:cNvSpPr/>
          <p:nvPr/>
        </p:nvSpPr>
        <p:spPr>
          <a:xfrm>
            <a:off x="2308860" y="2322576"/>
            <a:ext cx="0" cy="182880"/>
          </a:xfrm>
          <a:prstGeom prst="line">
            <a:avLst/>
          </a:prstGeom>
          <a:noFill/>
          <a:ln w="19050">
            <a:solidFill>
              <a:schemeClr val="accent5"/>
            </a:solidFill>
            <a:prstDash val="solid"/>
            <a:tailEnd type="triangle"/>
          </a:ln>
        </p:spPr>
      </p:sp>
      <p:sp>
        <p:nvSpPr>
          <p:cNvPr id="10" name="Randomization pill"/>
          <p:cNvSpPr/>
          <p:nvPr/>
        </p:nvSpPr>
        <p:spPr>
          <a:xfrm>
            <a:off x="1097280" y="2523744"/>
            <a:ext cx="2423160" cy="329184"/>
          </a:xfrm>
          <a:prstGeom prst="roundRect">
            <a:avLst>
              <a:gd name="adj" fmla="val 50000"/>
            </a:avLst>
          </a:prstGeom>
          <a:solidFill>
            <a:schemeClr val="tx2"/>
          </a:solidFill>
          <a:ln/>
        </p:spPr>
      </p:sp>
      <p:sp>
        <p:nvSpPr>
          <p:cNvPr id="11" name="Randomization text"/>
          <p:cNvSpPr txBox="1"/>
          <p:nvPr/>
        </p:nvSpPr>
        <p:spPr>
          <a:xfrm>
            <a:off x="1097280" y="2523744"/>
            <a:ext cx="2423160" cy="329184"/>
          </a:xfrm>
          <a:prstGeom prst="rect">
            <a:avLst/>
          </a:prstGeom>
          <a:noFill/>
          <a:ln/>
        </p:spPr>
        <p:txBody>
          <a:bodyPr wrap="square" lIns="0" tIns="0" rIns="0" bIns="0" rtlCol="0" anchor="ctr"/>
          <a:lstStyle/>
          <a:p>
            <a:pPr algn="ctr" indent="0" marL="0">
              <a:buNone/>
            </a:pPr>
            <a:r>
              <a:rPr lang="en-US" sz="1150" b="1" dirty="0">
                <a:solidFill>
                  <a:schemeClr val="bg1"/>
                </a:solidFill>
              </a:rPr>
              <a:t>Random assignment, 50 / 50</a:t>
            </a:r>
            <a:endParaRPr lang="en-US" sz="1150" dirty="0"/>
          </a:p>
        </p:txBody>
      </p:sp>
      <p:sp>
        <p:nvSpPr>
          <p:cNvPr id="12" name="Arrow to control"/>
          <p:cNvSpPr/>
          <p:nvPr/>
        </p:nvSpPr>
        <p:spPr>
          <a:xfrm flipH="1">
            <a:off x="1371600" y="2852928"/>
            <a:ext cx="937260" cy="201168"/>
          </a:xfrm>
          <a:prstGeom prst="line">
            <a:avLst/>
          </a:prstGeom>
          <a:noFill/>
          <a:ln w="19050">
            <a:solidFill>
              <a:schemeClr val="accent5"/>
            </a:solidFill>
            <a:prstDash val="solid"/>
            <a:tailEnd type="triangle"/>
          </a:ln>
        </p:spPr>
      </p:sp>
      <p:sp>
        <p:nvSpPr>
          <p:cNvPr id="13" name="Arrow to treatment"/>
          <p:cNvSpPr/>
          <p:nvPr/>
        </p:nvSpPr>
        <p:spPr>
          <a:xfrm>
            <a:off x="2308860" y="2852928"/>
            <a:ext cx="937260" cy="201168"/>
          </a:xfrm>
          <a:prstGeom prst="line">
            <a:avLst/>
          </a:prstGeom>
          <a:noFill/>
          <a:ln w="19050">
            <a:solidFill>
              <a:schemeClr val="accent5"/>
            </a:solidFill>
            <a:prstDash val="solid"/>
            <a:tailEnd type="triangle"/>
          </a:ln>
        </p:spPr>
      </p:sp>
      <p:sp>
        <p:nvSpPr>
          <p:cNvPr id="14" name="A · Control box"/>
          <p:cNvSpPr/>
          <p:nvPr/>
        </p:nvSpPr>
        <p:spPr>
          <a:xfrm>
            <a:off x="548640" y="3072384"/>
            <a:ext cx="1645920" cy="713232"/>
          </a:xfrm>
          <a:prstGeom prst="roundRect">
            <a:avLst>
              <a:gd name="adj" fmla="val 7692"/>
            </a:avLst>
          </a:prstGeom>
          <a:solidFill>
            <a:schemeClr val="accent3"/>
          </a:solidFill>
          <a:ln/>
        </p:spPr>
      </p:sp>
      <p:sp>
        <p:nvSpPr>
          <p:cNvPr id="15" name="A · Control text"/>
          <p:cNvSpPr txBox="1"/>
          <p:nvPr/>
        </p:nvSpPr>
        <p:spPr>
          <a:xfrm>
            <a:off x="640080" y="3072384"/>
            <a:ext cx="1463040" cy="713232"/>
          </a:xfrm>
          <a:prstGeom prst="rect">
            <a:avLst/>
          </a:prstGeom>
          <a:noFill/>
          <a:ln/>
        </p:spPr>
        <p:txBody>
          <a:bodyPr wrap="square" lIns="0" tIns="0" rIns="0" bIns="0" rtlCol="0" anchor="ctr"/>
          <a:lstStyle/>
          <a:p>
            <a:pPr algn="ctr" indent="0" marL="0">
              <a:buNone/>
            </a:pPr>
            <a:r>
              <a:rPr lang="en-US" sz="1250" b="1" dirty="0">
                <a:solidFill>
                  <a:schemeClr val="bg1"/>
                </a:solidFill>
              </a:rPr>
              <a:t>A · Control</a:t>
            </a:r>
            <a:endParaRPr lang="en-US" sz="1250" dirty="0"/>
          </a:p>
          <a:p>
            <a:pPr algn="ctr" indent="0" marL="0">
              <a:buNone/>
            </a:pPr>
            <a:r>
              <a:rPr lang="en-US" sz="1100" dirty="0">
                <a:solidFill>
                  <a:schemeClr val="bg1"/>
                </a:solidFill>
              </a:rPr>
              <a:t>current page</a:t>
            </a:r>
            <a:endParaRPr lang="en-US" sz="1250" dirty="0"/>
          </a:p>
          <a:p>
            <a:pPr algn="ctr" indent="0" marL="0">
              <a:buNone/>
            </a:pPr>
            <a:r>
              <a:rPr lang="en-US" sz="1100" dirty="0">
                <a:solidFill>
                  <a:schemeClr val="bg1"/>
                </a:solidFill>
              </a:rPr>
              <a:t>n = 20,000</a:t>
            </a:r>
            <a:endParaRPr lang="en-US" sz="1250" dirty="0"/>
          </a:p>
        </p:txBody>
      </p:sp>
      <p:sp>
        <p:nvSpPr>
          <p:cNvPr id="16" name="B · Treatment box"/>
          <p:cNvSpPr/>
          <p:nvPr/>
        </p:nvSpPr>
        <p:spPr>
          <a:xfrm>
            <a:off x="2423160" y="3072384"/>
            <a:ext cx="1645920" cy="713232"/>
          </a:xfrm>
          <a:prstGeom prst="roundRect">
            <a:avLst>
              <a:gd name="adj" fmla="val 7692"/>
            </a:avLst>
          </a:prstGeom>
          <a:solidFill>
            <a:schemeClr val="accent1"/>
          </a:solidFill>
          <a:ln/>
        </p:spPr>
      </p:sp>
      <p:sp>
        <p:nvSpPr>
          <p:cNvPr id="17" name="B · Treatment text"/>
          <p:cNvSpPr txBox="1"/>
          <p:nvPr/>
        </p:nvSpPr>
        <p:spPr>
          <a:xfrm>
            <a:off x="2514600" y="3072384"/>
            <a:ext cx="1463040" cy="713232"/>
          </a:xfrm>
          <a:prstGeom prst="rect">
            <a:avLst/>
          </a:prstGeom>
          <a:noFill/>
          <a:ln/>
        </p:spPr>
        <p:txBody>
          <a:bodyPr wrap="square" lIns="0" tIns="0" rIns="0" bIns="0" rtlCol="0" anchor="ctr"/>
          <a:lstStyle/>
          <a:p>
            <a:pPr algn="ctr" indent="0" marL="0">
              <a:buNone/>
            </a:pPr>
            <a:r>
              <a:rPr lang="en-US" sz="1250" b="1" dirty="0">
                <a:solidFill>
                  <a:schemeClr val="bg1"/>
                </a:solidFill>
              </a:rPr>
              <a:t>B · Treatment</a:t>
            </a:r>
            <a:endParaRPr lang="en-US" sz="1250" dirty="0"/>
          </a:p>
          <a:p>
            <a:pPr algn="ctr" indent="0" marL="0">
              <a:buNone/>
            </a:pPr>
            <a:r>
              <a:rPr lang="en-US" sz="1100" dirty="0">
                <a:solidFill>
                  <a:schemeClr val="bg1"/>
                </a:solidFill>
              </a:rPr>
              <a:t>redesigned page</a:t>
            </a:r>
            <a:endParaRPr lang="en-US" sz="1250" dirty="0"/>
          </a:p>
          <a:p>
            <a:pPr algn="ctr" indent="0" marL="0">
              <a:buNone/>
            </a:pPr>
            <a:r>
              <a:rPr lang="en-US" sz="1100" dirty="0">
                <a:solidFill>
                  <a:schemeClr val="bg1"/>
                </a:solidFill>
              </a:rPr>
              <a:t>n = 20,000</a:t>
            </a:r>
            <a:endParaRPr lang="en-US" sz="1250" dirty="0"/>
          </a:p>
        </p:txBody>
      </p:sp>
      <p:sp>
        <p:nvSpPr>
          <p:cNvPr id="18" name="Design details"/>
          <p:cNvSpPr txBox="1"/>
          <p:nvPr/>
        </p:nvSpPr>
        <p:spPr>
          <a:xfrm>
            <a:off x="548640" y="3986784"/>
            <a:ext cx="3520440" cy="2286000"/>
          </a:xfrm>
          <a:prstGeom prst="rect">
            <a:avLst/>
          </a:prstGeom>
          <a:noFill/>
          <a:ln/>
        </p:spPr>
        <p:txBody>
          <a:bodyPr wrap="square" lIns="0" tIns="0" rIns="0" bIns="0" rtlCol="0" anchor="t"/>
          <a:lstStyle/>
          <a:p>
            <a:pPr indent="0" marL="0">
              <a:spcAft>
                <a:spcPts val="600"/>
              </a:spcAft>
              <a:buNone/>
            </a:pPr>
            <a:r>
              <a:rPr lang="en-US" sz="1200" b="1" dirty="0">
                <a:solidFill>
                  <a:schemeClr val="tx2"/>
                </a:solidFill>
              </a:rPr>
              <a:t>Hypotheses  </a:t>
            </a:r>
            <a:pPr indent="0" marL="0">
              <a:spcAft>
                <a:spcPts val="600"/>
              </a:spcAft>
              <a:buNone/>
            </a:pPr>
            <a:r>
              <a:rPr lang="en-US" sz="1200" dirty="0">
                <a:solidFill>
                  <a:schemeClr val="tx1"/>
                </a:solidFill>
              </a:rPr>
              <a:t>H</a:t>
            </a:r>
            <a:pPr indent="0" marL="0">
              <a:spcAft>
                <a:spcPts val="600"/>
              </a:spcAft>
              <a:buNone/>
            </a:pPr>
            <a:r>
              <a:rPr lang="en-US" sz="1200" baseline="-40000" dirty="0">
                <a:solidFill>
                  <a:schemeClr val="tx1"/>
                </a:solidFill>
              </a:rPr>
              <a:t>0</a:t>
            </a:r>
            <a:pPr indent="0" marL="0">
              <a:spcAft>
                <a:spcPts val="600"/>
              </a:spcAft>
              <a:buNone/>
            </a:pPr>
            <a:r>
              <a:rPr lang="en-US" sz="1200" dirty="0">
                <a:solidFill>
                  <a:schemeClr val="tx1"/>
                </a:solidFill>
              </a:rPr>
              <a:t>: p</a:t>
            </a:r>
            <a:pPr indent="0" marL="0">
              <a:spcAft>
                <a:spcPts val="600"/>
              </a:spcAft>
              <a:buNone/>
            </a:pPr>
            <a:r>
              <a:rPr lang="en-US" sz="1200" baseline="-40000" dirty="0">
                <a:solidFill>
                  <a:schemeClr val="tx1"/>
                </a:solidFill>
              </a:rPr>
              <a:t>B</a:t>
            </a:r>
            <a:pPr indent="0" marL="0">
              <a:spcAft>
                <a:spcPts val="600"/>
              </a:spcAft>
              <a:buNone/>
            </a:pPr>
            <a:r>
              <a:rPr lang="en-US" sz="1200" dirty="0">
                <a:solidFill>
                  <a:schemeClr val="tx1"/>
                </a:solidFill>
              </a:rPr>
              <a:t> = p</a:t>
            </a:r>
            <a:pPr indent="0" marL="0">
              <a:spcAft>
                <a:spcPts val="600"/>
              </a:spcAft>
              <a:buNone/>
            </a:pPr>
            <a:r>
              <a:rPr lang="en-US" sz="1200" baseline="-40000" dirty="0">
                <a:solidFill>
                  <a:schemeClr val="tx1"/>
                </a:solidFill>
              </a:rPr>
              <a:t>A</a:t>
            </a:r>
            <a:pPr indent="0" marL="0">
              <a:spcAft>
                <a:spcPts val="600"/>
              </a:spcAft>
              <a:buNone/>
            </a:pPr>
            <a:r>
              <a:rPr lang="en-US" sz="1200" dirty="0">
                <a:solidFill>
                  <a:schemeClr val="tx1"/>
                </a:solidFill>
              </a:rPr>
              <a:t>    H</a:t>
            </a:r>
            <a:pPr indent="0" marL="0">
              <a:spcAft>
                <a:spcPts val="600"/>
              </a:spcAft>
              <a:buNone/>
            </a:pPr>
            <a:r>
              <a:rPr lang="en-US" sz="1200" baseline="-40000" dirty="0">
                <a:solidFill>
                  <a:schemeClr val="tx1"/>
                </a:solidFill>
              </a:rPr>
              <a:t>1</a:t>
            </a:r>
            <a:pPr indent="0" marL="0">
              <a:spcAft>
                <a:spcPts val="600"/>
              </a:spcAft>
              <a:buNone/>
            </a:pPr>
            <a:r>
              <a:rPr lang="en-US" sz="1200" dirty="0">
                <a:solidFill>
                  <a:schemeClr val="tx1"/>
                </a:solidFill>
              </a:rPr>
              <a:t>: p</a:t>
            </a:r>
            <a:pPr indent="0" marL="0">
              <a:spcAft>
                <a:spcPts val="600"/>
              </a:spcAft>
              <a:buNone/>
            </a:pPr>
            <a:r>
              <a:rPr lang="en-US" sz="1200" baseline="-40000" dirty="0">
                <a:solidFill>
                  <a:schemeClr val="tx1"/>
                </a:solidFill>
              </a:rPr>
              <a:t>B</a:t>
            </a:r>
            <a:pPr indent="0" marL="0">
              <a:spcAft>
                <a:spcPts val="600"/>
              </a:spcAft>
              <a:buNone/>
            </a:pPr>
            <a:r>
              <a:rPr lang="en-US" sz="1200" dirty="0">
                <a:solidFill>
                  <a:schemeClr val="tx1"/>
                </a:solidFill>
              </a:rPr>
              <a:t> ≠ p</a:t>
            </a:r>
            <a:pPr indent="0" marL="0">
              <a:spcAft>
                <a:spcPts val="600"/>
              </a:spcAft>
              <a:buNone/>
            </a:pPr>
            <a:r>
              <a:rPr lang="en-US" sz="1200" baseline="-40000" dirty="0">
                <a:solidFill>
                  <a:schemeClr val="tx1"/>
                </a:solidFill>
              </a:rPr>
              <a:t>A</a:t>
            </a:r>
            <a:pPr indent="0" marL="0">
              <a:spcAft>
                <a:spcPts val="600"/>
              </a:spcAft>
              <a:buNone/>
            </a:pPr>
            <a:endParaRPr lang="en-US" sz="1200" dirty="0"/>
          </a:p>
          <a:p>
            <a:pPr indent="0" marL="0">
              <a:spcAft>
                <a:spcPts val="600"/>
              </a:spcAft>
              <a:buNone/>
            </a:pPr>
            <a:r>
              <a:rPr lang="en-US" sz="1200" b="1" dirty="0">
                <a:solidFill>
                  <a:schemeClr val="tx2"/>
                </a:solidFill>
              </a:rPr>
              <a:t>Test  </a:t>
            </a:r>
            <a:pPr indent="0" marL="0">
              <a:spcAft>
                <a:spcPts val="600"/>
              </a:spcAft>
              <a:buNone/>
            </a:pPr>
            <a:r>
              <a:rPr lang="en-US" sz="1200" dirty="0">
                <a:solidFill>
                  <a:schemeClr val="tx1"/>
                </a:solidFill>
              </a:rPr>
              <a:t>two-sided, α = 0.05</a:t>
            </a:r>
            <a:endParaRPr lang="en-US" sz="1200" dirty="0"/>
          </a:p>
          <a:p>
            <a:pPr indent="0" marL="0">
              <a:spcAft>
                <a:spcPts val="600"/>
              </a:spcAft>
              <a:buNone/>
            </a:pPr>
            <a:r>
              <a:rPr lang="en-US" sz="1200" b="1" dirty="0">
                <a:solidFill>
                  <a:schemeClr val="tx2"/>
                </a:solidFill>
              </a:rPr>
              <a:t>Primary metric  </a:t>
            </a:r>
            <a:pPr indent="0" marL="0">
              <a:spcAft>
                <a:spcPts val="600"/>
              </a:spcAft>
              <a:buNone/>
            </a:pPr>
            <a:r>
              <a:rPr lang="en-US" sz="1200" dirty="0">
                <a:solidFill>
                  <a:schemeClr val="tx1"/>
                </a:solidFill>
              </a:rPr>
              <a:t>conversion rate = orders ÷ visitors</a:t>
            </a:r>
            <a:endParaRPr lang="en-US" sz="1200" dirty="0"/>
          </a:p>
          <a:p>
            <a:pPr indent="0" marL="0">
              <a:spcAft>
                <a:spcPts val="600"/>
              </a:spcAft>
              <a:buNone/>
            </a:pPr>
            <a:r>
              <a:rPr lang="en-US" sz="1200" b="1" dirty="0">
                <a:solidFill>
                  <a:schemeClr val="tx2"/>
                </a:solidFill>
              </a:rPr>
              <a:t>Power  </a:t>
            </a:r>
            <a:pPr indent="0" marL="0">
              <a:spcAft>
                <a:spcPts val="600"/>
              </a:spcAft>
              <a:buNone/>
            </a:pPr>
            <a:r>
              <a:rPr lang="en-US" sz="1200" dirty="0">
                <a:solidFill>
                  <a:schemeClr val="tx1"/>
                </a:solidFill>
              </a:rPr>
              <a:t>80% to detect +0.6 pp from a 4.2% baseline needs ≈ 18,740 visitors per arm → 20,000 planned</a:t>
            </a:r>
            <a:endParaRPr lang="en-US" sz="1200" dirty="0"/>
          </a:p>
          <a:p>
            <a:pPr indent="0" marL="0">
              <a:spcAft>
                <a:spcPts val="600"/>
              </a:spcAft>
              <a:buNone/>
            </a:pPr>
            <a:r>
              <a:rPr lang="en-US" sz="1200" b="1" dirty="0">
                <a:solidFill>
                  <a:schemeClr val="tx2"/>
                </a:solidFill>
              </a:rPr>
              <a:t>Discipline  </a:t>
            </a:r>
            <a:pPr indent="0" marL="0">
              <a:spcAft>
                <a:spcPts val="600"/>
              </a:spcAft>
              <a:buNone/>
            </a:pPr>
            <a:r>
              <a:rPr lang="en-US" sz="1200" dirty="0">
                <a:solidFill>
                  <a:schemeClr val="tx1"/>
                </a:solidFill>
              </a:rPr>
              <a:t>fixed test length set in advance; no stopping on interim peeks</a:t>
            </a:r>
            <a:endParaRPr lang="en-US" sz="1200" dirty="0"/>
          </a:p>
        </p:txBody>
      </p:sp>
      <p:sp>
        <p:nvSpPr>
          <p:cNvPr id="19" name="Results heading"/>
          <p:cNvSpPr txBox="1"/>
          <p:nvPr/>
        </p:nvSpPr>
        <p:spPr>
          <a:xfrm>
            <a:off x="4343400" y="1517904"/>
            <a:ext cx="3520440" cy="310896"/>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2  </a:t>
            </a:r>
            <a:pPr indent="0" marL="0">
              <a:buNone/>
            </a:pPr>
            <a:r>
              <a:rPr lang="en-US" sz="1600" b="1" dirty="0">
                <a:solidFill>
                  <a:schemeClr val="tx2"/>
                </a:solidFill>
                <a:latin typeface="+mj-lt" pitchFamily="34" charset="0"/>
                <a:ea typeface="+mj-lt" pitchFamily="34" charset="-122"/>
                <a:cs typeface="+mj-lt" pitchFamily="34" charset="-120"/>
              </a:rPr>
              <a:t>Results</a:t>
            </a:r>
            <a:endParaRPr lang="en-US" sz="1600" dirty="0"/>
          </a:p>
        </p:txBody>
      </p:sp>
      <p:graphicFrame>
        <p:nvGraphicFramePr>
          <p:cNvPr id="20" name="Conversion rate chart" descr="Column chart of illustrative conversion rates: A 4.20 percent, B 4.80 percent; axis starts at zero."/>
          <p:cNvGraphicFramePr/>
          <p:nvPr/>
        </p:nvGraphicFramePr>
        <p:xfrm>
          <a:off x="4343400" y="1874520"/>
          <a:ext cx="3520440" cy="3154680"/>
        </p:xfrm>
        <a:graphic xmlns:a="http://schemas.openxmlformats.org/drawingml/2006/main">
          <a:graphicData uri="http://schemas.openxmlformats.org/drawingml/2006/chart">
            <c:chart xmlns:c="http://schemas.openxmlformats.org/drawingml/2006/chart" r:id="rId1"/>
          </a:graphicData>
        </a:graphic>
      </p:graphicFrame>
      <p:sp>
        <p:nvSpPr>
          <p:cNvPr id="21" name="Results counts"/>
          <p:cNvSpPr txBox="1"/>
          <p:nvPr/>
        </p:nvSpPr>
        <p:spPr>
          <a:xfrm>
            <a:off x="4434840" y="5120640"/>
            <a:ext cx="3429000" cy="457200"/>
          </a:xfrm>
          <a:prstGeom prst="rect">
            <a:avLst/>
          </a:prstGeom>
          <a:noFill/>
          <a:ln/>
        </p:spPr>
        <p:txBody>
          <a:bodyPr wrap="square" lIns="0" tIns="0" rIns="0" bIns="0" rtlCol="0" anchor="t"/>
          <a:lstStyle/>
          <a:p>
            <a:pPr indent="0" marL="0">
              <a:buNone/>
            </a:pPr>
            <a:r>
              <a:rPr lang="en-US" sz="1200" dirty="0">
                <a:solidFill>
                  <a:schemeClr val="tx1"/>
                </a:solidFill>
              </a:rPr>
              <a:t>A: 840 orders / 20,000 visitors = 4.20%</a:t>
            </a:r>
            <a:endParaRPr lang="en-US" sz="1200" dirty="0"/>
          </a:p>
          <a:p>
            <a:pPr indent="0" marL="0">
              <a:buNone/>
            </a:pPr>
            <a:r>
              <a:rPr lang="en-US" sz="1200" dirty="0">
                <a:solidFill>
                  <a:schemeClr val="tx1"/>
                </a:solidFill>
              </a:rPr>
              <a:t>B: 960 orders / 20,000 visitors = 4.80%</a:t>
            </a:r>
            <a:endParaRPr lang="en-US" sz="1200" dirty="0"/>
          </a:p>
        </p:txBody>
      </p:sp>
      <p:sp>
        <p:nvSpPr>
          <p:cNvPr id="22" name="Results note"/>
          <p:cNvSpPr txBox="1"/>
          <p:nvPr/>
        </p:nvSpPr>
        <p:spPr>
          <a:xfrm>
            <a:off x="4434840" y="5669280"/>
            <a:ext cx="3429000" cy="411480"/>
          </a:xfrm>
          <a:prstGeom prst="rect">
            <a:avLst/>
          </a:prstGeom>
          <a:noFill/>
          <a:ln/>
        </p:spPr>
        <p:txBody>
          <a:bodyPr wrap="square" lIns="0" tIns="0" rIns="0" bIns="0" rtlCol="0" anchor="t"/>
          <a:lstStyle/>
          <a:p>
            <a:pPr indent="0" marL="0">
              <a:buNone/>
            </a:pPr>
            <a:r>
              <a:rPr lang="en-US" sz="1050" dirty="0">
                <a:solidFill>
                  <a:schemeClr val="accent5"/>
                </a:solidFill>
              </a:rPr>
              <a:t>Axis starts at zero. Separate 95% CIs:</a:t>
            </a:r>
            <a:endParaRPr lang="en-US" sz="1050" dirty="0"/>
          </a:p>
          <a:p>
            <a:pPr indent="0" marL="0">
              <a:buNone/>
            </a:pPr>
            <a:r>
              <a:rPr lang="en-US" sz="1050" dirty="0">
                <a:solidFill>
                  <a:schemeClr val="accent5"/>
                </a:solidFill>
              </a:rPr>
              <a:t>A 3.92–4.48%  ·  B 4.50–5.10%</a:t>
            </a:r>
            <a:endParaRPr lang="en-US" sz="1050" dirty="0"/>
          </a:p>
        </p:txBody>
      </p:sp>
      <p:sp>
        <p:nvSpPr>
          <p:cNvPr id="23" name="Inference heading"/>
          <p:cNvSpPr txBox="1"/>
          <p:nvPr/>
        </p:nvSpPr>
        <p:spPr>
          <a:xfrm>
            <a:off x="8138160" y="1517904"/>
            <a:ext cx="3504895" cy="310896"/>
          </a:xfrm>
          <a:prstGeom prst="rect">
            <a:avLst/>
          </a:prstGeom>
          <a:noFill/>
          <a:ln/>
        </p:spPr>
        <p:txBody>
          <a:bodyPr wrap="square" lIns="0" tIns="0" rIns="0" bIns="0" rtlCol="0" anchor="t"/>
          <a:lstStyle/>
          <a:p>
            <a:pPr indent="0" marL="0">
              <a:buNone/>
            </a:pPr>
            <a:r>
              <a:rPr lang="en-US" sz="1600" b="1" dirty="0">
                <a:solidFill>
                  <a:schemeClr val="accent1"/>
                </a:solidFill>
                <a:latin typeface="+mj-lt" pitchFamily="34" charset="0"/>
                <a:ea typeface="+mj-lt" pitchFamily="34" charset="-122"/>
                <a:cs typeface="+mj-lt" pitchFamily="34" charset="-120"/>
              </a:rPr>
              <a:t>3  </a:t>
            </a:r>
            <a:pPr indent="0" marL="0">
              <a:buNone/>
            </a:pPr>
            <a:r>
              <a:rPr lang="en-US" sz="1600" b="1" dirty="0">
                <a:solidFill>
                  <a:schemeClr val="tx2"/>
                </a:solidFill>
                <a:latin typeface="+mj-lt" pitchFamily="34" charset="0"/>
                <a:ea typeface="+mj-lt" pitchFamily="34" charset="-122"/>
                <a:cs typeface="+mj-lt" pitchFamily="34" charset="-120"/>
              </a:rPr>
              <a:t>Inference &amp; decision</a:t>
            </a:r>
            <a:endParaRPr lang="en-US" sz="1600" dirty="0"/>
          </a:p>
        </p:txBody>
      </p:sp>
      <p:sp>
        <p:nvSpPr>
          <p:cNvPr id="24" name="Method line"/>
          <p:cNvSpPr txBox="1"/>
          <p:nvPr/>
        </p:nvSpPr>
        <p:spPr>
          <a:xfrm>
            <a:off x="8138160" y="1901952"/>
            <a:ext cx="3504895" cy="457200"/>
          </a:xfrm>
          <a:prstGeom prst="rect">
            <a:avLst/>
          </a:prstGeom>
          <a:noFill/>
          <a:ln/>
        </p:spPr>
        <p:txBody>
          <a:bodyPr wrap="square" lIns="0" tIns="0" rIns="0" bIns="0" rtlCol="0" anchor="t"/>
          <a:lstStyle/>
          <a:p>
            <a:pPr indent="0" marL="0">
              <a:buNone/>
            </a:pPr>
            <a:r>
              <a:rPr lang="en-US" sz="1200" b="1" dirty="0">
                <a:solidFill>
                  <a:schemeClr val="tx2"/>
                </a:solidFill>
              </a:rPr>
              <a:t>Method  </a:t>
            </a:r>
            <a:pPr indent="0" marL="0">
              <a:buNone/>
            </a:pPr>
            <a:r>
              <a:rPr lang="en-US" sz="1200" dirty="0">
                <a:solidFill>
                  <a:schemeClr val="tx1"/>
                </a:solidFill>
              </a:rPr>
              <a:t>two-proportion z-test (large samples, independent visitors, random assignment)</a:t>
            </a:r>
            <a:endParaRPr lang="en-US" sz="1200" dirty="0"/>
          </a:p>
        </p:txBody>
      </p:sp>
      <p:sp>
        <p:nvSpPr>
          <p:cNvPr id="25" name="Stat tile 1"/>
          <p:cNvSpPr/>
          <p:nvPr/>
        </p:nvSpPr>
        <p:spPr>
          <a:xfrm>
            <a:off x="8138160" y="2450592"/>
            <a:ext cx="1107338" cy="749808"/>
          </a:xfrm>
          <a:prstGeom prst="roundRect">
            <a:avLst>
              <a:gd name="adj" fmla="val 7317"/>
            </a:avLst>
          </a:prstGeom>
          <a:solidFill>
            <a:schemeClr val="bg2"/>
          </a:solidFill>
          <a:ln/>
        </p:spPr>
      </p:sp>
      <p:sp>
        <p:nvSpPr>
          <p:cNvPr id="26" name="Stat tile 1 value"/>
          <p:cNvSpPr txBox="1"/>
          <p:nvPr/>
        </p:nvSpPr>
        <p:spPr>
          <a:xfrm>
            <a:off x="8138160" y="2505456"/>
            <a:ext cx="1107338" cy="365760"/>
          </a:xfrm>
          <a:prstGeom prst="rect">
            <a:avLst/>
          </a:prstGeom>
          <a:no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+0.60 pp</a:t>
            </a:r>
            <a:endParaRPr lang="en-US" sz="1700" dirty="0"/>
          </a:p>
        </p:txBody>
      </p:sp>
      <p:sp>
        <p:nvSpPr>
          <p:cNvPr id="27" name="Stat tile 1 label"/>
          <p:cNvSpPr txBox="1"/>
          <p:nvPr/>
        </p:nvSpPr>
        <p:spPr>
          <a:xfrm>
            <a:off x="8183880" y="2871216"/>
            <a:ext cx="1015898" cy="274320"/>
          </a:xfrm>
          <a:prstGeom prst="rect">
            <a:avLst/>
          </a:prstGeom>
          <a:noFill/>
          <a:ln/>
        </p:spPr>
        <p:txBody>
          <a:bodyPr wrap="square" lIns="0" tIns="0" rIns="0" bIns="0" rtlCol="0" anchor="t"/>
          <a:lstStyle/>
          <a:p>
            <a:pPr algn="ctr" indent="0" marL="0">
              <a:buNone/>
            </a:pPr>
            <a:r>
              <a:rPr lang="en-US" sz="1000" dirty="0">
                <a:solidFill>
                  <a:schemeClr val="accent5"/>
                </a:solidFill>
              </a:rPr>
              <a:t>difference (B − A)</a:t>
            </a:r>
            <a:endParaRPr lang="en-US" sz="1000" dirty="0"/>
          </a:p>
        </p:txBody>
      </p:sp>
      <p:sp>
        <p:nvSpPr>
          <p:cNvPr id="28" name="Stat tile 2"/>
          <p:cNvSpPr/>
          <p:nvPr/>
        </p:nvSpPr>
        <p:spPr>
          <a:xfrm>
            <a:off x="9336938" y="2450592"/>
            <a:ext cx="1107338" cy="749808"/>
          </a:xfrm>
          <a:prstGeom prst="roundRect">
            <a:avLst>
              <a:gd name="adj" fmla="val 7317"/>
            </a:avLst>
          </a:prstGeom>
          <a:solidFill>
            <a:schemeClr val="bg2"/>
          </a:solidFill>
          <a:ln/>
        </p:spPr>
      </p:sp>
      <p:sp>
        <p:nvSpPr>
          <p:cNvPr id="29" name="Stat tile 2 value"/>
          <p:cNvSpPr txBox="1"/>
          <p:nvPr/>
        </p:nvSpPr>
        <p:spPr>
          <a:xfrm>
            <a:off x="9336938" y="2505456"/>
            <a:ext cx="1107338" cy="365760"/>
          </a:xfrm>
          <a:prstGeom prst="rect">
            <a:avLst/>
          </a:prstGeom>
          <a:no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+14.3%</a:t>
            </a:r>
            <a:endParaRPr lang="en-US" sz="1700" dirty="0"/>
          </a:p>
        </p:txBody>
      </p:sp>
      <p:sp>
        <p:nvSpPr>
          <p:cNvPr id="30" name="Stat tile 2 label"/>
          <p:cNvSpPr txBox="1"/>
          <p:nvPr/>
        </p:nvSpPr>
        <p:spPr>
          <a:xfrm>
            <a:off x="9382658" y="2871216"/>
            <a:ext cx="1015898" cy="274320"/>
          </a:xfrm>
          <a:prstGeom prst="rect">
            <a:avLst/>
          </a:prstGeom>
          <a:noFill/>
          <a:ln/>
        </p:spPr>
        <p:txBody>
          <a:bodyPr wrap="square" lIns="0" tIns="0" rIns="0" bIns="0" rtlCol="0" anchor="t"/>
          <a:lstStyle/>
          <a:p>
            <a:pPr algn="ctr" indent="0" marL="0">
              <a:buNone/>
            </a:pPr>
            <a:r>
              <a:rPr lang="en-US" sz="1000" dirty="0">
                <a:solidFill>
                  <a:schemeClr val="accent5"/>
                </a:solidFill>
              </a:rPr>
              <a:t>relative lift</a:t>
            </a:r>
            <a:endParaRPr lang="en-US" sz="1000" dirty="0"/>
          </a:p>
        </p:txBody>
      </p:sp>
      <p:sp>
        <p:nvSpPr>
          <p:cNvPr id="31" name="Stat tile 3"/>
          <p:cNvSpPr/>
          <p:nvPr/>
        </p:nvSpPr>
        <p:spPr>
          <a:xfrm>
            <a:off x="10535717" y="2450592"/>
            <a:ext cx="1107338" cy="749808"/>
          </a:xfrm>
          <a:prstGeom prst="roundRect">
            <a:avLst>
              <a:gd name="adj" fmla="val 7317"/>
            </a:avLst>
          </a:prstGeom>
          <a:solidFill>
            <a:schemeClr val="bg2"/>
          </a:solidFill>
          <a:ln/>
        </p:spPr>
      </p:sp>
      <p:sp>
        <p:nvSpPr>
          <p:cNvPr id="32" name="Stat tile 3 value"/>
          <p:cNvSpPr txBox="1"/>
          <p:nvPr/>
        </p:nvSpPr>
        <p:spPr>
          <a:xfrm>
            <a:off x="10535717" y="2505456"/>
            <a:ext cx="1107338" cy="365760"/>
          </a:xfrm>
          <a:prstGeom prst="rect">
            <a:avLst/>
          </a:prstGeom>
          <a:noFill/>
          <a:ln/>
        </p:spPr>
        <p:txBody>
          <a:bodyPr wrap="square" lIns="0" tIns="0" rIns="0" bIns="0" rtlCol="0" anchor="ctr"/>
          <a:lstStyle/>
          <a:p>
            <a:pPr algn="ctr" indent="0" marL="0">
              <a:buNone/>
            </a:pPr>
            <a:r>
              <a:rPr lang="en-US" sz="1700" b="1" dirty="0">
                <a:solidFill>
                  <a:schemeClr val="tx2"/>
                </a:solidFill>
                <a:latin typeface="+mj-lt" pitchFamily="34" charset="0"/>
                <a:ea typeface="+mj-lt" pitchFamily="34" charset="-122"/>
                <a:cs typeface="+mj-lt" pitchFamily="34" charset="-120"/>
              </a:rPr>
              <a:t>p = 0.004</a:t>
            </a:r>
            <a:endParaRPr lang="en-US" sz="1700" dirty="0"/>
          </a:p>
        </p:txBody>
      </p:sp>
      <p:sp>
        <p:nvSpPr>
          <p:cNvPr id="33" name="Stat tile 3 label"/>
          <p:cNvSpPr txBox="1"/>
          <p:nvPr/>
        </p:nvSpPr>
        <p:spPr>
          <a:xfrm>
            <a:off x="10581437" y="2871216"/>
            <a:ext cx="1015898" cy="274320"/>
          </a:xfrm>
          <a:prstGeom prst="rect">
            <a:avLst/>
          </a:prstGeom>
          <a:noFill/>
          <a:ln/>
        </p:spPr>
        <p:txBody>
          <a:bodyPr wrap="square" lIns="0" tIns="0" rIns="0" bIns="0" rtlCol="0" anchor="t"/>
          <a:lstStyle/>
          <a:p>
            <a:pPr algn="ctr" indent="0" marL="0">
              <a:buNone/>
            </a:pPr>
            <a:r>
              <a:rPr lang="en-US" sz="1000" dirty="0">
                <a:solidFill>
                  <a:schemeClr val="accent5"/>
                </a:solidFill>
              </a:rPr>
              <a:t>z = 2.89, two-sided</a:t>
            </a:r>
            <a:endParaRPr lang="en-US" sz="1000" dirty="0"/>
          </a:p>
        </p:txBody>
      </p:sp>
      <p:sp>
        <p:nvSpPr>
          <p:cNvPr id="34" name="CI heading"/>
          <p:cNvSpPr txBox="1"/>
          <p:nvPr/>
        </p:nvSpPr>
        <p:spPr>
          <a:xfrm>
            <a:off x="8138160" y="3346704"/>
            <a:ext cx="3504895" cy="237744"/>
          </a:xfrm>
          <a:prstGeom prst="rect">
            <a:avLst/>
          </a:prstGeom>
          <a:noFill/>
          <a:ln/>
        </p:spPr>
        <p:txBody>
          <a:bodyPr wrap="square" lIns="0" tIns="0" rIns="0" bIns="0" rtlCol="0" anchor="t"/>
          <a:lstStyle/>
          <a:p>
            <a:pPr indent="0" marL="0">
              <a:buNone/>
            </a:pPr>
            <a:r>
              <a:rPr lang="en-US" sz="1150" b="1" dirty="0">
                <a:solidFill>
                  <a:schemeClr val="tx2"/>
                </a:solidFill>
              </a:rPr>
              <a:t>95% confidence interval for the difference</a:t>
            </a:r>
            <a:endParaRPr lang="en-US" sz="1150" dirty="0"/>
          </a:p>
        </p:txBody>
      </p:sp>
      <p:sp>
        <p:nvSpPr>
          <p:cNvPr id="35" name="CI axis"/>
          <p:cNvSpPr/>
          <p:nvPr/>
        </p:nvSpPr>
        <p:spPr>
          <a:xfrm>
            <a:off x="8275320" y="4315968"/>
            <a:ext cx="3230575" cy="0"/>
          </a:xfrm>
          <a:prstGeom prst="line">
            <a:avLst/>
          </a:prstGeom>
          <a:noFill/>
          <a:ln w="12700">
            <a:solidFill>
              <a:schemeClr val="accent5"/>
            </a:solidFill>
            <a:prstDash val="solid"/>
          </a:ln>
        </p:spPr>
      </p:sp>
      <p:sp>
        <p:nvSpPr>
          <p:cNvPr id="36" name="CI tick -0.5"/>
          <p:cNvSpPr txBox="1"/>
          <p:nvPr/>
        </p:nvSpPr>
        <p:spPr>
          <a:xfrm>
            <a:off x="8046720" y="435254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-0.5</a:t>
            </a:r>
            <a:endParaRPr lang="en-US" sz="1000" dirty="0"/>
          </a:p>
        </p:txBody>
      </p:sp>
      <p:sp>
        <p:nvSpPr>
          <p:cNvPr id="37" name="CI tick 0"/>
          <p:cNvSpPr txBox="1"/>
          <p:nvPr/>
        </p:nvSpPr>
        <p:spPr>
          <a:xfrm>
            <a:off x="8854364" y="435254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0.0</a:t>
            </a:r>
            <a:endParaRPr lang="en-US" sz="1000" dirty="0"/>
          </a:p>
        </p:txBody>
      </p:sp>
      <p:sp>
        <p:nvSpPr>
          <p:cNvPr id="38" name="CI tick 0.5"/>
          <p:cNvSpPr txBox="1"/>
          <p:nvPr/>
        </p:nvSpPr>
        <p:spPr>
          <a:xfrm>
            <a:off x="9662008" y="435254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+0.5</a:t>
            </a:r>
            <a:endParaRPr lang="en-US" sz="1000" dirty="0"/>
          </a:p>
        </p:txBody>
      </p:sp>
      <p:sp>
        <p:nvSpPr>
          <p:cNvPr id="39" name="CI tick 1"/>
          <p:cNvSpPr txBox="1"/>
          <p:nvPr/>
        </p:nvSpPr>
        <p:spPr>
          <a:xfrm>
            <a:off x="10469651" y="435254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+1.0</a:t>
            </a:r>
            <a:endParaRPr lang="en-US" sz="1000" dirty="0"/>
          </a:p>
        </p:txBody>
      </p:sp>
      <p:sp>
        <p:nvSpPr>
          <p:cNvPr id="40" name="CI tick 1.5"/>
          <p:cNvSpPr txBox="1"/>
          <p:nvPr/>
        </p:nvSpPr>
        <p:spPr>
          <a:xfrm>
            <a:off x="11277295" y="4352544"/>
            <a:ext cx="457200" cy="182880"/>
          </a:xfrm>
          <a:prstGeom prst="rect">
            <a:avLst/>
          </a:prstGeom>
          <a:noFill/>
          <a:ln/>
        </p:spPr>
        <p:txBody>
          <a:bodyPr wrap="square" lIns="0" tIns="0" rIns="0" bIns="0" rtlCol="0" anchor="t"/>
          <a:lstStyle/>
          <a:p>
            <a:pPr algn="ctr" indent="0" marL="0">
              <a:buNone/>
            </a:pPr>
            <a:r>
              <a:rPr lang="en-US" sz="1000" dirty="0">
                <a:solidFill>
                  <a:schemeClr val="accent5"/>
                </a:solidFill>
              </a:rPr>
              <a:t>+1.5</a:t>
            </a:r>
            <a:endParaRPr lang="en-US" sz="1000" dirty="0"/>
          </a:p>
        </p:txBody>
      </p:sp>
      <p:sp>
        <p:nvSpPr>
          <p:cNvPr id="41" name="CI unit"/>
          <p:cNvSpPr txBox="1"/>
          <p:nvPr/>
        </p:nvSpPr>
        <p:spPr>
          <a:xfrm>
            <a:off x="11460175" y="4133088"/>
            <a:ext cx="274320" cy="164592"/>
          </a:xfrm>
          <a:prstGeom prst="rect">
            <a:avLst/>
          </a:prstGeom>
          <a:noFill/>
          <a:ln/>
        </p:spPr>
        <p:txBody>
          <a:bodyPr wrap="square" lIns="0" tIns="0" rIns="0" bIns="0" rtlCol="0" anchor="t"/>
          <a:lstStyle/>
          <a:p>
            <a:pPr indent="0" marL="0">
              <a:buNone/>
            </a:pPr>
            <a:r>
              <a:rPr lang="en-US" sz="950" dirty="0">
                <a:solidFill>
                  <a:schemeClr val="accent5"/>
                </a:solidFill>
              </a:rPr>
              <a:t>pp</a:t>
            </a:r>
            <a:endParaRPr lang="en-US" sz="950" dirty="0"/>
          </a:p>
        </p:txBody>
      </p:sp>
      <p:sp>
        <p:nvSpPr>
          <p:cNvPr id="42" name="CI zero line"/>
          <p:cNvSpPr/>
          <p:nvPr/>
        </p:nvSpPr>
        <p:spPr>
          <a:xfrm>
            <a:off x="9082964" y="3749040"/>
            <a:ext cx="0" cy="566928"/>
          </a:xfrm>
          <a:prstGeom prst="line">
            <a:avLst/>
          </a:prstGeom>
          <a:noFill/>
          <a:ln w="15875">
            <a:solidFill>
              <a:schemeClr val="accent4"/>
            </a:solidFill>
            <a:prstDash val="dash"/>
          </a:ln>
        </p:spPr>
      </p:sp>
      <p:sp>
        <p:nvSpPr>
          <p:cNvPr id="43" name="CI zero label"/>
          <p:cNvSpPr txBox="1"/>
          <p:nvPr/>
        </p:nvSpPr>
        <p:spPr>
          <a:xfrm>
            <a:off x="8671484" y="3584448"/>
            <a:ext cx="822960" cy="164592"/>
          </a:xfrm>
          <a:prstGeom prst="rect">
            <a:avLst/>
          </a:prstGeom>
          <a:noFill/>
          <a:ln/>
        </p:spPr>
        <p:txBody>
          <a:bodyPr wrap="square" lIns="0" tIns="0" rIns="0" bIns="0" rtlCol="0" anchor="t"/>
          <a:lstStyle/>
          <a:p>
            <a:pPr algn="ctr" indent="0" marL="0">
              <a:buNone/>
            </a:pPr>
            <a:r>
              <a:rPr lang="en-US" sz="950" dirty="0">
                <a:solidFill>
                  <a:schemeClr val="accent4"/>
                </a:solidFill>
              </a:rPr>
              <a:t>no effect</a:t>
            </a:r>
            <a:endParaRPr lang="en-US" sz="950" dirty="0"/>
          </a:p>
        </p:txBody>
      </p:sp>
      <p:sp>
        <p:nvSpPr>
          <p:cNvPr id="44" name="CI whisker"/>
          <p:cNvSpPr/>
          <p:nvPr/>
        </p:nvSpPr>
        <p:spPr>
          <a:xfrm>
            <a:off x="9389868" y="4041648"/>
            <a:ext cx="1324536" cy="0"/>
          </a:xfrm>
          <a:prstGeom prst="line">
            <a:avLst/>
          </a:prstGeom>
          <a:noFill/>
          <a:ln w="38100">
            <a:solidFill>
              <a:schemeClr val="accent1"/>
            </a:solidFill>
            <a:prstDash val="solid"/>
          </a:ln>
        </p:spPr>
      </p:sp>
      <p:sp>
        <p:nvSpPr>
          <p:cNvPr id="45" name="CI cap 0.19"/>
          <p:cNvSpPr/>
          <p:nvPr/>
        </p:nvSpPr>
        <p:spPr>
          <a:xfrm>
            <a:off x="9389868" y="3950208"/>
            <a:ext cx="0" cy="182880"/>
          </a:xfrm>
          <a:prstGeom prst="line">
            <a:avLst/>
          </a:prstGeom>
          <a:noFill/>
          <a:ln w="25400">
            <a:solidFill>
              <a:schemeClr val="accent1"/>
            </a:solidFill>
            <a:prstDash val="solid"/>
          </a:ln>
        </p:spPr>
      </p:sp>
      <p:sp>
        <p:nvSpPr>
          <p:cNvPr id="46" name="CI cap 1.01"/>
          <p:cNvSpPr/>
          <p:nvPr/>
        </p:nvSpPr>
        <p:spPr>
          <a:xfrm>
            <a:off x="10714404" y="3950208"/>
            <a:ext cx="0" cy="182880"/>
          </a:xfrm>
          <a:prstGeom prst="line">
            <a:avLst/>
          </a:prstGeom>
          <a:noFill/>
          <a:ln w="25400">
            <a:solidFill>
              <a:schemeClr val="accent1"/>
            </a:solidFill>
            <a:prstDash val="solid"/>
          </a:ln>
        </p:spPr>
      </p:sp>
      <p:sp>
        <p:nvSpPr>
          <p:cNvPr id="47" name="CI point"/>
          <p:cNvSpPr/>
          <p:nvPr/>
        </p:nvSpPr>
        <p:spPr>
          <a:xfrm>
            <a:off x="9969840" y="3959352"/>
            <a:ext cx="164592" cy="164592"/>
          </a:xfrm>
          <a:prstGeom prst="ellipse">
            <a:avLst/>
          </a:prstGeom>
          <a:solidFill>
            <a:schemeClr val="tx2"/>
          </a:solidFill>
          <a:ln/>
        </p:spPr>
      </p:sp>
      <p:sp>
        <p:nvSpPr>
          <p:cNvPr id="48" name="CI lower label"/>
          <p:cNvSpPr txBox="1"/>
          <p:nvPr/>
        </p:nvSpPr>
        <p:spPr>
          <a:xfrm>
            <a:off x="9115548" y="3749040"/>
            <a:ext cx="548640" cy="164592"/>
          </a:xfrm>
          <a:prstGeom prst="rect">
            <a:avLst/>
          </a:prstGeom>
          <a:noFill/>
          <a:ln/>
        </p:spPr>
        <p:txBody>
          <a:bodyPr wrap="square" lIns="0" tIns="0" rIns="0" bIns="0" rtlCol="0" anchor="t"/>
          <a:lstStyle/>
          <a:p>
            <a:pPr algn="ctr" indent="0" marL="0">
              <a:buNone/>
            </a:pPr>
            <a:r>
              <a:rPr lang="en-US" sz="1000" b="1" dirty="0">
                <a:solidFill>
                  <a:schemeClr val="accent1"/>
                </a:solidFill>
              </a:rPr>
              <a:t>+0.19</a:t>
            </a:r>
            <a:endParaRPr lang="en-US" sz="1000" dirty="0"/>
          </a:p>
        </p:txBody>
      </p:sp>
      <p:sp>
        <p:nvSpPr>
          <p:cNvPr id="49" name="CI upper label"/>
          <p:cNvSpPr txBox="1"/>
          <p:nvPr/>
        </p:nvSpPr>
        <p:spPr>
          <a:xfrm>
            <a:off x="10440084" y="3749040"/>
            <a:ext cx="548640" cy="164592"/>
          </a:xfrm>
          <a:prstGeom prst="rect">
            <a:avLst/>
          </a:prstGeom>
          <a:noFill/>
          <a:ln/>
        </p:spPr>
        <p:txBody>
          <a:bodyPr wrap="square" lIns="0" tIns="0" rIns="0" bIns="0" rtlCol="0" anchor="t"/>
          <a:lstStyle/>
          <a:p>
            <a:pPr algn="ctr" indent="0" marL="0">
              <a:buNone/>
            </a:pPr>
            <a:r>
              <a:rPr lang="en-US" sz="1000" b="1" dirty="0">
                <a:solidFill>
                  <a:schemeClr val="accent1"/>
                </a:solidFill>
              </a:rPr>
              <a:t>+1.01</a:t>
            </a:r>
            <a:endParaRPr lang="en-US" sz="1000" dirty="0"/>
          </a:p>
        </p:txBody>
      </p:sp>
      <p:sp>
        <p:nvSpPr>
          <p:cNvPr id="50" name="Interpretation"/>
          <p:cNvSpPr txBox="1"/>
          <p:nvPr/>
        </p:nvSpPr>
        <p:spPr>
          <a:xfrm>
            <a:off x="8138160" y="4608576"/>
            <a:ext cx="3504895" cy="914400"/>
          </a:xfrm>
          <a:prstGeom prst="rect">
            <a:avLst/>
          </a:prstGeom>
          <a:noFill/>
          <a:ln/>
        </p:spPr>
        <p:txBody>
          <a:bodyPr wrap="square" lIns="0" tIns="0" rIns="0" bIns="0" rtlCol="0" anchor="t"/>
          <a:lstStyle/>
          <a:p>
            <a:pPr indent="0" marL="0">
              <a:buNone/>
            </a:pPr>
            <a:r>
              <a:rPr lang="en-US" sz="1200" dirty="0">
                <a:solidFill>
                  <a:schemeClr val="tx1"/>
                </a:solidFill>
              </a:rPr>
              <a:t>If the redesign had no effect, a gap this large would arise in only about 0.4% of repeated experiments. The true lift is plausibly anywhere from +0.19 to +1.01 pp: likely real, but its size is uncertain.</a:t>
            </a:r>
            <a:endParaRPr lang="en-US" sz="1200" dirty="0"/>
          </a:p>
        </p:txBody>
      </p:sp>
      <p:sp>
        <p:nvSpPr>
          <p:cNvPr id="51" name="Decision box"/>
          <p:cNvSpPr/>
          <p:nvPr/>
        </p:nvSpPr>
        <p:spPr>
          <a:xfrm>
            <a:off x="8138160" y="5559552"/>
            <a:ext cx="3504895" cy="731520"/>
          </a:xfrm>
          <a:prstGeom prst="roundRect">
            <a:avLst>
              <a:gd name="adj" fmla="val 7500"/>
            </a:avLst>
          </a:prstGeom>
          <a:solidFill>
            <a:schemeClr val="tx2"/>
          </a:solidFill>
          <a:ln/>
        </p:spPr>
      </p:sp>
      <p:sp>
        <p:nvSpPr>
          <p:cNvPr id="52" name="Decision text"/>
          <p:cNvSpPr txBox="1"/>
          <p:nvPr/>
        </p:nvSpPr>
        <p:spPr>
          <a:xfrm>
            <a:off x="8275320" y="5559552"/>
            <a:ext cx="3230575" cy="731520"/>
          </a:xfrm>
          <a:prstGeom prst="rect">
            <a:avLst/>
          </a:prstGeom>
          <a:noFill/>
          <a:ln/>
        </p:spPr>
        <p:txBody>
          <a:bodyPr wrap="square" lIns="0" tIns="0" rIns="0" bIns="0" rtlCol="0" anchor="ctr"/>
          <a:lstStyle/>
          <a:p>
            <a:pPr indent="0" marL="0">
              <a:buNone/>
            </a:pPr>
            <a:r>
              <a:rPr lang="en-US" sz="1150" b="1" spc="100" kern="0" dirty="0">
                <a:solidFill>
                  <a:schemeClr val="accent2"/>
                </a:solidFill>
              </a:rPr>
              <a:t>DECISION  </a:t>
            </a:r>
            <a:pPr indent="0" marL="0">
              <a:buNone/>
            </a:pPr>
            <a:r>
              <a:rPr lang="en-US" sz="1150" dirty="0">
                <a:solidFill>
                  <a:schemeClr val="bg1"/>
                </a:solidFill>
              </a:rPr>
              <a:t>Roll out B if guardrail metrics (returns, page speed) show no harm; keep monitoring for novelty effects.</a:t>
            </a:r>
            <a:endParaRPr lang="en-US" sz="11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500"/>
                                        <p:tgtEl>
                                          <p:spTgt spid="2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00"/>
                                        <p:tgtEl>
                                          <p:spTgt spid="2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500"/>
                                        <p:tgtEl>
                                          <p:spTgt spid="3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500"/>
                                        <p:tgtEl>
                                          <p:spTgt spid="3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fade">
                                      <p:cBhvr>
                                        <p:cTn id="45" dur="500"/>
                                        <p:tgtEl>
                                          <p:spTgt spid="3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500"/>
                                        <p:tgtEl>
                                          <p:spTgt spid="3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500"/>
                                        <p:tgtEl>
                                          <p:spTgt spid="3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500"/>
                                        <p:tgtEl>
                                          <p:spTgt spid="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5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500"/>
                                        <p:tgtEl>
                                          <p:spTgt spid="4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500"/>
                                        <p:tgtEl>
                                          <p:spTgt spid="4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500"/>
                                        <p:tgtEl>
                                          <p:spTgt spid="4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500"/>
                                        <p:tgtEl>
                                          <p:spTgt spid="4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animEffect transition="in" filter="fade">
                                      <p:cBhvr>
                                        <p:cTn id="87" dur="500"/>
                                        <p:tgtEl>
                                          <p:spTgt spid="4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fade">
                                      <p:cBhvr>
                                        <p:cTn id="90" dur="500"/>
                                        <p:tgtEl>
                                          <p:spTgt spid="4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animEffect transition="in" filter="fade">
                                      <p:cBhvr>
                                        <p:cTn id="93" dur="500"/>
                                        <p:tgtEl>
                                          <p:spTgt spid="4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fade">
                                      <p:cBhvr>
                                        <p:cTn id="98" dur="500"/>
                                        <p:tgtEl>
                                          <p:spTgt spid="5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fade">
                                      <p:cBhvr>
                                        <p:cTn id="101" dur="500"/>
                                        <p:tgtEl>
                                          <p:spTgt spid="5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2"/>
                                        </p:tgtEl>
                                        <p:attrNameLst>
                                          <p:attrName>style.visibility</p:attrName>
                                        </p:attrNameLst>
                                      </p:cBhvr>
                                      <p:to>
                                        <p:strVal val="visible"/>
                                      </p:to>
                                    </p:set>
                                    <p:animEffect transition="in" filter="fade">
                                      <p:cBhvr>
                                        <p:cTn id="10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AsOne/>
      </p:bldGraphic>
      <p:bldP spid="21" grpId="0" animBg="1"/>
      <p:bldP spid="22"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07 · CHALLENGES, ETHICS &amp; FUTURE IMPLICATIONS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Sophistication without discipline misleads</a:t>
            </a:r>
            <a:endParaRPr lang="en-US" sz="3400" dirty="0"/>
          </a:p>
        </p:txBody>
      </p:sp>
      <p:graphicFrame>
        <p:nvGraphicFramePr>
          <p:cNvPr id="8" name="Risk and safeguard table"/>
          <p:cNvGraphicFramePr>
            <a:graphicFrameLocks noGrp="1"/>
          </p:cNvGraphicFramePr>
          <p:nvPr>
            <p:extLst>
              <p:ext uri="{D42A27DB-BD31-4B8C-83A1-F6EECF244321}">
                <p14:modId xmlns:p14="http://schemas.microsoft.com/office/powerpoint/2010/main" val="1579011935"/>
              </p:ext>
            </p:extLst>
          </p:nvPr>
        </p:nvGraphicFramePr>
        <p:xfrm>
          <a:off x="548640" y="1536192"/>
          <a:ext cx="7269480" cy="914400"/>
        </p:xfrm>
        <a:graphic>
          <a:graphicData uri="http://schemas.openxmlformats.org/drawingml/2006/table">
            <a:tbl>
              <a:tblPr/>
              <a:tblGrid>
                <a:gridCol w="2011680"/>
                <a:gridCol w="2468880"/>
                <a:gridCol w="2788920"/>
              </a:tblGrid>
              <a:tr h="310896">
                <a:tc>
                  <a:txBody>
                    <a:bodyPr/>
                    <a:lstStyle/>
                    <a:p>
                      <a:pPr indent="0" marL="0">
                        <a:buNone/>
                      </a:pPr>
                      <a:r>
                        <a:rPr lang="en-US" sz="1150" b="1" dirty="0">
                          <a:solidFill>
                            <a:schemeClr val="bg1"/>
                          </a:solidFill>
                        </a:rPr>
                        <a:t>Risk</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What goes wrong</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Safeguard</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tx2"/>
                    </a:solidFill>
                  </a:tcPr>
                </a:tc>
              </a:tr>
              <a:tr h="548640">
                <a:tc>
                  <a:txBody>
                    <a:bodyPr/>
                    <a:lstStyle/>
                    <a:p>
                      <a:pPr indent="0" marL="0">
                        <a:buNone/>
                      </a:pPr>
                      <a:r>
                        <a:rPr lang="en-US" sz="1150" b="1" dirty="0">
                          <a:solidFill>
                            <a:schemeClr val="tx2"/>
                          </a:solidFill>
                        </a:rPr>
                        <a:t>Data quality &amp; sampling bias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Sample does not represent the population of interest</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Audit data provenance; reweight or redesign the sample</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Violated model assumptions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Biased estimates and wrong standard errors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Residual diagnostics; robust or alternative models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Overfitting</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Model memorizes noise and fails on new data</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Hold-out data and cross-validation; simpler models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Multiple testing &amp; p-hacking</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Testing many outcomes guarantees some false positives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Pre-registration; Holm or false-discovery-rate correction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Confounding</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Spurious causal claims from observational data</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Randomize, or use explicit causal designs and diagrams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Misreading significance</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“Significant” read as “large” or “important”</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Report effect sizes with confidence intervals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r h="548640">
                <a:tc>
                  <a:txBody>
                    <a:bodyPr/>
                    <a:lstStyle/>
                    <a:p>
                      <a:pPr indent="0" marL="0">
                        <a:buNone/>
                      </a:pPr>
                      <a:r>
                        <a:rPr lang="en-US" sz="1150" b="1" dirty="0">
                          <a:solidFill>
                            <a:schemeClr val="tx2"/>
                          </a:solidFill>
                        </a:rPr>
                        <a:t>Privacy &amp; fairness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Models harm individuals or disadvantage groups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Consent, data minimization, bias audits across groups</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150" b="1" dirty="0">
                          <a:solidFill>
                            <a:schemeClr val="tx2"/>
                          </a:solidFill>
                        </a:rPr>
                        <a:t>Missing domain expertise</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Valid statistics answer the wrong question</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Involve domain experts; report methods transparently</a:t>
                      </a:r>
                      <a:endParaRPr lang="en-US" sz="1150" dirty="0"/>
                    </a:p>
                  </a:txBody>
                  <a:tcPr marL="91440" marR="91440" marT="27432" marB="27432" anchor="ctr">
                    <a:lnL w="12700" cap="flat" cmpd="sng" algn="ctr">
                      <a:solidFill>
                        <a:srgbClr val="EEF2F6"/>
                      </a:solidFill>
                      <a:prstDash val="solid"/>
                      <a:round/>
                      <a:headEnd type="none" w="med" len="med"/>
                      <a:tailEnd type="none" w="med" len="med"/>
                    </a:lnL>
                    <a:lnR w="12700" cap="flat" cmpd="sng" algn="ctr">
                      <a:solidFill>
                        <a:srgbClr val="EEF2F6"/>
                      </a:solidFill>
                      <a:prstDash val="solid"/>
                      <a:round/>
                      <a:headEnd type="none" w="med" len="med"/>
                      <a:tailEnd type="none" w="med" len="med"/>
                    </a:lnR>
                    <a:lnT w="12700" cap="flat" cmpd="sng" algn="ctr">
                      <a:solidFill>
                        <a:srgbClr val="EEF2F6"/>
                      </a:solidFill>
                      <a:prstDash val="solid"/>
                      <a:round/>
                      <a:headEnd type="none" w="med" len="med"/>
                      <a:tailEnd type="none" w="med" len="med"/>
                    </a:lnT>
                    <a:lnB w="12700" cap="flat" cmpd="sng" algn="ctr">
                      <a:solidFill>
                        <a:srgbClr val="EEF2F6"/>
                      </a:solidFill>
                      <a:prstDash val="solid"/>
                      <a:round/>
                      <a:headEnd type="none" w="med" len="med"/>
                      <a:tailEnd type="none" w="med" len="med"/>
                    </a:lnB>
                    <a:solidFill>
                      <a:schemeClr val="bg2"/>
                    </a:solidFill>
                  </a:tcPr>
                </a:tc>
              </a:tr>
            </a:tbl>
          </a:graphicData>
        </a:graphic>
      </p:graphicFrame>
      <p:sp>
        <p:nvSpPr>
          <p:cNvPr id="5" name="Future panel"/>
          <p:cNvSpPr/>
          <p:nvPr/>
        </p:nvSpPr>
        <p:spPr>
          <a:xfrm>
            <a:off x="8046720" y="1536192"/>
            <a:ext cx="3596335" cy="4727448"/>
          </a:xfrm>
          <a:prstGeom prst="roundRect">
            <a:avLst>
              <a:gd name="adj" fmla="val 1526"/>
            </a:avLst>
          </a:prstGeom>
          <a:solidFill>
            <a:schemeClr val="tx2"/>
          </a:solidFill>
          <a:ln/>
        </p:spPr>
      </p:sp>
      <p:sp>
        <p:nvSpPr>
          <p:cNvPr id="6" name="ML tag"/>
          <p:cNvSpPr txBox="1"/>
          <p:nvPr/>
        </p:nvSpPr>
        <p:spPr>
          <a:xfrm>
            <a:off x="8275320" y="1719072"/>
            <a:ext cx="3139135"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MACHINE LEARNING &amp; AI</a:t>
            </a:r>
            <a:endParaRPr lang="en-US" sz="1000" dirty="0"/>
          </a:p>
        </p:txBody>
      </p:sp>
      <p:sp>
        <p:nvSpPr>
          <p:cNvPr id="7" name="ML text"/>
          <p:cNvSpPr txBox="1"/>
          <p:nvPr/>
        </p:nvSpPr>
        <p:spPr>
          <a:xfrm>
            <a:off x="8275320" y="1993392"/>
            <a:ext cx="3139135" cy="1143000"/>
          </a:xfrm>
          <a:prstGeom prst="rect">
            <a:avLst/>
          </a:prstGeom>
          <a:noFill/>
          <a:ln/>
        </p:spPr>
        <p:txBody>
          <a:bodyPr wrap="square" lIns="0" tIns="0" rIns="0" bIns="0" rtlCol="0" anchor="t"/>
          <a:lstStyle/>
          <a:p>
            <a:pPr indent="0" marL="0">
              <a:buNone/>
            </a:pPr>
            <a:r>
              <a:rPr lang="en-US" sz="1200" dirty="0">
                <a:solidFill>
                  <a:schemeClr val="bg1"/>
                </a:solidFill>
              </a:rPr>
              <a:t>ML excels at prediction from large, complex data and increasingly complements statistical modeling. But accurate prediction does not show what would happen under an intervention: prediction is not causation (Shmueli, 2010).</a:t>
            </a:r>
            <a:endParaRPr lang="en-US" sz="1200" dirty="0"/>
          </a:p>
        </p:txBody>
      </p:sp>
      <p:sp>
        <p:nvSpPr>
          <p:cNvPr id="8" name="Fairness example"/>
          <p:cNvSpPr txBox="1"/>
          <p:nvPr/>
        </p:nvSpPr>
        <p:spPr>
          <a:xfrm>
            <a:off x="8275320" y="3182112"/>
            <a:ext cx="3139135" cy="685800"/>
          </a:xfrm>
          <a:prstGeom prst="rect">
            <a:avLst/>
          </a:prstGeom>
          <a:noFill/>
          <a:ln/>
        </p:spPr>
        <p:txBody>
          <a:bodyPr wrap="square" lIns="0" tIns="0" rIns="0" bIns="0" rtlCol="0" anchor="t"/>
          <a:lstStyle/>
          <a:p>
            <a:pPr indent="0" marL="0">
              <a:buNone/>
            </a:pPr>
            <a:r>
              <a:rPr lang="en-US" sz="1100" i="1" dirty="0">
                <a:solidFill>
                  <a:schemeClr val="accent6"/>
                </a:solidFill>
              </a:rPr>
              <a:t>Example: a widely used U.S. health algorithm predicted cost as a proxy for need, and so understated the needs of Black patients (Obermeyer et al., 2019).</a:t>
            </a:r>
            <a:endParaRPr lang="en-US" sz="1100" dirty="0"/>
          </a:p>
        </p:txBody>
      </p:sp>
      <p:sp>
        <p:nvSpPr>
          <p:cNvPr id="9" name="Framework tag"/>
          <p:cNvSpPr txBox="1"/>
          <p:nvPr/>
        </p:nvSpPr>
        <p:spPr>
          <a:xfrm>
            <a:off x="8275320" y="3986784"/>
            <a:ext cx="3139135" cy="219456"/>
          </a:xfrm>
          <a:prstGeom prst="rect">
            <a:avLst/>
          </a:prstGeom>
          <a:noFill/>
          <a:ln/>
        </p:spPr>
        <p:txBody>
          <a:bodyPr wrap="square" lIns="0" tIns="0" rIns="0" bIns="0" rtlCol="0" anchor="t"/>
          <a:lstStyle/>
          <a:p>
            <a:pPr indent="0" marL="0">
              <a:buNone/>
            </a:pPr>
            <a:r>
              <a:rPr lang="en-US" sz="1000" b="1" spc="100" kern="0" dirty="0">
                <a:solidFill>
                  <a:schemeClr val="accent2"/>
                </a:solidFill>
              </a:rPr>
              <a:t>RESPONSIBLE PRACTICE</a:t>
            </a:r>
            <a:endParaRPr lang="en-US" sz="1000" dirty="0"/>
          </a:p>
        </p:txBody>
      </p:sp>
      <p:sp>
        <p:nvSpPr>
          <p:cNvPr id="10" name="Framework Plan marker"/>
          <p:cNvSpPr/>
          <p:nvPr/>
        </p:nvSpPr>
        <p:spPr>
          <a:xfrm>
            <a:off x="8275320" y="4315968"/>
            <a:ext cx="274320" cy="274320"/>
          </a:xfrm>
          <a:prstGeom prst="ellipse">
            <a:avLst/>
          </a:prstGeom>
          <a:solidFill>
            <a:schemeClr val="accent1"/>
          </a:solidFill>
          <a:ln/>
        </p:spPr>
      </p:sp>
      <p:sp>
        <p:nvSpPr>
          <p:cNvPr id="11" name="Framework Plan number"/>
          <p:cNvSpPr txBox="1"/>
          <p:nvPr/>
        </p:nvSpPr>
        <p:spPr>
          <a:xfrm>
            <a:off x="8275320" y="4315968"/>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Framework Plan text"/>
          <p:cNvSpPr txBox="1"/>
          <p:nvPr/>
        </p:nvSpPr>
        <p:spPr>
          <a:xfrm>
            <a:off x="8659368" y="4279392"/>
            <a:ext cx="2819095" cy="347472"/>
          </a:xfrm>
          <a:prstGeom prst="rect">
            <a:avLst/>
          </a:prstGeom>
          <a:noFill/>
          <a:ln/>
        </p:spPr>
        <p:txBody>
          <a:bodyPr wrap="square" lIns="0" tIns="0" rIns="0" bIns="0" rtlCol="0" anchor="ctr"/>
          <a:lstStyle/>
          <a:p>
            <a:pPr indent="0" marL="0">
              <a:buNone/>
            </a:pPr>
            <a:r>
              <a:rPr lang="en-US" sz="1150" b="1" dirty="0">
                <a:solidFill>
                  <a:schemeClr val="bg1"/>
                </a:solidFill>
              </a:rPr>
              <a:t>Plan  </a:t>
            </a:r>
            <a:pPr indent="0" marL="0">
              <a:buNone/>
            </a:pPr>
            <a:r>
              <a:rPr lang="en-US" sz="1150" dirty="0">
                <a:solidFill>
                  <a:schemeClr val="accent6"/>
                </a:solidFill>
              </a:rPr>
              <a:t>pre-specify question, outcome, analysis</a:t>
            </a:r>
            <a:endParaRPr lang="en-US" sz="1150" dirty="0"/>
          </a:p>
        </p:txBody>
      </p:sp>
      <p:sp>
        <p:nvSpPr>
          <p:cNvPr id="13" name="Framework Check marker"/>
          <p:cNvSpPr/>
          <p:nvPr/>
        </p:nvSpPr>
        <p:spPr>
          <a:xfrm>
            <a:off x="8275320" y="4700016"/>
            <a:ext cx="274320" cy="274320"/>
          </a:xfrm>
          <a:prstGeom prst="ellipse">
            <a:avLst/>
          </a:prstGeom>
          <a:solidFill>
            <a:schemeClr val="accent1"/>
          </a:solidFill>
          <a:ln/>
        </p:spPr>
      </p:sp>
      <p:sp>
        <p:nvSpPr>
          <p:cNvPr id="14" name="Framework Check number"/>
          <p:cNvSpPr txBox="1"/>
          <p:nvPr/>
        </p:nvSpPr>
        <p:spPr>
          <a:xfrm>
            <a:off x="8275320" y="4700016"/>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Framework Check text"/>
          <p:cNvSpPr txBox="1"/>
          <p:nvPr/>
        </p:nvSpPr>
        <p:spPr>
          <a:xfrm>
            <a:off x="8659368" y="4663440"/>
            <a:ext cx="2819095" cy="347472"/>
          </a:xfrm>
          <a:prstGeom prst="rect">
            <a:avLst/>
          </a:prstGeom>
          <a:noFill/>
          <a:ln/>
        </p:spPr>
        <p:txBody>
          <a:bodyPr wrap="square" lIns="0" tIns="0" rIns="0" bIns="0" rtlCol="0" anchor="ctr"/>
          <a:lstStyle/>
          <a:p>
            <a:pPr indent="0" marL="0">
              <a:buNone/>
            </a:pPr>
            <a:r>
              <a:rPr lang="en-US" sz="1150" b="1" dirty="0">
                <a:solidFill>
                  <a:schemeClr val="bg1"/>
                </a:solidFill>
              </a:rPr>
              <a:t>Check  </a:t>
            </a:r>
            <a:pPr indent="0" marL="0">
              <a:buNone/>
            </a:pPr>
            <a:r>
              <a:rPr lang="en-US" sz="1150" dirty="0">
                <a:solidFill>
                  <a:schemeClr val="accent6"/>
                </a:solidFill>
              </a:rPr>
              <a:t>data quality and model assumptions</a:t>
            </a:r>
            <a:endParaRPr lang="en-US" sz="1150" dirty="0"/>
          </a:p>
        </p:txBody>
      </p:sp>
      <p:sp>
        <p:nvSpPr>
          <p:cNvPr id="16" name="Framework Estimate marker"/>
          <p:cNvSpPr/>
          <p:nvPr/>
        </p:nvSpPr>
        <p:spPr>
          <a:xfrm>
            <a:off x="8275320" y="5084064"/>
            <a:ext cx="274320" cy="274320"/>
          </a:xfrm>
          <a:prstGeom prst="ellipse">
            <a:avLst/>
          </a:prstGeom>
          <a:solidFill>
            <a:schemeClr val="accent1"/>
          </a:solidFill>
          <a:ln/>
        </p:spPr>
      </p:sp>
      <p:sp>
        <p:nvSpPr>
          <p:cNvPr id="17" name="Framework Estimate number"/>
          <p:cNvSpPr txBox="1"/>
          <p:nvPr/>
        </p:nvSpPr>
        <p:spPr>
          <a:xfrm>
            <a:off x="8275320" y="5084064"/>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Framework Estimate text"/>
          <p:cNvSpPr txBox="1"/>
          <p:nvPr/>
        </p:nvSpPr>
        <p:spPr>
          <a:xfrm>
            <a:off x="8659368" y="5047488"/>
            <a:ext cx="2819095" cy="347472"/>
          </a:xfrm>
          <a:prstGeom prst="rect">
            <a:avLst/>
          </a:prstGeom>
          <a:noFill/>
          <a:ln/>
        </p:spPr>
        <p:txBody>
          <a:bodyPr wrap="square" lIns="0" tIns="0" rIns="0" bIns="0" rtlCol="0" anchor="ctr"/>
          <a:lstStyle/>
          <a:p>
            <a:pPr indent="0" marL="0">
              <a:buNone/>
            </a:pPr>
            <a:r>
              <a:rPr lang="en-US" sz="1150" b="1" dirty="0">
                <a:solidFill>
                  <a:schemeClr val="bg1"/>
                </a:solidFill>
              </a:rPr>
              <a:t>Estimate  </a:t>
            </a:r>
            <a:pPr indent="0" marL="0">
              <a:buNone/>
            </a:pPr>
            <a:r>
              <a:rPr lang="en-US" sz="1150" dirty="0">
                <a:solidFill>
                  <a:schemeClr val="accent6"/>
                </a:solidFill>
              </a:rPr>
              <a:t>effect sizes with their uncertainty</a:t>
            </a:r>
            <a:endParaRPr lang="en-US" sz="1150" dirty="0"/>
          </a:p>
        </p:txBody>
      </p:sp>
      <p:sp>
        <p:nvSpPr>
          <p:cNvPr id="19" name="Framework Stress-test marker"/>
          <p:cNvSpPr/>
          <p:nvPr/>
        </p:nvSpPr>
        <p:spPr>
          <a:xfrm>
            <a:off x="8275320" y="5468112"/>
            <a:ext cx="274320" cy="274320"/>
          </a:xfrm>
          <a:prstGeom prst="ellipse">
            <a:avLst/>
          </a:prstGeom>
          <a:solidFill>
            <a:schemeClr val="accent1"/>
          </a:solidFill>
          <a:ln/>
        </p:spPr>
      </p:sp>
      <p:sp>
        <p:nvSpPr>
          <p:cNvPr id="20" name="Framework Stress-test number"/>
          <p:cNvSpPr txBox="1"/>
          <p:nvPr/>
        </p:nvSpPr>
        <p:spPr>
          <a:xfrm>
            <a:off x="8275320" y="5468112"/>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Framework Stress-test text"/>
          <p:cNvSpPr txBox="1"/>
          <p:nvPr/>
        </p:nvSpPr>
        <p:spPr>
          <a:xfrm>
            <a:off x="8659368" y="5431536"/>
            <a:ext cx="2819095" cy="347472"/>
          </a:xfrm>
          <a:prstGeom prst="rect">
            <a:avLst/>
          </a:prstGeom>
          <a:noFill/>
          <a:ln/>
        </p:spPr>
        <p:txBody>
          <a:bodyPr wrap="square" lIns="0" tIns="0" rIns="0" bIns="0" rtlCol="0" anchor="ctr"/>
          <a:lstStyle/>
          <a:p>
            <a:pPr indent="0" marL="0">
              <a:buNone/>
            </a:pPr>
            <a:r>
              <a:rPr lang="en-US" sz="1150" b="1" dirty="0">
                <a:solidFill>
                  <a:schemeClr val="bg1"/>
                </a:solidFill>
              </a:rPr>
              <a:t>Stress-test  </a:t>
            </a:r>
            <a:pPr indent="0" marL="0">
              <a:buNone/>
            </a:pPr>
            <a:r>
              <a:rPr lang="en-US" sz="1150" dirty="0">
                <a:solidFill>
                  <a:schemeClr val="accent6"/>
                </a:solidFill>
              </a:rPr>
              <a:t>robustness and hold-out data</a:t>
            </a:r>
            <a:endParaRPr lang="en-US" sz="1150" dirty="0"/>
          </a:p>
        </p:txBody>
      </p:sp>
      <p:sp>
        <p:nvSpPr>
          <p:cNvPr id="22" name="Framework Report marker"/>
          <p:cNvSpPr/>
          <p:nvPr/>
        </p:nvSpPr>
        <p:spPr>
          <a:xfrm>
            <a:off x="8275320" y="5852160"/>
            <a:ext cx="274320" cy="274320"/>
          </a:xfrm>
          <a:prstGeom prst="ellipse">
            <a:avLst/>
          </a:prstGeom>
          <a:solidFill>
            <a:schemeClr val="accent1"/>
          </a:solidFill>
          <a:ln/>
        </p:spPr>
      </p:sp>
      <p:sp>
        <p:nvSpPr>
          <p:cNvPr id="23" name="Framework Report number"/>
          <p:cNvSpPr txBox="1"/>
          <p:nvPr/>
        </p:nvSpPr>
        <p:spPr>
          <a:xfrm>
            <a:off x="8275320" y="5852160"/>
            <a:ext cx="274320" cy="274320"/>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Framework Report text"/>
          <p:cNvSpPr txBox="1"/>
          <p:nvPr/>
        </p:nvSpPr>
        <p:spPr>
          <a:xfrm>
            <a:off x="8659368" y="5815584"/>
            <a:ext cx="2819095" cy="347472"/>
          </a:xfrm>
          <a:prstGeom prst="rect">
            <a:avLst/>
          </a:prstGeom>
          <a:noFill/>
          <a:ln/>
        </p:spPr>
        <p:txBody>
          <a:bodyPr wrap="square" lIns="0" tIns="0" rIns="0" bIns="0" rtlCol="0" anchor="ctr"/>
          <a:lstStyle/>
          <a:p>
            <a:pPr indent="0" marL="0">
              <a:buNone/>
            </a:pPr>
            <a:r>
              <a:rPr lang="en-US" sz="1150" b="1" dirty="0">
                <a:solidFill>
                  <a:schemeClr val="bg1"/>
                </a:solidFill>
              </a:rPr>
              <a:t>Report  </a:t>
            </a:r>
            <a:pPr indent="0" marL="0">
              <a:buNone/>
            </a:pPr>
            <a:r>
              <a:rPr lang="en-US" sz="1150" dirty="0">
                <a:solidFill>
                  <a:schemeClr val="accent6"/>
                </a:solidFill>
              </a:rPr>
              <a:t>transparently, limitations included</a:t>
            </a:r>
            <a:endParaRPr lang="en-US" sz="11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2"/>
                </a:solidFill>
              </a:rPr>
              <a:t>08 · CONCLUSION &amp; KEY TAKEAWAYS</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bg1"/>
                </a:solidFill>
                <a:latin typeface="+mj-lt" pitchFamily="34" charset="0"/>
                <a:ea typeface="+mj-lt" pitchFamily="34" charset="-122"/>
                <a:cs typeface="+mj-lt" pitchFamily="34" charset="-120"/>
              </a:rPr>
              <a:t>Reliable conclusions are where data creates value</a:t>
            </a:r>
            <a:endParaRPr lang="en-US" sz="3400" dirty="0"/>
          </a:p>
        </p:txBody>
      </p:sp>
      <p:sp>
        <p:nvSpPr>
          <p:cNvPr id="4" name="Takeaway 1 number"/>
          <p:cNvSpPr txBox="1"/>
          <p:nvPr/>
        </p:nvSpPr>
        <p:spPr>
          <a:xfrm>
            <a:off x="548640" y="1627632"/>
            <a:ext cx="6858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01</a:t>
            </a:r>
            <a:endParaRPr lang="en-US" sz="2800" dirty="0"/>
          </a:p>
        </p:txBody>
      </p:sp>
      <p:sp>
        <p:nvSpPr>
          <p:cNvPr id="5" name="Takeaway 1 text"/>
          <p:cNvSpPr txBox="1"/>
          <p:nvPr/>
        </p:nvSpPr>
        <p:spPr>
          <a:xfrm>
            <a:off x="1325880" y="1645920"/>
            <a:ext cx="5394960" cy="777240"/>
          </a:xfrm>
          <a:prstGeom prst="rect">
            <a:avLst/>
          </a:prstGeom>
          <a:noFill/>
          <a:ln/>
        </p:spPr>
        <p:txBody>
          <a:bodyPr wrap="square" lIns="0" tIns="0" rIns="0" bIns="0" rtlCol="0" anchor="t"/>
          <a:lstStyle/>
          <a:p>
            <a:pPr indent="0" marL="0">
              <a:buNone/>
            </a:pPr>
            <a:r>
              <a:rPr lang="en-US" sz="1500" b="1" dirty="0">
                <a:solidFill>
                  <a:schemeClr val="bg1"/>
                </a:solidFill>
              </a:rPr>
              <a:t>Advanced statistics turns raw data into structured evidence.</a:t>
            </a:r>
            <a:endParaRPr lang="en-US" sz="1400" dirty="0"/>
          </a:p>
          <a:p>
            <a:pPr indent="0" marL="0">
              <a:buNone/>
            </a:pPr>
            <a:r>
              <a:rPr lang="en-US" sz="1250" dirty="0">
                <a:solidFill>
                  <a:schemeClr val="accent6"/>
                </a:solidFill>
              </a:rPr>
              <a:t>Description, prediction and inference answer different questions.</a:t>
            </a:r>
            <a:endParaRPr lang="en-US" sz="1400" dirty="0"/>
          </a:p>
        </p:txBody>
      </p:sp>
      <p:sp>
        <p:nvSpPr>
          <p:cNvPr id="6" name="Takeaway 2 number"/>
          <p:cNvSpPr txBox="1"/>
          <p:nvPr/>
        </p:nvSpPr>
        <p:spPr>
          <a:xfrm>
            <a:off x="548640" y="2478024"/>
            <a:ext cx="6858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02</a:t>
            </a:r>
            <a:endParaRPr lang="en-US" sz="2800" dirty="0"/>
          </a:p>
        </p:txBody>
      </p:sp>
      <p:sp>
        <p:nvSpPr>
          <p:cNvPr id="7" name="Takeaway 2 text"/>
          <p:cNvSpPr txBox="1"/>
          <p:nvPr/>
        </p:nvSpPr>
        <p:spPr>
          <a:xfrm>
            <a:off x="1325880" y="2496312"/>
            <a:ext cx="5394960" cy="777240"/>
          </a:xfrm>
          <a:prstGeom prst="rect">
            <a:avLst/>
          </a:prstGeom>
          <a:noFill/>
          <a:ln/>
        </p:spPr>
        <p:txBody>
          <a:bodyPr wrap="square" lIns="0" tIns="0" rIns="0" bIns="0" rtlCol="0" anchor="t"/>
          <a:lstStyle/>
          <a:p>
            <a:pPr indent="0" marL="0">
              <a:buNone/>
            </a:pPr>
            <a:r>
              <a:rPr lang="en-US" sz="1500" b="1" dirty="0">
                <a:solidFill>
                  <a:schemeClr val="bg1"/>
                </a:solidFill>
              </a:rPr>
              <a:t>Businesses decide better by quantifying uncertainty and testing alternatives.</a:t>
            </a:r>
            <a:endParaRPr lang="en-US" sz="1400" dirty="0"/>
          </a:p>
          <a:p>
            <a:pPr indent="0" marL="0">
              <a:buNone/>
            </a:pPr>
            <a:r>
              <a:rPr lang="en-US" sz="1250" dirty="0">
                <a:solidFill>
                  <a:schemeClr val="accent6"/>
                </a:solidFill>
              </a:rPr>
              <a:t>Experiments and intervals replace opinion with measured risk.</a:t>
            </a:r>
            <a:endParaRPr lang="en-US" sz="1400" dirty="0"/>
          </a:p>
        </p:txBody>
      </p:sp>
      <p:sp>
        <p:nvSpPr>
          <p:cNvPr id="8" name="Takeaway 3 number"/>
          <p:cNvSpPr txBox="1"/>
          <p:nvPr/>
        </p:nvSpPr>
        <p:spPr>
          <a:xfrm>
            <a:off x="548640" y="3328416"/>
            <a:ext cx="6858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03</a:t>
            </a:r>
            <a:endParaRPr lang="en-US" sz="2800" dirty="0"/>
          </a:p>
        </p:txBody>
      </p:sp>
      <p:sp>
        <p:nvSpPr>
          <p:cNvPr id="9" name="Takeaway 3 text"/>
          <p:cNvSpPr txBox="1"/>
          <p:nvPr/>
        </p:nvSpPr>
        <p:spPr>
          <a:xfrm>
            <a:off x="1325880" y="3346704"/>
            <a:ext cx="5394960" cy="777240"/>
          </a:xfrm>
          <a:prstGeom prst="rect">
            <a:avLst/>
          </a:prstGeom>
          <a:noFill/>
          <a:ln/>
        </p:spPr>
        <p:txBody>
          <a:bodyPr wrap="square" lIns="0" tIns="0" rIns="0" bIns="0" rtlCol="0" anchor="t"/>
          <a:lstStyle/>
          <a:p>
            <a:pPr indent="0" marL="0">
              <a:buNone/>
            </a:pPr>
            <a:r>
              <a:rPr lang="en-US" sz="1500" b="1" dirty="0">
                <a:solidFill>
                  <a:schemeClr val="bg1"/>
                </a:solidFill>
              </a:rPr>
              <a:t>Researchers strengthen conclusions through design and rigorous inference.</a:t>
            </a:r>
            <a:endParaRPr lang="en-US" sz="1400" dirty="0"/>
          </a:p>
          <a:p>
            <a:pPr indent="0" marL="0">
              <a:buNone/>
            </a:pPr>
            <a:r>
              <a:rPr lang="en-US" sz="1250" dirty="0">
                <a:solidFill>
                  <a:schemeClr val="accent6"/>
                </a:solidFill>
              </a:rPr>
              <a:t>Power, randomization and robustness checks matter as much as models.</a:t>
            </a:r>
            <a:endParaRPr lang="en-US" sz="1400" dirty="0"/>
          </a:p>
        </p:txBody>
      </p:sp>
      <p:sp>
        <p:nvSpPr>
          <p:cNvPr id="10" name="Takeaway 4 number"/>
          <p:cNvSpPr txBox="1"/>
          <p:nvPr/>
        </p:nvSpPr>
        <p:spPr>
          <a:xfrm>
            <a:off x="548640" y="4178808"/>
            <a:ext cx="685800" cy="502920"/>
          </a:xfrm>
          <a:prstGeom prst="rect">
            <a:avLst/>
          </a:prstGeom>
          <a:noFill/>
          <a:ln/>
        </p:spPr>
        <p:txBody>
          <a:bodyPr wrap="square" lIns="0" tIns="0" rIns="0" bIns="0" rtlCol="0" anchor="t"/>
          <a:lstStyle/>
          <a:p>
            <a:pPr indent="0" marL="0">
              <a:buNone/>
            </a:pPr>
            <a:r>
              <a:rPr lang="en-US" sz="2800" b="1" dirty="0">
                <a:solidFill>
                  <a:schemeClr val="accent2"/>
                </a:solidFill>
                <a:latin typeface="+mj-lt" pitchFamily="34" charset="0"/>
                <a:ea typeface="+mj-lt" pitchFamily="34" charset="-122"/>
                <a:cs typeface="+mj-lt" pitchFamily="34" charset="-120"/>
              </a:rPr>
              <a:t>04</a:t>
            </a:r>
            <a:endParaRPr lang="en-US" sz="2800" dirty="0"/>
          </a:p>
        </p:txBody>
      </p:sp>
      <p:sp>
        <p:nvSpPr>
          <p:cNvPr id="11" name="Takeaway 4 text"/>
          <p:cNvSpPr txBox="1"/>
          <p:nvPr/>
        </p:nvSpPr>
        <p:spPr>
          <a:xfrm>
            <a:off x="1325880" y="4197096"/>
            <a:ext cx="5394960" cy="777240"/>
          </a:xfrm>
          <a:prstGeom prst="rect">
            <a:avLst/>
          </a:prstGeom>
          <a:noFill/>
          <a:ln/>
        </p:spPr>
        <p:txBody>
          <a:bodyPr wrap="square" lIns="0" tIns="0" rIns="0" bIns="0" rtlCol="0" anchor="t"/>
          <a:lstStyle/>
          <a:p>
            <a:pPr indent="0" marL="0">
              <a:buNone/>
            </a:pPr>
            <a:r>
              <a:rPr lang="en-US" sz="1500" b="1" dirty="0">
                <a:solidFill>
                  <a:schemeClr val="bg1"/>
                </a:solidFill>
              </a:rPr>
              <a:t>Responsible interpretation matters as much as technical sophistication.</a:t>
            </a:r>
            <a:endParaRPr lang="en-US" sz="1400" dirty="0"/>
          </a:p>
          <a:p>
            <a:pPr indent="0" marL="0">
              <a:buNone/>
            </a:pPr>
            <a:r>
              <a:rPr lang="en-US" sz="1250" dirty="0">
                <a:solidFill>
                  <a:schemeClr val="accent6"/>
                </a:solidFill>
              </a:rPr>
              <a:t>Effect sizes, transparency and fairness keep results trustworthy.</a:t>
            </a:r>
            <a:endParaRPr lang="en-US" sz="1400" dirty="0"/>
          </a:p>
        </p:txBody>
      </p:sp>
      <p:sp>
        <p:nvSpPr>
          <p:cNvPr id="12" name="Quote mark"/>
          <p:cNvSpPr txBox="1"/>
          <p:nvPr/>
        </p:nvSpPr>
        <p:spPr>
          <a:xfrm>
            <a:off x="7086600" y="1463040"/>
            <a:ext cx="731520" cy="822960"/>
          </a:xfrm>
          <a:prstGeom prst="rect">
            <a:avLst/>
          </a:prstGeom>
          <a:noFill/>
          <a:ln/>
        </p:spPr>
        <p:txBody>
          <a:bodyPr wrap="square" lIns="0" tIns="0" rIns="0" bIns="0" rtlCol="0" anchor="t"/>
          <a:lstStyle/>
          <a:p>
            <a:pPr indent="0" marL="0">
              <a:buNone/>
            </a:pPr>
            <a:r>
              <a:rPr lang="en-US" sz="7200" b="1" dirty="0">
                <a:solidFill>
                  <a:schemeClr val="accent2"/>
                </a:solidFill>
                <a:latin typeface="+mj-lt" pitchFamily="34" charset="0"/>
                <a:ea typeface="+mj-lt" pitchFamily="34" charset="-122"/>
                <a:cs typeface="+mj-lt" pitchFamily="34" charset="-120"/>
              </a:rPr>
              <a:t>“</a:t>
            </a:r>
            <a:endParaRPr lang="en-US" sz="7200" dirty="0"/>
          </a:p>
        </p:txBody>
      </p:sp>
      <p:sp>
        <p:nvSpPr>
          <p:cNvPr id="13" name="Closing statement"/>
          <p:cNvSpPr txBox="1"/>
          <p:nvPr/>
        </p:nvSpPr>
        <p:spPr>
          <a:xfrm>
            <a:off x="7086600" y="2194560"/>
            <a:ext cx="4556455" cy="1508760"/>
          </a:xfrm>
          <a:prstGeom prst="rect">
            <a:avLst/>
          </a:prstGeom>
          <a:noFill/>
          <a:ln/>
        </p:spPr>
        <p:txBody>
          <a:bodyPr wrap="square" lIns="0" tIns="0" rIns="0" bIns="0" rtlCol="0" anchor="t"/>
          <a:lstStyle/>
          <a:p>
            <a:pPr indent="0" marL="0">
              <a:buNone/>
            </a:pPr>
            <a:r>
              <a:rPr lang="en-US" sz="2300" i="1" dirty="0">
                <a:solidFill>
                  <a:schemeClr val="bg1"/>
                </a:solidFill>
                <a:latin typeface="+mj-lt" pitchFamily="34" charset="0"/>
                <a:ea typeface="+mj-lt" pitchFamily="34" charset="-122"/>
                <a:cs typeface="+mj-lt" pitchFamily="34" charset="-120"/>
              </a:rPr>
              <a:t>The value of data lies not merely in collecting it, but in drawing reliable conclusions from it.</a:t>
            </a:r>
            <a:endParaRPr lang="en-US" sz="2300" dirty="0"/>
          </a:p>
        </p:txBody>
      </p:sp>
      <p:sp>
        <p:nvSpPr>
          <p:cNvPr id="14" name="Thank you"/>
          <p:cNvSpPr txBox="1"/>
          <p:nvPr/>
        </p:nvSpPr>
        <p:spPr>
          <a:xfrm>
            <a:off x="7086600" y="3840480"/>
            <a:ext cx="4556455" cy="320040"/>
          </a:xfrm>
          <a:prstGeom prst="rect">
            <a:avLst/>
          </a:prstGeom>
          <a:noFill/>
          <a:ln/>
        </p:spPr>
        <p:txBody>
          <a:bodyPr wrap="square" lIns="0" tIns="0" rIns="0" bIns="0" rtlCol="0" anchor="t"/>
          <a:lstStyle/>
          <a:p>
            <a:pPr indent="0" marL="0">
              <a:buNone/>
            </a:pPr>
            <a:r>
              <a:rPr lang="en-US" sz="1500" b="1" dirty="0">
                <a:solidFill>
                  <a:schemeClr val="accent2"/>
                </a:solidFill>
              </a:rPr>
              <a:t>Thank you · Questions and discussion</a:t>
            </a:r>
            <a:endParaRPr lang="en-US" sz="1500" dirty="0"/>
          </a:p>
        </p:txBody>
      </p:sp>
      <p:sp>
        <p:nvSpPr>
          <p:cNvPr id="15" name="References heading"/>
          <p:cNvSpPr txBox="1"/>
          <p:nvPr/>
        </p:nvSpPr>
        <p:spPr>
          <a:xfrm>
            <a:off x="548640" y="5138928"/>
            <a:ext cx="3657600" cy="219456"/>
          </a:xfrm>
          <a:prstGeom prst="rect">
            <a:avLst/>
          </a:prstGeom>
          <a:noFill/>
          <a:ln/>
        </p:spPr>
        <p:txBody>
          <a:bodyPr wrap="square" lIns="0" tIns="0" rIns="0" bIns="0" rtlCol="0" anchor="t"/>
          <a:lstStyle/>
          <a:p>
            <a:pPr indent="0" marL="0">
              <a:buNone/>
            </a:pPr>
            <a:r>
              <a:rPr lang="en-US" sz="1000" b="1" spc="200" kern="0" dirty="0">
                <a:solidFill>
                  <a:schemeClr val="accent2"/>
                </a:solidFill>
              </a:rPr>
              <a:t>KEY REFERENCES</a:t>
            </a:r>
            <a:endParaRPr lang="en-US" sz="1000" dirty="0"/>
          </a:p>
        </p:txBody>
      </p:sp>
      <p:sp>
        <p:nvSpPr>
          <p:cNvPr id="16" name="Key references column 1"/>
          <p:cNvSpPr txBox="1"/>
          <p:nvPr/>
        </p:nvSpPr>
        <p:spPr>
          <a:xfrm>
            <a:off x="548640" y="5394960"/>
            <a:ext cx="5440680" cy="731520"/>
          </a:xfrm>
          <a:prstGeom prst="rect">
            <a:avLst/>
          </a:prstGeom>
          <a:noFill/>
          <a:ln/>
        </p:spPr>
        <p:txBody>
          <a:bodyPr wrap="square" lIns="0" tIns="0" rIns="0" bIns="0" rtlCol="0" anchor="t"/>
          <a:lstStyle/>
          <a:p>
            <a:pPr indent="0" marL="0">
              <a:spcAft>
                <a:spcPts val="200"/>
              </a:spcAft>
              <a:buNone/>
            </a:pPr>
            <a:r>
              <a:rPr lang="en-US" sz="1050" dirty="0">
                <a:solidFill>
                  <a:schemeClr val="accent6"/>
                </a:solidFill>
              </a:rPr>
              <a:t>Brynjolfsson, Hitt &amp; Kim (2011). Strength in numbers. SSRN 1819486.</a:t>
            </a:r>
            <a:endParaRPr lang="en-US" sz="1050" dirty="0"/>
          </a:p>
          <a:p>
            <a:pPr indent="0" marL="0">
              <a:spcAft>
                <a:spcPts val="200"/>
              </a:spcAft>
              <a:buNone/>
            </a:pPr>
            <a:r>
              <a:rPr lang="en-US" sz="1050" dirty="0">
                <a:solidFill>
                  <a:schemeClr val="accent6"/>
                </a:solidFill>
              </a:rPr>
              <a:t>Kohavi &amp; Thomke (2017). The surprising power of online experiments. HBR, 95(5).</a:t>
            </a:r>
            <a:endParaRPr lang="en-US" sz="1050" dirty="0"/>
          </a:p>
          <a:p>
            <a:pPr indent="0" marL="0">
              <a:spcAft>
                <a:spcPts val="200"/>
              </a:spcAft>
              <a:buNone/>
            </a:pPr>
            <a:r>
              <a:rPr lang="en-US" sz="1050" dirty="0">
                <a:solidFill>
                  <a:schemeClr val="accent6"/>
                </a:solidFill>
              </a:rPr>
              <a:t>RECOVERY Collaborative Group (2021). NEJM, 384(8), 693–704.</a:t>
            </a:r>
            <a:endParaRPr lang="en-US" sz="1050" dirty="0"/>
          </a:p>
        </p:txBody>
      </p:sp>
      <p:sp>
        <p:nvSpPr>
          <p:cNvPr id="17" name="Key references column 2"/>
          <p:cNvSpPr txBox="1"/>
          <p:nvPr/>
        </p:nvSpPr>
        <p:spPr>
          <a:xfrm>
            <a:off x="6172200" y="5394960"/>
            <a:ext cx="5468112" cy="731520"/>
          </a:xfrm>
          <a:prstGeom prst="rect">
            <a:avLst/>
          </a:prstGeom>
          <a:noFill/>
          <a:ln/>
        </p:spPr>
        <p:txBody>
          <a:bodyPr wrap="square" lIns="0" tIns="0" rIns="0" bIns="0" rtlCol="0" anchor="t"/>
          <a:lstStyle/>
          <a:p>
            <a:pPr indent="0" marL="0">
              <a:spcAft>
                <a:spcPts val="200"/>
              </a:spcAft>
              <a:buNone/>
            </a:pPr>
            <a:r>
              <a:rPr lang="en-US" sz="1050" dirty="0">
                <a:solidFill>
                  <a:schemeClr val="accent6"/>
                </a:solidFill>
              </a:rPr>
              <a:t>Open Science Collaboration (2015). Science, 349(6251), aac4716.</a:t>
            </a:r>
            <a:endParaRPr lang="en-US" sz="1050" dirty="0"/>
          </a:p>
          <a:p>
            <a:pPr indent="0" marL="0">
              <a:spcAft>
                <a:spcPts val="200"/>
              </a:spcAft>
              <a:buNone/>
            </a:pPr>
            <a:r>
              <a:rPr lang="en-US" sz="1050" dirty="0">
                <a:solidFill>
                  <a:schemeClr val="accent6"/>
                </a:solidFill>
              </a:rPr>
              <a:t>Wasserstein &amp; Lazar (2016). The ASA statement on p-values. Am. Stat., 70(2).</a:t>
            </a:r>
            <a:endParaRPr lang="en-US" sz="1050" dirty="0"/>
          </a:p>
          <a:p>
            <a:pPr indent="0" marL="0">
              <a:spcAft>
                <a:spcPts val="200"/>
              </a:spcAft>
              <a:buNone/>
            </a:pPr>
            <a:r>
              <a:rPr lang="en-US" sz="1050" dirty="0">
                <a:solidFill>
                  <a:schemeClr val="accent6"/>
                </a:solidFill>
              </a:rPr>
              <a:t>Shmueli (2010). To explain or to predict? Statistical Science, 25(3).</a:t>
            </a:r>
            <a:endParaRPr lang="en-US" sz="1050" dirty="0"/>
          </a:p>
        </p:txBody>
      </p:sp>
      <p:sp>
        <p:nvSpPr>
          <p:cNvPr id="18" name="Appendix pointer"/>
          <p:cNvSpPr txBox="1"/>
          <p:nvPr/>
        </p:nvSpPr>
        <p:spPr>
          <a:xfrm>
            <a:off x="548640" y="6144768"/>
            <a:ext cx="11094415" cy="219456"/>
          </a:xfrm>
          <a:prstGeom prst="rect">
            <a:avLst/>
          </a:prstGeom>
          <a:noFill/>
          <a:ln/>
        </p:spPr>
        <p:txBody>
          <a:bodyPr wrap="square" lIns="0" tIns="0" rIns="0" bIns="0" rtlCol="0" anchor="t"/>
          <a:lstStyle/>
          <a:p>
            <a:pPr indent="0" marL="0">
              <a:buNone/>
            </a:pPr>
            <a:r>
              <a:rPr lang="en-US" sz="1000" i="1" dirty="0">
                <a:solidFill>
                  <a:schemeClr val="accent6"/>
                </a:solidFill>
              </a:rPr>
              <a:t>Full reference list with DOIs and visual sources: Appendix A (supplementary slide).</a:t>
            </a:r>
            <a:endParaRPr lang="en-US" sz="10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74980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APPENDIX A · SUPPLEMENTARY, OUTSIDE THE EIGHT-SLIDE MAIN DECK</a:t>
            </a:r>
            <a:endParaRPr lang="en-US" sz="1200" dirty="0"/>
          </a:p>
        </p:txBody>
      </p:sp>
      <p:sp>
        <p:nvSpPr>
          <p:cNvPr id="3" name="Text 0"/>
          <p:cNvSpPr/>
          <p:nvPr>
            <p:ph idx="101" type="title" hasCustomPrompt="1"/>
          </p:nvPr>
        </p:nvSpPr>
        <p:spPr>
          <a:xfrm>
            <a:off x="548640" y="658368"/>
            <a:ext cx="11094415" cy="713232"/>
          </a:xfrm>
          <a:prstGeom prst="rect">
            <a:avLst/>
          </a:prstGeom>
          <a:noFill/>
          <a:ln/>
        </p:spPr>
        <p:txBody>
          <a:bodyPr wrap="square" lIns="0" tIns="0" rIns="0" bIns="0" rtlCol="0" anchor="ctr"/>
          <a:lstStyle/>
          <a:p>
            <a:pPr algn="l" indent="0" marL="0">
              <a:buNone/>
            </a:pPr>
            <a:r>
              <a:rPr lang="en-US" sz="3400" b="1" dirty="0">
                <a:solidFill>
                  <a:schemeClr val="tx2"/>
                </a:solidFill>
                <a:latin typeface="+mj-lt" pitchFamily="34" charset="0"/>
                <a:ea typeface="+mj-lt" pitchFamily="34" charset="-122"/>
                <a:cs typeface="+mj-lt" pitchFamily="34" charset="-120"/>
              </a:rPr>
              <a:t>References and visual sources</a:t>
            </a:r>
            <a:endParaRPr lang="en-US" sz="3400" dirty="0"/>
          </a:p>
        </p:txBody>
      </p:sp>
      <p:sp>
        <p:nvSpPr>
          <p:cNvPr id="4" name="References column 1"/>
          <p:cNvSpPr txBox="1"/>
          <p:nvPr/>
        </p:nvSpPr>
        <p:spPr>
          <a:xfrm>
            <a:off x="548640" y="1517904"/>
            <a:ext cx="5364328" cy="4069080"/>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Amrhein, V., Greenland, S., &amp; McShane, B. (2019). Scientists rise up against statistical significance. Nature, 567, 305–307. doi:10.1038/d41586-019-00857-9</a:t>
            </a:r>
            <a:endParaRPr lang="en-US" sz="1150" dirty="0"/>
          </a:p>
          <a:p>
            <a:pPr indent="0" marL="0">
              <a:spcAft>
                <a:spcPts val="600"/>
              </a:spcAft>
              <a:buNone/>
            </a:pPr>
            <a:r>
              <a:rPr lang="en-US" sz="1150" dirty="0">
                <a:solidFill>
                  <a:schemeClr val="tx1"/>
                </a:solidFill>
              </a:rPr>
              <a:t>Brynjolfsson, E., Hitt, L. M., &amp; Kim, H. H. (2011). Strength in numbers: How does data-driven decisionmaking affect firm performance? SSRN. doi:10.2139/ssrn.1819486</a:t>
            </a:r>
            <a:endParaRPr lang="en-US" sz="1150" dirty="0"/>
          </a:p>
          <a:p>
            <a:pPr indent="0" marL="0">
              <a:spcAft>
                <a:spcPts val="600"/>
              </a:spcAft>
              <a:buNone/>
            </a:pPr>
            <a:r>
              <a:rPr lang="en-US" sz="1150" dirty="0">
                <a:solidFill>
                  <a:schemeClr val="tx1"/>
                </a:solidFill>
              </a:rPr>
              <a:t>Button, K. S., et al. (2013). Power failure: Why small sample size undermines the reliability of neuroscience. Nature Reviews Neuroscience, 14(5), 365–376. doi:10.1038/nrn3475</a:t>
            </a:r>
            <a:endParaRPr lang="en-US" sz="1150" dirty="0"/>
          </a:p>
          <a:p>
            <a:pPr indent="0" marL="0">
              <a:spcAft>
                <a:spcPts val="600"/>
              </a:spcAft>
              <a:buNone/>
            </a:pPr>
            <a:r>
              <a:rPr lang="en-US" sz="1150" dirty="0">
                <a:solidFill>
                  <a:schemeClr val="tx1"/>
                </a:solidFill>
              </a:rPr>
              <a:t>Gelman, A., Carlin, J. B., Stern, H. S., Dunson, D. B., Vehtari, A., &amp; Rubin, D. B. (2013). Bayesian data analysis (3rd ed.). CRC Press.</a:t>
            </a:r>
            <a:endParaRPr lang="en-US" sz="1150" dirty="0"/>
          </a:p>
          <a:p>
            <a:pPr indent="0" marL="0">
              <a:spcAft>
                <a:spcPts val="600"/>
              </a:spcAft>
              <a:buNone/>
            </a:pPr>
            <a:r>
              <a:rPr lang="en-US" sz="1150" dirty="0">
                <a:solidFill>
                  <a:schemeClr val="tx1"/>
                </a:solidFill>
              </a:rPr>
              <a:t>Hastie, T., Tibshirani, R., &amp; Friedman, J. (2009). The elements of statistical learning (2nd ed.). Springer.</a:t>
            </a:r>
            <a:endParaRPr lang="en-US" sz="1150" dirty="0"/>
          </a:p>
          <a:p>
            <a:pPr indent="0" marL="0">
              <a:spcAft>
                <a:spcPts val="600"/>
              </a:spcAft>
              <a:buNone/>
            </a:pPr>
            <a:r>
              <a:rPr lang="en-US" sz="1150" dirty="0">
                <a:solidFill>
                  <a:schemeClr val="tx1"/>
                </a:solidFill>
              </a:rPr>
              <a:t>Hernán, M. A., &amp; Robins, J. M. (2020). Causal inference: What if. Chapman &amp; Hall/CRC.</a:t>
            </a:r>
            <a:endParaRPr lang="en-US" sz="1150" dirty="0"/>
          </a:p>
          <a:p>
            <a:pPr indent="0" marL="0">
              <a:spcAft>
                <a:spcPts val="600"/>
              </a:spcAft>
              <a:buNone/>
            </a:pPr>
            <a:r>
              <a:rPr lang="en-US" sz="1150" dirty="0">
                <a:solidFill>
                  <a:schemeClr val="tx1"/>
                </a:solidFill>
              </a:rPr>
              <a:t>Hyndman, R. J., &amp; Athanasopoulos, G. (2021). Forecasting: Principles and practice (3rd ed.). OTexts. otexts.com/fpp3</a:t>
            </a:r>
            <a:endParaRPr lang="en-US" sz="1150" dirty="0"/>
          </a:p>
          <a:p>
            <a:pPr indent="0" marL="0">
              <a:spcAft>
                <a:spcPts val="600"/>
              </a:spcAft>
              <a:buNone/>
            </a:pPr>
            <a:r>
              <a:rPr lang="en-US" sz="1150" dirty="0">
                <a:solidFill>
                  <a:schemeClr val="tx1"/>
                </a:solidFill>
              </a:rPr>
              <a:t>Kohavi, R., Tang, D., &amp; Xu, Y. (2020). Trustworthy online controlled experiments: A practical guide to A/B testing. Cambridge University Press. doi:10.1017/9781108653985</a:t>
            </a:r>
            <a:endParaRPr lang="en-US" sz="1150" dirty="0"/>
          </a:p>
        </p:txBody>
      </p:sp>
      <p:sp>
        <p:nvSpPr>
          <p:cNvPr id="5" name="References column 2"/>
          <p:cNvSpPr txBox="1"/>
          <p:nvPr/>
        </p:nvSpPr>
        <p:spPr>
          <a:xfrm>
            <a:off x="6278728" y="1517904"/>
            <a:ext cx="5364328" cy="4069080"/>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Kohavi, R., &amp; Thomke, S. (2017). The surprising power of online experiments. Harvard Business Review, 95(5), 74–82.</a:t>
            </a:r>
            <a:endParaRPr lang="en-US" sz="1150" dirty="0"/>
          </a:p>
          <a:p>
            <a:pPr indent="0" marL="0">
              <a:spcAft>
                <a:spcPts val="600"/>
              </a:spcAft>
              <a:buNone/>
            </a:pPr>
            <a:r>
              <a:rPr lang="en-US" sz="1150" dirty="0">
                <a:solidFill>
                  <a:schemeClr val="tx1"/>
                </a:solidFill>
              </a:rPr>
              <a:t>Montgomery, D. C. (2017). Design and analysis of experiments (9th ed.). Wiley.</a:t>
            </a:r>
            <a:endParaRPr lang="en-US" sz="1150" dirty="0"/>
          </a:p>
          <a:p>
            <a:pPr indent="0" marL="0">
              <a:spcAft>
                <a:spcPts val="600"/>
              </a:spcAft>
              <a:buNone/>
            </a:pPr>
            <a:r>
              <a:rPr lang="en-US" sz="1150" dirty="0">
                <a:solidFill>
                  <a:schemeClr val="tx1"/>
                </a:solidFill>
              </a:rPr>
              <a:t>Obermeyer, Z., Powers, B., Vogeli, C., &amp; Mullainathan, S. (2019). Dissecting racial bias in an algorithm used to manage the health of populations. Science, 366(6464), 447–453. doi:10.1126/science.aax2342</a:t>
            </a:r>
            <a:endParaRPr lang="en-US" sz="1150" dirty="0"/>
          </a:p>
          <a:p>
            <a:pPr indent="0" marL="0">
              <a:spcAft>
                <a:spcPts val="600"/>
              </a:spcAft>
              <a:buNone/>
            </a:pPr>
            <a:r>
              <a:rPr lang="en-US" sz="1150" dirty="0">
                <a:solidFill>
                  <a:schemeClr val="tx1"/>
                </a:solidFill>
              </a:rPr>
              <a:t>Open Science Collaboration. (2015). Estimating the reproducibility of psychological science. Science, 349(6251), aac4716. doi:10.1126/science.aac4716</a:t>
            </a:r>
            <a:endParaRPr lang="en-US" sz="1150" dirty="0"/>
          </a:p>
          <a:p>
            <a:pPr indent="0" marL="0">
              <a:spcAft>
                <a:spcPts val="600"/>
              </a:spcAft>
              <a:buNone/>
            </a:pPr>
            <a:r>
              <a:rPr lang="en-US" sz="1150" dirty="0">
                <a:solidFill>
                  <a:schemeClr val="tx1"/>
                </a:solidFill>
              </a:rPr>
              <a:t>RECOVERY Collaborative Group. (2021). Dexamethasone in hospitalized patients with Covid-19. NEJM, 384(8), 693–704. doi:10.1056/NEJMoa2021436</a:t>
            </a:r>
            <a:endParaRPr lang="en-US" sz="1150" dirty="0"/>
          </a:p>
          <a:p>
            <a:pPr indent="0" marL="0">
              <a:spcAft>
                <a:spcPts val="600"/>
              </a:spcAft>
              <a:buNone/>
            </a:pPr>
            <a:r>
              <a:rPr lang="en-US" sz="1150" dirty="0">
                <a:solidFill>
                  <a:schemeClr val="tx1"/>
                </a:solidFill>
              </a:rPr>
              <a:t>Shmueli, G. (2010). To explain or to predict? Statistical Science, 25(3), 289–310. doi:10.1214/10-STS330</a:t>
            </a:r>
            <a:endParaRPr lang="en-US" sz="1150" dirty="0"/>
          </a:p>
          <a:p>
            <a:pPr indent="0" marL="0">
              <a:spcAft>
                <a:spcPts val="600"/>
              </a:spcAft>
              <a:buNone/>
            </a:pPr>
            <a:r>
              <a:rPr lang="en-US" sz="1150" dirty="0">
                <a:solidFill>
                  <a:schemeClr val="tx1"/>
                </a:solidFill>
              </a:rPr>
              <a:t>Simmons, J. P., Nelson, L. D., &amp; Simonsohn, U. (2011). False-positive psychology. Psychological Science, 22(11), 1359–1366. doi:10.1177/0956797611417632</a:t>
            </a:r>
            <a:endParaRPr lang="en-US" sz="1150" dirty="0"/>
          </a:p>
          <a:p>
            <a:pPr indent="0" marL="0">
              <a:spcAft>
                <a:spcPts val="600"/>
              </a:spcAft>
              <a:buNone/>
            </a:pPr>
            <a:r>
              <a:rPr lang="en-US" sz="1150" dirty="0">
                <a:solidFill>
                  <a:schemeClr val="tx1"/>
                </a:solidFill>
              </a:rPr>
              <a:t>Wasserstein, R. L., &amp; Lazar, N. A. (2016). The ASA statement on p-values: Context, process, and purpose. The American Statistician, 70(2), 129–133. doi:10.1080/00031305.2016.1154108</a:t>
            </a:r>
            <a:endParaRPr lang="en-US" sz="1150" dirty="0"/>
          </a:p>
        </p:txBody>
      </p:sp>
      <p:sp>
        <p:nvSpPr>
          <p:cNvPr id="6" name="Visual sources box"/>
          <p:cNvSpPr/>
          <p:nvPr/>
        </p:nvSpPr>
        <p:spPr>
          <a:xfrm>
            <a:off x="548640" y="5687568"/>
            <a:ext cx="11094415" cy="603504"/>
          </a:xfrm>
          <a:prstGeom prst="roundRect">
            <a:avLst>
              <a:gd name="adj" fmla="val 9091"/>
            </a:avLst>
          </a:prstGeom>
          <a:solidFill>
            <a:schemeClr val="bg2"/>
          </a:solidFill>
          <a:ln/>
        </p:spPr>
      </p:sp>
      <p:sp>
        <p:nvSpPr>
          <p:cNvPr id="7" name="Visual sources text"/>
          <p:cNvSpPr txBox="1"/>
          <p:nvPr/>
        </p:nvSpPr>
        <p:spPr>
          <a:xfrm>
            <a:off x="731520" y="5687568"/>
            <a:ext cx="10728655" cy="603504"/>
          </a:xfrm>
          <a:prstGeom prst="rect">
            <a:avLst/>
          </a:prstGeom>
          <a:noFill/>
          <a:ln/>
        </p:spPr>
        <p:txBody>
          <a:bodyPr wrap="square" lIns="0" tIns="0" rIns="0" bIns="0" rtlCol="0" anchor="ctr"/>
          <a:lstStyle/>
          <a:p>
            <a:pPr indent="0" marL="0">
              <a:buNone/>
            </a:pPr>
            <a:r>
              <a:rPr lang="en-US" sz="1050" b="1" dirty="0">
                <a:solidFill>
                  <a:schemeClr val="tx2"/>
                </a:solidFill>
              </a:rPr>
              <a:t>Visual sources  </a:t>
            </a:r>
            <a:pPr indent="0" marL="0">
              <a:buNone/>
            </a:pPr>
            <a:r>
              <a:rPr lang="en-US" sz="1050" dirty="0">
                <a:solidFill>
                  <a:schemeClr val="tx1"/>
                </a:solidFill>
              </a:rPr>
              <a:t>All charts and diagrams are original to this presentation. Title visual and method diagrams use simulated data (illustrative). Slide 5 forest plot is redrawn from published RECOVERY values. Slide 6 data are hypothetical. No third-party images are used.</a:t>
            </a:r>
            <a:endParaRPr lang="en-US" sz="10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theme/theme1.xml><?xml version="1.0" encoding="utf-8"?>
<a:theme xmlns:a="http://schemas.openxmlformats.org/drawingml/2006/main" name="Evidence Navy">
  <a:themeElements>
    <a:clrScheme name="Evidence Navy">
      <a:dk1>
        <a:srgbClr val="1B2633"/>
      </a:dk1>
      <a:lt1>
        <a:srgbClr val="FFFFFF"/>
      </a:lt1>
      <a:dk2>
        <a:srgbClr val="0B1F33"/>
      </a:dk2>
      <a:lt2>
        <a:srgbClr val="EEF2F6"/>
      </a:lt2>
      <a:accent1>
        <a:srgbClr val="0F8B8D"/>
      </a:accent1>
      <a:accent2>
        <a:srgbClr val="E3A43B"/>
      </a:accent2>
      <a:accent3>
        <a:srgbClr val="2F5D8A"/>
      </a:accent3>
      <a:accent4>
        <a:srgbClr val="B8462F"/>
      </a:accent4>
      <a:accent5>
        <a:srgbClr val="5E6B7A"/>
      </a:accent5>
      <a:accent6>
        <a:srgbClr val="CFE9E7"/>
      </a:accent6>
      <a:hlink>
        <a:srgbClr val="2F5D8A"/>
      </a:hlink>
      <a:folHlink>
        <a:srgbClr val="5E6B7A"/>
      </a:folHlink>
    </a:clrScheme>
    <a:fontScheme name="Evidence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Implications of Advanced Statistics in Business and Research</dc:title>
  <dc:subject>University presentation on advanced statistics</dc:subject>
  <dc:creator>[Team Name]</dc:creator>
  <cp:lastModifiedBy>[Team Name]</cp:lastModifiedBy>
  <cp:revision>1</cp:revision>
  <dcterms:created xsi:type="dcterms:W3CDTF">2026-10-26T16:29:58Z</dcterms:created>
  <dcterms:modified xsi:type="dcterms:W3CDTF">2026-10-26T16:29:58Z</dcterms:modified>
</cp:coreProperties>
</file>