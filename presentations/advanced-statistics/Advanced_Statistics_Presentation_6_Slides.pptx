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c7e264-56e0-7744-c554-62b66f932597}">
          <p14:sldIdLst>
            <p14:sldId id="256"/>
          </p14:sldIdLst>
        </p14:section>
        <p14:section name="Content" id="{0e914c6d-e86f-9017-2f73-77f165a43023}">
          <p14:sldIdLst>
            <p14:sldId id="257"/>
            <p14:sldId id="258"/>
            <p14:sldId id="259"/>
            <p14:sldId id="260"/>
          </p14:sldIdLst>
        </p14:section>
        <p14:section name="Conclusion" id="{7ba04bb5-c24a-3c4a-1465-8c7b11a4d8d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Conversion rate (%)</c:v>
                </c:pt>
              </c:strCache>
            </c:strRef>
          </c:tx>
          <c:spPr>
            <a:solidFill>
              <a:srgbClr val="2F5D8A"/>
            </a:solidFill>
            <a:effectLst/>
          </c:spPr>
          <c:invertIfNegative val="0"/>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2F5D8A"/>
              </a:solidFill>
              <a:effectLst/>
            </c:spPr>
          </c:dPt>
          <c:dPt>
            <c:idx val="1"/>
            <c:invertIfNegative val="0"/>
            <c:bubble3D val="0"/>
            <c:spPr>
              <a:solidFill>
                <a:srgbClr val="0F8B8D"/>
              </a:solidFill>
              <a:effectLst/>
            </c:spPr>
          </c:dPt>
          <c:cat>
            <c:multiLvlStrRef>
              <c:f>Sheet1!$A$2:$A$3</c:f>
              <c:multiLvlStrCache>
                <c:ptCount val="2"/>
                <c:lvl>
                  <c:pt idx="0">
                    <c:v>A · Old page</c:v>
                  </c:pt>
                  <c:pt idx="1">
                    <c:v>B · New page</c:v>
                  </c:pt>
                </c:lvl>
              </c:multiLvlStrCache>
            </c:multiLvlStrRef>
          </c:cat>
          <c:val>
            <c:numRef>
              <c:f>Sheet1!$B$2:$B$3</c:f>
              <c:numCache>
                <c:formatCode>General</c:formatCode>
                <c:ptCount val="2"/>
                <c:pt idx="0">
                  <c:v>4.2</c:v>
                </c:pt>
                <c:pt idx="1">
                  <c:v>4.8</c:v>
                </c:pt>
              </c:numCache>
            </c:numRef>
          </c:val>
        </c:ser>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2E7ED"/>
              </a:solidFill>
              <a:prstDash val="solid"/>
              <a:round/>
            </a:ln>
          </c:spPr>
        </c:majorGridlines>
        <c:title>
          <c:tx>
            <c:rich>
              <a:bodyPr/>
              <a:lstStyle/>
              <a:p>
                <a:pPr>
                  <a:defRPr sz="1100" b="0" i="0" u="none" strike="noStrike">
                    <a:solidFill>
                      <a:srgbClr val="5E6B7A"/>
                    </a:solidFill>
                    <a:latin typeface="+mn-lt"/>
                  </a:defRPr>
                </a:pPr>
                <a:r>
                  <a:rPr sz="1100" b="0" i="0" u="none" strike="noStrike">
                    <a:solidFill>
                      <a:srgbClr val="5E6B7A"/>
                    </a:solidFill>
                    <a:latin typeface="+mn-lt"/>
                  </a:rPr>
                  <a:t>Conversion rate (%)</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topic is the implications of advanced statistics in business and research. In simple words: how companies and researchers use statistics to turn data into reliable decisions. The picture on the right shows the idea: we start with data, fit a model with its uncertainty, and use a forecast to make a decision. We will cover why statistics matters, where it is used, one A/B-test example, and the main cautions.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alone does not give answers. Statistics moves us from raw data, to describing what happened, to predicting what comes next, to checking whether a pattern is real, and finally to a decision. Different methods answer different questions: regression links outcomes to their drivers, hypothesis tests and confidence intervals check if a difference is real, Bayesian inference updates beliefs with new data, forecasting predicts the future with a range, experiments show what happens when we act, and clustering finds groups. Evidence: firms that use data-driven decision-making are about 5 to 6 percent more productive (Brynjolfsson, Hitt and Kim, 2011). This is an observational finding, not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business, statistics drives demand forecasting, customer segmentation, pricing, and credit-risk and fraud checks. Real case: Bing tested longer ad titles with a randomized A/B test. Revenue rose about 12 percent, worth more than 100 million dollars a year in the U.S. (Kohavi and Thomke, 2017). In research, statistics makes results reliable through good study design, a power analysis to choose the sample size, confidence intervals, and reproducibility. Real case: the RECOVERY randomized trial found that dexamethasone cut 28-day deaths in ventilated COVID-19 patients from 41.4 to 29.3 percent. A warning from research: when 100 psychology studies were repeated, only 36 percent gave significant results again (Open Science Collaboration,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made-up numbers to show the method. An online shop splits 40,000 visitors at random: half see the old page, half see the new page. The old page converts 4.2 percent of visitors, the new page 4.8 percent, a difference of 0.6 percentage points. The 95 percent confidence interval is 0.19 to 1.01 points and the p-value is 0.004, so the gain is very unlikely to be chance, although its exact size is uncertain. Decision: launch the new page and keep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can mislead if we are careless. Six common problems: biased data, overfitting, p-hacking (running many tests until something looks significant), confusing correlation with causation (even accurate AI predictions do not prove cause), treating 'significant' as 'important', and ignoring privacy and fairness. Good practice follows five steps: plan the question first, check the data and assumptions, estimate effects with their uncertainty, stress-test the results, and report honestly with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One: statistics turns data into evidence by separating real patterns from noise. Two: testing ideas before deciding beats opinion. Three: in research, good design and the right sample size make results reliable. Four: interpret results responsibly, with effect sizes, transparency and fairness. The value of data lies not merely in collecting it, but in drawing reliable conclusions from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5760720" cy="1691640"/>
          </a:xfrm>
          <a:prstGeom prst="rect">
            <a:avLst/>
          </a:prstGeom>
          <a:noFill/>
          <a:ln/>
        </p:spPr>
        <p:txBody>
          <a:bodyPr wrap="square" rtlCol="0"/>
          <a:lstStyle>
            <a:lvl1pPr algn="l" indent="0" marL="0">
              <a:buNone/>
              <a:defRPr lang="en-US" sz="3600" b="1" dirty="0">
                <a:solidFill>
                  <a:schemeClr val="bg1"/>
                </a:solidFill>
                <a:latin typeface="+mj-lt" pitchFamily="34" charset="0"/>
                <a:ea typeface="+mj-lt" pitchFamily="34" charset="-122"/>
                <a:cs typeface="+mj-lt"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6"/>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visual (simulated data)" descr="Illustrative graphic built from simulated data: data points, a fitted trend with its uncertainty band, and a forecast range used for a decision.">    </p:cNvPr>
          <p:cNvPicPr>
            <a:picLocks noChangeAspect="1"/>
          </p:cNvPicPr>
          <p:nvPr/>
        </p:nvPicPr>
        <p:blipFill>
          <a:blip r:embed="rId1"/>
          <a:stretch>
            <a:fillRect/>
          </a:stretch>
        </p:blipFill>
        <p:spPr>
          <a:xfrm>
            <a:off x="6659575" y="0"/>
            <a:ext cx="5532120" cy="6858000"/>
          </a:xfrm>
          <a:prstGeom prst="rect">
            <a:avLst/>
          </a:prstGeom>
        </p:spPr>
      </p:pic>
      <p:sp>
        <p:nvSpPr>
          <p:cNvPr id="3" name="Hero label: Data"/>
          <p:cNvSpPr txBox="1"/>
          <p:nvPr/>
        </p:nvSpPr>
        <p:spPr>
          <a:xfrm>
            <a:off x="6869887"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Data</a:t>
            </a:r>
            <a:endParaRPr lang="en-US" sz="1000" dirty="0"/>
          </a:p>
        </p:txBody>
      </p:sp>
      <p:sp>
        <p:nvSpPr>
          <p:cNvPr id="4" name="Hero label: Model + uncertainty"/>
          <p:cNvSpPr txBox="1"/>
          <p:nvPr/>
        </p:nvSpPr>
        <p:spPr>
          <a:xfrm>
            <a:off x="8716975"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Model + uncertainty</a:t>
            </a:r>
            <a:endParaRPr lang="en-US" sz="1000" dirty="0"/>
          </a:p>
        </p:txBody>
      </p:sp>
      <p:sp>
        <p:nvSpPr>
          <p:cNvPr id="5" name="Hero label: Forecast → decision"/>
          <p:cNvSpPr txBox="1"/>
          <p:nvPr/>
        </p:nvSpPr>
        <p:spPr>
          <a:xfrm>
            <a:off x="10042855" y="6382512"/>
            <a:ext cx="1371600" cy="237744"/>
          </a:xfrm>
          <a:prstGeom prst="rect">
            <a:avLst/>
          </a:prstGeom>
          <a:noFill/>
          <a:ln/>
        </p:spPr>
        <p:txBody>
          <a:bodyPr wrap="square" lIns="0" tIns="0" rIns="0" bIns="0" rtlCol="0" anchor="t"/>
          <a:lstStyle/>
          <a:p>
            <a:pPr algn="r" indent="0" marL="0">
              <a:buNone/>
            </a:pPr>
            <a:r>
              <a:rPr lang="en-US" sz="1000" dirty="0">
                <a:solidFill>
                  <a:schemeClr val="accent6"/>
                </a:solidFill>
              </a:rPr>
              <a:t>Forecast → decision</a:t>
            </a:r>
            <a:endParaRPr lang="en-US" sz="1000" dirty="0"/>
          </a:p>
        </p:txBody>
      </p:sp>
      <p:sp>
        <p:nvSpPr>
          <p:cNvPr id="6" name="Hero caption"/>
          <p:cNvSpPr txBox="1"/>
          <p:nvPr/>
        </p:nvSpPr>
        <p:spPr>
          <a:xfrm>
            <a:off x="9966960" y="228600"/>
            <a:ext cx="2011680" cy="219456"/>
          </a:xfrm>
          <a:prstGeom prst="rect">
            <a:avLst/>
          </a:prstGeom>
          <a:noFill/>
          <a:ln/>
        </p:spPr>
        <p:txBody>
          <a:bodyPr wrap="square" lIns="0" tIns="0" rIns="0" bIns="0" rtlCol="0" anchor="t"/>
          <a:lstStyle/>
          <a:p>
            <a:pPr algn="r" indent="0" marL="0">
              <a:buNone/>
            </a:pPr>
            <a:r>
              <a:rPr lang="en-US" sz="900" i="1" dirty="0">
                <a:solidFill>
                  <a:schemeClr val="accent5"/>
                </a:solidFill>
              </a:rPr>
              <a:t>Illustrative visual · simulated data</a:t>
            </a:r>
            <a:endParaRPr lang="en-US" sz="900" dirty="0"/>
          </a:p>
        </p:txBody>
      </p:sp>
      <p:sp>
        <p:nvSpPr>
          <p:cNvPr id="7" name="Kicker"/>
          <p:cNvSpPr txBox="1"/>
          <p:nvPr/>
        </p:nvSpPr>
        <p:spPr>
          <a:xfrm>
            <a:off x="548640" y="502920"/>
            <a:ext cx="576072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ADVANCED STATISTICS IN PRACTICE</a:t>
            </a:r>
            <a:endParaRPr lang="en-US" sz="1200" dirty="0"/>
          </a:p>
        </p:txBody>
      </p:sp>
      <p:sp>
        <p:nvSpPr>
          <p:cNvPr id="8" name="Text 0"/>
          <p:cNvSpPr/>
          <p:nvPr>
            <p:ph idx="100" type="title" hasCustomPrompt="1"/>
          </p:nvPr>
        </p:nvSpPr>
        <p:spPr>
          <a:xfrm>
            <a:off x="548640" y="896112"/>
            <a:ext cx="5760720" cy="169164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Implications of Advanced Statistics in Business and Research</a:t>
            </a:r>
            <a:endParaRPr lang="en-US" sz="3600" dirty="0"/>
          </a:p>
        </p:txBody>
      </p:sp>
      <p:sp>
        <p:nvSpPr>
          <p:cNvPr id="9" name="Subtitle"/>
          <p:cNvSpPr txBox="1"/>
          <p:nvPr/>
        </p:nvSpPr>
        <p:spPr>
          <a:xfrm>
            <a:off x="548640" y="2670048"/>
            <a:ext cx="5852160" cy="384048"/>
          </a:xfrm>
          <a:prstGeom prst="rect">
            <a:avLst/>
          </a:prstGeom>
          <a:noFill/>
          <a:ln/>
        </p:spPr>
        <p:txBody>
          <a:bodyPr wrap="square" lIns="0" tIns="0" rIns="0" bIns="0" rtlCol="0" anchor="t"/>
          <a:lstStyle/>
          <a:p>
            <a:pPr indent="0" marL="0">
              <a:buNone/>
            </a:pPr>
            <a:r>
              <a:rPr lang="en-US" sz="1900" i="1" dirty="0">
                <a:solidFill>
                  <a:schemeClr val="accent6"/>
                </a:solidFill>
              </a:rPr>
              <a:t>Turning data into evidence, decisions, and discovery</a:t>
            </a:r>
            <a:endParaRPr lang="en-US" sz="1900" dirty="0"/>
          </a:p>
        </p:txBody>
      </p:sp>
      <p:sp>
        <p:nvSpPr>
          <p:cNvPr id="10" name="Team name"/>
          <p:cNvSpPr txBox="1"/>
          <p:nvPr/>
        </p:nvSpPr>
        <p:spPr>
          <a:xfrm>
            <a:off x="548640" y="3346704"/>
            <a:ext cx="5760720" cy="256032"/>
          </a:xfrm>
          <a:prstGeom prst="rect">
            <a:avLst/>
          </a:prstGeom>
          <a:noFill/>
          <a:ln/>
        </p:spPr>
        <p:txBody>
          <a:bodyPr wrap="square" lIns="0" tIns="0" rIns="0" bIns="0" rtlCol="0" anchor="t"/>
          <a:lstStyle/>
          <a:p>
            <a:pPr indent="0" marL="0">
              <a:buNone/>
            </a:pPr>
            <a:r>
              <a:rPr lang="en-US" sz="1150" b="1" spc="200" kern="0" dirty="0">
                <a:solidFill>
                  <a:schemeClr val="accent2"/>
                </a:solidFill>
              </a:rPr>
              <a:t>PRESENTED BY  </a:t>
            </a:r>
            <a:pPr indent="0" marL="0">
              <a:buNone/>
            </a:pPr>
            <a:r>
              <a:rPr lang="en-US" sz="1150" b="1" dirty="0">
                <a:solidFill>
                  <a:schemeClr val="bg1"/>
                </a:solidFill>
              </a:rPr>
              <a:t>[Team Name]</a:t>
            </a:r>
            <a:endParaRPr lang="en-US" sz="1150" dirty="0"/>
          </a:p>
        </p:txBody>
      </p:sp>
      <p:graphicFrame>
        <p:nvGraphicFramePr>
          <p:cNvPr id="2" name="Team members table"/>
          <p:cNvGraphicFramePr>
            <a:graphicFrameLocks noGrp="1"/>
          </p:cNvGraphicFramePr>
          <p:nvPr>
            <p:extLst>
              <p:ext uri="{D42A27DB-BD31-4B8C-83A1-F6EECF244321}">
                <p14:modId xmlns:p14="http://schemas.microsoft.com/office/powerpoint/2010/main" val="1579011935"/>
              </p:ext>
            </p:extLst>
          </p:nvPr>
        </p:nvGraphicFramePr>
        <p:xfrm>
          <a:off x="548640" y="3639312"/>
          <a:ext cx="4937760" cy="914400"/>
        </p:xfrm>
        <a:graphic>
          <a:graphicData uri="http://schemas.openxmlformats.org/drawingml/2006/table">
            <a:tbl>
              <a:tblPr/>
              <a:tblGrid>
                <a:gridCol w="3017520"/>
                <a:gridCol w="1920240"/>
              </a:tblGrid>
              <a:tr h="246888">
                <a:tc>
                  <a:txBody>
                    <a:bodyPr/>
                    <a:lstStyle/>
                    <a:p>
                      <a:pPr indent="0" marL="0">
                        <a:buNone/>
                      </a:pPr>
                      <a:r>
                        <a:rPr lang="en-US" sz="1300" dirty="0">
                          <a:solidFill>
                            <a:schemeClr val="bg1"/>
                          </a:solidFill>
                        </a:rPr>
                        <a:t>[Member 1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2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3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4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5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bl>
          </a:graphicData>
        </a:graphic>
      </p:graphicFrame>
      <p:sp>
        <p:nvSpPr>
          <p:cNvPr id="12" name="Course title and code"/>
          <p:cNvSpPr txBox="1"/>
          <p:nvPr/>
        </p:nvSpPr>
        <p:spPr>
          <a:xfrm>
            <a:off x="548640" y="502920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COURSE</a:t>
            </a:r>
            <a:endParaRPr lang="en-US" sz="1500" dirty="0"/>
          </a:p>
          <a:p>
            <a:pPr indent="0" marL="0">
              <a:buNone/>
            </a:pPr>
            <a:r>
              <a:rPr lang="en-US" sz="1250" dirty="0">
                <a:solidFill>
                  <a:schemeClr val="bg1"/>
                </a:solidFill>
              </a:rPr>
              <a:t>[Course Title] ([Course Code])</a:t>
            </a:r>
            <a:endParaRPr lang="en-US" sz="1500" dirty="0"/>
          </a:p>
        </p:txBody>
      </p:sp>
      <p:sp>
        <p:nvSpPr>
          <p:cNvPr id="13" name="Instructor"/>
          <p:cNvSpPr txBox="1"/>
          <p:nvPr/>
        </p:nvSpPr>
        <p:spPr>
          <a:xfrm>
            <a:off x="3703320" y="502920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INSTRUCTOR</a:t>
            </a:r>
            <a:endParaRPr lang="en-US" sz="1500" dirty="0"/>
          </a:p>
          <a:p>
            <a:pPr indent="0" marL="0">
              <a:buNone/>
            </a:pPr>
            <a:r>
              <a:rPr lang="en-US" sz="1250" dirty="0">
                <a:solidFill>
                  <a:schemeClr val="bg1"/>
                </a:solidFill>
              </a:rPr>
              <a:t>[Instructor Name], [Designation]</a:t>
            </a:r>
            <a:endParaRPr lang="en-US" sz="1500" dirty="0"/>
          </a:p>
        </p:txBody>
      </p:sp>
      <p:sp>
        <p:nvSpPr>
          <p:cNvPr id="14" name="Department"/>
          <p:cNvSpPr txBox="1"/>
          <p:nvPr/>
        </p:nvSpPr>
        <p:spPr>
          <a:xfrm>
            <a:off x="548640" y="553212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DEPARTMENT</a:t>
            </a:r>
            <a:endParaRPr lang="en-US" sz="1500" dirty="0"/>
          </a:p>
          <a:p>
            <a:pPr indent="0" marL="0">
              <a:buNone/>
            </a:pPr>
            <a:r>
              <a:rPr lang="en-US" sz="1250" dirty="0">
                <a:solidFill>
                  <a:schemeClr val="bg1"/>
                </a:solidFill>
              </a:rPr>
              <a:t>[Department]</a:t>
            </a:r>
            <a:endParaRPr lang="en-US" sz="1500" dirty="0"/>
          </a:p>
        </p:txBody>
      </p:sp>
      <p:sp>
        <p:nvSpPr>
          <p:cNvPr id="15" name="University"/>
          <p:cNvSpPr txBox="1"/>
          <p:nvPr/>
        </p:nvSpPr>
        <p:spPr>
          <a:xfrm>
            <a:off x="3703320" y="553212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UNIVERSITY</a:t>
            </a:r>
            <a:endParaRPr lang="en-US" sz="1500" dirty="0"/>
          </a:p>
          <a:p>
            <a:pPr indent="0" marL="0">
              <a:buNone/>
            </a:pPr>
            <a:r>
              <a:rPr lang="en-US" sz="1250" dirty="0">
                <a:solidFill>
                  <a:schemeClr val="bg1"/>
                </a:solidFill>
              </a:rPr>
              <a:t>[University Name]</a:t>
            </a:r>
            <a:endParaRPr lang="en-US" sz="1500" dirty="0"/>
          </a:p>
        </p:txBody>
      </p:sp>
      <p:sp>
        <p:nvSpPr>
          <p:cNvPr id="16" name="Presentation date"/>
          <p:cNvSpPr txBox="1"/>
          <p:nvPr/>
        </p:nvSpPr>
        <p:spPr>
          <a:xfrm>
            <a:off x="548640" y="603504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DATE</a:t>
            </a:r>
            <a:endParaRPr lang="en-US" sz="1500" dirty="0"/>
          </a:p>
          <a:p>
            <a:pPr indent="0" marL="0">
              <a:buNone/>
            </a:pPr>
            <a:r>
              <a:rPr lang="en-US" sz="1250" dirty="0">
                <a:solidFill>
                  <a:schemeClr val="bg1"/>
                </a:solidFill>
              </a:rPr>
              <a:t>[Presentation Date]</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01 · WHY IT MATTERS &amp; KEY METHODS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From data to decisions</a:t>
            </a:r>
            <a:endParaRPr lang="en-US" sz="3400" dirty="0"/>
          </a:p>
        </p:txBody>
      </p:sp>
      <p:sp>
        <p:nvSpPr>
          <p:cNvPr id="4" name="Stage 1 card"/>
          <p:cNvSpPr/>
          <p:nvPr/>
        </p:nvSpPr>
        <p:spPr>
          <a:xfrm>
            <a:off x="548640" y="1536192"/>
            <a:ext cx="2072579" cy="960120"/>
          </a:xfrm>
          <a:prstGeom prst="roundRect">
            <a:avLst>
              <a:gd name="adj" fmla="val 7619"/>
            </a:avLst>
          </a:prstGeom>
          <a:solidFill>
            <a:schemeClr val="bg2"/>
          </a:solidFill>
          <a:ln/>
        </p:spPr>
      </p:sp>
      <p:sp>
        <p:nvSpPr>
          <p:cNvPr id="5" name="Stage 1 text"/>
          <p:cNvSpPr txBox="1"/>
          <p:nvPr/>
        </p:nvSpPr>
        <p:spPr>
          <a:xfrm>
            <a:off x="731520" y="1536192"/>
            <a:ext cx="1706819" cy="960120"/>
          </a:xfrm>
          <a:prstGeom prst="rect">
            <a:avLst/>
          </a:prstGeom>
          <a:noFill/>
          <a:ln/>
        </p:spPr>
        <p:txBody>
          <a:bodyPr wrap="square" lIns="0" tIns="0" rIns="0" bIns="0" rtlCol="0" anchor="ctr"/>
          <a:lstStyle/>
          <a:p>
            <a:pPr indent="0" marL="0">
              <a:buNone/>
            </a:pPr>
            <a:r>
              <a:rPr lang="en-US" sz="1600" b="1" dirty="0">
                <a:solidFill>
                  <a:schemeClr val="tx2"/>
                </a:solidFill>
              </a:rPr>
              <a:t>Raw data</a:t>
            </a:r>
            <a:endParaRPr lang="en-US" sz="1500" dirty="0"/>
          </a:p>
          <a:p>
            <a:pPr indent="0" marL="0">
              <a:buNone/>
            </a:pPr>
            <a:r>
              <a:rPr lang="en-US" sz="1350" dirty="0">
                <a:solidFill>
                  <a:schemeClr val="accent5"/>
                </a:solidFill>
              </a:rPr>
              <a:t>What was recorded?</a:t>
            </a:r>
            <a:endParaRPr lang="en-US" sz="1500" dirty="0"/>
          </a:p>
        </p:txBody>
      </p:sp>
      <p:sp>
        <p:nvSpPr>
          <p:cNvPr id="6" name="Stage 2 card"/>
          <p:cNvSpPr/>
          <p:nvPr/>
        </p:nvSpPr>
        <p:spPr>
          <a:xfrm>
            <a:off x="2804099" y="1536192"/>
            <a:ext cx="2072579" cy="960120"/>
          </a:xfrm>
          <a:prstGeom prst="roundRect">
            <a:avLst>
              <a:gd name="adj" fmla="val 7619"/>
            </a:avLst>
          </a:prstGeom>
          <a:solidFill>
            <a:schemeClr val="bg2"/>
          </a:solidFill>
          <a:ln/>
        </p:spPr>
      </p:sp>
      <p:sp>
        <p:nvSpPr>
          <p:cNvPr id="7" name="Stage 2 text"/>
          <p:cNvSpPr txBox="1"/>
          <p:nvPr/>
        </p:nvSpPr>
        <p:spPr>
          <a:xfrm>
            <a:off x="2986979" y="1536192"/>
            <a:ext cx="1706819" cy="960120"/>
          </a:xfrm>
          <a:prstGeom prst="rect">
            <a:avLst/>
          </a:prstGeom>
          <a:noFill/>
          <a:ln/>
        </p:spPr>
        <p:txBody>
          <a:bodyPr wrap="square" lIns="0" tIns="0" rIns="0" bIns="0" rtlCol="0" anchor="ctr"/>
          <a:lstStyle/>
          <a:p>
            <a:pPr indent="0" marL="0">
              <a:buNone/>
            </a:pPr>
            <a:r>
              <a:rPr lang="en-US" sz="1600" b="1" dirty="0">
                <a:solidFill>
                  <a:schemeClr val="tx2"/>
                </a:solidFill>
              </a:rPr>
              <a:t>Description</a:t>
            </a:r>
            <a:endParaRPr lang="en-US" sz="1500" dirty="0"/>
          </a:p>
          <a:p>
            <a:pPr indent="0" marL="0">
              <a:buNone/>
            </a:pPr>
            <a:r>
              <a:rPr lang="en-US" sz="1350" dirty="0">
                <a:solidFill>
                  <a:schemeClr val="accent5"/>
                </a:solidFill>
              </a:rPr>
              <a:t>What happened?</a:t>
            </a:r>
            <a:endParaRPr lang="en-US" sz="1500" dirty="0"/>
          </a:p>
        </p:txBody>
      </p:sp>
      <p:sp>
        <p:nvSpPr>
          <p:cNvPr id="8" name="Stage arrow 2"/>
          <p:cNvSpPr/>
          <p:nvPr/>
        </p:nvSpPr>
        <p:spPr>
          <a:xfrm>
            <a:off x="2644079" y="1879092"/>
            <a:ext cx="137160" cy="274320"/>
          </a:xfrm>
          <a:prstGeom prst="chevron">
            <a:avLst/>
          </a:prstGeom>
          <a:solidFill>
            <a:schemeClr val="accent5"/>
          </a:solidFill>
          <a:ln/>
        </p:spPr>
      </p:sp>
      <p:sp>
        <p:nvSpPr>
          <p:cNvPr id="9" name="Stage 3 card"/>
          <p:cNvSpPr/>
          <p:nvPr/>
        </p:nvSpPr>
        <p:spPr>
          <a:xfrm>
            <a:off x="5059558" y="1536192"/>
            <a:ext cx="2072579" cy="960120"/>
          </a:xfrm>
          <a:prstGeom prst="roundRect">
            <a:avLst>
              <a:gd name="adj" fmla="val 7619"/>
            </a:avLst>
          </a:prstGeom>
          <a:solidFill>
            <a:schemeClr val="bg2"/>
          </a:solidFill>
          <a:ln/>
        </p:spPr>
      </p:sp>
      <p:sp>
        <p:nvSpPr>
          <p:cNvPr id="10" name="Stage 3 text"/>
          <p:cNvSpPr txBox="1"/>
          <p:nvPr/>
        </p:nvSpPr>
        <p:spPr>
          <a:xfrm>
            <a:off x="5242438" y="1536192"/>
            <a:ext cx="1706819" cy="960120"/>
          </a:xfrm>
          <a:prstGeom prst="rect">
            <a:avLst/>
          </a:prstGeom>
          <a:noFill/>
          <a:ln/>
        </p:spPr>
        <p:txBody>
          <a:bodyPr wrap="square" lIns="0" tIns="0" rIns="0" bIns="0" rtlCol="0" anchor="ctr"/>
          <a:lstStyle/>
          <a:p>
            <a:pPr indent="0" marL="0">
              <a:buNone/>
            </a:pPr>
            <a:r>
              <a:rPr lang="en-US" sz="1600" b="1" dirty="0">
                <a:solidFill>
                  <a:schemeClr val="tx2"/>
                </a:solidFill>
              </a:rPr>
              <a:t>Prediction</a:t>
            </a:r>
            <a:endParaRPr lang="en-US" sz="1500" dirty="0"/>
          </a:p>
          <a:p>
            <a:pPr indent="0" marL="0">
              <a:buNone/>
            </a:pPr>
            <a:r>
              <a:rPr lang="en-US" sz="1350" dirty="0">
                <a:solidFill>
                  <a:schemeClr val="accent5"/>
                </a:solidFill>
              </a:rPr>
              <a:t>What is likely next?</a:t>
            </a:r>
            <a:endParaRPr lang="en-US" sz="1500" dirty="0"/>
          </a:p>
        </p:txBody>
      </p:sp>
      <p:sp>
        <p:nvSpPr>
          <p:cNvPr id="11" name="Stage arrow 3"/>
          <p:cNvSpPr/>
          <p:nvPr/>
        </p:nvSpPr>
        <p:spPr>
          <a:xfrm>
            <a:off x="4899538" y="1879092"/>
            <a:ext cx="137160" cy="274320"/>
          </a:xfrm>
          <a:prstGeom prst="chevron">
            <a:avLst/>
          </a:prstGeom>
          <a:solidFill>
            <a:schemeClr val="accent5"/>
          </a:solidFill>
          <a:ln/>
        </p:spPr>
      </p:sp>
      <p:sp>
        <p:nvSpPr>
          <p:cNvPr id="12" name="Stage 4 card"/>
          <p:cNvSpPr/>
          <p:nvPr/>
        </p:nvSpPr>
        <p:spPr>
          <a:xfrm>
            <a:off x="7315017" y="1536192"/>
            <a:ext cx="2072579" cy="960120"/>
          </a:xfrm>
          <a:prstGeom prst="roundRect">
            <a:avLst>
              <a:gd name="adj" fmla="val 7619"/>
            </a:avLst>
          </a:prstGeom>
          <a:solidFill>
            <a:schemeClr val="bg2"/>
          </a:solidFill>
          <a:ln/>
        </p:spPr>
      </p:sp>
      <p:sp>
        <p:nvSpPr>
          <p:cNvPr id="13" name="Stage 4 text"/>
          <p:cNvSpPr txBox="1"/>
          <p:nvPr/>
        </p:nvSpPr>
        <p:spPr>
          <a:xfrm>
            <a:off x="7497897" y="1536192"/>
            <a:ext cx="1706819" cy="960120"/>
          </a:xfrm>
          <a:prstGeom prst="rect">
            <a:avLst/>
          </a:prstGeom>
          <a:noFill/>
          <a:ln/>
        </p:spPr>
        <p:txBody>
          <a:bodyPr wrap="square" lIns="0" tIns="0" rIns="0" bIns="0" rtlCol="0" anchor="ctr"/>
          <a:lstStyle/>
          <a:p>
            <a:pPr indent="0" marL="0">
              <a:buNone/>
            </a:pPr>
            <a:r>
              <a:rPr lang="en-US" sz="1600" b="1" dirty="0">
                <a:solidFill>
                  <a:schemeClr val="tx2"/>
                </a:solidFill>
              </a:rPr>
              <a:t>Inference</a:t>
            </a:r>
            <a:endParaRPr lang="en-US" sz="1500" dirty="0"/>
          </a:p>
          <a:p>
            <a:pPr indent="0" marL="0">
              <a:buNone/>
            </a:pPr>
            <a:r>
              <a:rPr lang="en-US" sz="1350" dirty="0">
                <a:solidFill>
                  <a:schemeClr val="accent5"/>
                </a:solidFill>
              </a:rPr>
              <a:t>Is it real? How sure?</a:t>
            </a:r>
            <a:endParaRPr lang="en-US" sz="1500" dirty="0"/>
          </a:p>
        </p:txBody>
      </p:sp>
      <p:sp>
        <p:nvSpPr>
          <p:cNvPr id="14" name="Stage arrow 4"/>
          <p:cNvSpPr/>
          <p:nvPr/>
        </p:nvSpPr>
        <p:spPr>
          <a:xfrm>
            <a:off x="7154997" y="1879092"/>
            <a:ext cx="137160" cy="274320"/>
          </a:xfrm>
          <a:prstGeom prst="chevron">
            <a:avLst/>
          </a:prstGeom>
          <a:solidFill>
            <a:schemeClr val="accent5"/>
          </a:solidFill>
          <a:ln/>
        </p:spPr>
      </p:sp>
      <p:sp>
        <p:nvSpPr>
          <p:cNvPr id="15" name="Stage 5 card"/>
          <p:cNvSpPr/>
          <p:nvPr/>
        </p:nvSpPr>
        <p:spPr>
          <a:xfrm>
            <a:off x="9570476" y="1536192"/>
            <a:ext cx="2072579" cy="960120"/>
          </a:xfrm>
          <a:prstGeom prst="roundRect">
            <a:avLst>
              <a:gd name="adj" fmla="val 7619"/>
            </a:avLst>
          </a:prstGeom>
          <a:solidFill>
            <a:schemeClr val="tx2"/>
          </a:solidFill>
          <a:ln/>
        </p:spPr>
      </p:sp>
      <p:sp>
        <p:nvSpPr>
          <p:cNvPr id="16" name="Stage 5 text"/>
          <p:cNvSpPr txBox="1"/>
          <p:nvPr/>
        </p:nvSpPr>
        <p:spPr>
          <a:xfrm>
            <a:off x="9753356" y="1536192"/>
            <a:ext cx="1706819" cy="960120"/>
          </a:xfrm>
          <a:prstGeom prst="rect">
            <a:avLst/>
          </a:prstGeom>
          <a:noFill/>
          <a:ln/>
        </p:spPr>
        <p:txBody>
          <a:bodyPr wrap="square" lIns="0" tIns="0" rIns="0" bIns="0" rtlCol="0" anchor="ctr"/>
          <a:lstStyle/>
          <a:p>
            <a:pPr indent="0" marL="0">
              <a:buNone/>
            </a:pPr>
            <a:r>
              <a:rPr lang="en-US" sz="1600" b="1" dirty="0">
                <a:solidFill>
                  <a:schemeClr val="accent2"/>
                </a:solidFill>
              </a:rPr>
              <a:t>Decision</a:t>
            </a:r>
            <a:endParaRPr lang="en-US" sz="1500" dirty="0"/>
          </a:p>
          <a:p>
            <a:pPr indent="0" marL="0">
              <a:buNone/>
            </a:pPr>
            <a:r>
              <a:rPr lang="en-US" sz="1350" dirty="0">
                <a:solidFill>
                  <a:schemeClr val="bg1"/>
                </a:solidFill>
              </a:rPr>
              <a:t>What should we do?</a:t>
            </a:r>
            <a:endParaRPr lang="en-US" sz="1500" dirty="0"/>
          </a:p>
        </p:txBody>
      </p:sp>
      <p:sp>
        <p:nvSpPr>
          <p:cNvPr id="17" name="Stage arrow 5"/>
          <p:cNvSpPr/>
          <p:nvPr/>
        </p:nvSpPr>
        <p:spPr>
          <a:xfrm>
            <a:off x="9410456" y="1879092"/>
            <a:ext cx="137160" cy="274320"/>
          </a:xfrm>
          <a:prstGeom prst="chevron">
            <a:avLst/>
          </a:prstGeom>
          <a:solidFill>
            <a:schemeClr val="accent5"/>
          </a:solidFill>
          <a:ln/>
        </p:spPr>
      </p:sp>
      <p:sp>
        <p:nvSpPr>
          <p:cNvPr id="18" name="Methods heading"/>
          <p:cNvSpPr txBox="1"/>
          <p:nvPr/>
        </p:nvSpPr>
        <p:spPr>
          <a:xfrm>
            <a:off x="548640" y="2743200"/>
            <a:ext cx="7498080" cy="347472"/>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Key methods: each answers a different question</a:t>
            </a:r>
            <a:endParaRPr lang="en-US" sz="1700" dirty="0"/>
          </a:p>
        </p:txBody>
      </p:sp>
      <p:sp>
        <p:nvSpPr>
          <p:cNvPr id="19" name="Regression card"/>
          <p:cNvSpPr/>
          <p:nvPr/>
        </p:nvSpPr>
        <p:spPr>
          <a:xfrm>
            <a:off x="548640" y="3200400"/>
            <a:ext cx="2377440" cy="1435608"/>
          </a:xfrm>
          <a:prstGeom prst="roundRect">
            <a:avLst>
              <a:gd name="adj" fmla="val 5096"/>
            </a:avLst>
          </a:prstGeom>
          <a:solidFill>
            <a:schemeClr val="bg2"/>
          </a:solidFill>
          <a:ln/>
        </p:spPr>
      </p:sp>
      <p:pic>
        <p:nvPicPr>
          <p:cNvPr id="20" name="Regression diagram" descr="Diagram: Regression">    </p:cNvPr>
          <p:cNvPicPr>
            <a:picLocks noChangeAspect="1"/>
          </p:cNvPicPr>
          <p:nvPr/>
        </p:nvPicPr>
        <p:blipFill>
          <a:blip r:embed="rId1"/>
          <a:stretch>
            <a:fillRect/>
          </a:stretch>
        </p:blipFill>
        <p:spPr>
          <a:xfrm>
            <a:off x="685800" y="3337560"/>
            <a:ext cx="566928" cy="566928"/>
          </a:xfrm>
          <a:prstGeom prst="rect">
            <a:avLst/>
          </a:prstGeom>
        </p:spPr>
      </p:pic>
      <p:sp>
        <p:nvSpPr>
          <p:cNvPr id="21" name="Regression title"/>
          <p:cNvSpPr txBox="1"/>
          <p:nvPr/>
        </p:nvSpPr>
        <p:spPr>
          <a:xfrm>
            <a:off x="1353312" y="3337560"/>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Regression</a:t>
            </a:r>
            <a:endParaRPr lang="en-US" sz="1400" dirty="0"/>
          </a:p>
        </p:txBody>
      </p:sp>
      <p:sp>
        <p:nvSpPr>
          <p:cNvPr id="22" name="Regression text"/>
          <p:cNvSpPr txBox="1"/>
          <p:nvPr/>
        </p:nvSpPr>
        <p:spPr>
          <a:xfrm>
            <a:off x="713232" y="4005072"/>
            <a:ext cx="2048256" cy="548640"/>
          </a:xfrm>
          <a:prstGeom prst="rect">
            <a:avLst/>
          </a:prstGeom>
          <a:noFill/>
          <a:ln/>
        </p:spPr>
        <p:txBody>
          <a:bodyPr wrap="square" lIns="0" tIns="0" rIns="0" bIns="0" rtlCol="0" anchor="t"/>
          <a:lstStyle/>
          <a:p>
            <a:pPr indent="0" marL="0">
              <a:buNone/>
            </a:pPr>
            <a:r>
              <a:rPr lang="en-US" sz="1350" dirty="0">
                <a:solidFill>
                  <a:schemeClr val="tx1"/>
                </a:solidFill>
              </a:rPr>
              <a:t>How outcomes change with their drivers</a:t>
            </a:r>
            <a:endParaRPr lang="en-US" sz="1350" dirty="0"/>
          </a:p>
        </p:txBody>
      </p:sp>
      <p:sp>
        <p:nvSpPr>
          <p:cNvPr id="23" name="Hypothesis tests &amp; CIs card"/>
          <p:cNvSpPr/>
          <p:nvPr/>
        </p:nvSpPr>
        <p:spPr>
          <a:xfrm>
            <a:off x="3108960" y="3200400"/>
            <a:ext cx="2377440" cy="1435608"/>
          </a:xfrm>
          <a:prstGeom prst="roundRect">
            <a:avLst>
              <a:gd name="adj" fmla="val 5096"/>
            </a:avLst>
          </a:prstGeom>
          <a:solidFill>
            <a:schemeClr val="bg2"/>
          </a:solidFill>
          <a:ln/>
        </p:spPr>
      </p:sp>
      <p:pic>
        <p:nvPicPr>
          <p:cNvPr id="24" name="Hypothesis tests &amp; CIs diagram" descr="Diagram: Hypothesis tests &amp; CIs">    </p:cNvPr>
          <p:cNvPicPr>
            <a:picLocks noChangeAspect="1"/>
          </p:cNvPicPr>
          <p:nvPr/>
        </p:nvPicPr>
        <p:blipFill>
          <a:blip r:embed="rId2"/>
          <a:stretch>
            <a:fillRect/>
          </a:stretch>
        </p:blipFill>
        <p:spPr>
          <a:xfrm>
            <a:off x="3246120" y="3337560"/>
            <a:ext cx="566928" cy="566928"/>
          </a:xfrm>
          <a:prstGeom prst="rect">
            <a:avLst/>
          </a:prstGeom>
        </p:spPr>
      </p:pic>
      <p:sp>
        <p:nvSpPr>
          <p:cNvPr id="25" name="Hypothesis tests &amp;amp; CIs title"/>
          <p:cNvSpPr txBox="1"/>
          <p:nvPr/>
        </p:nvSpPr>
        <p:spPr>
          <a:xfrm>
            <a:off x="3913632" y="3337560"/>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Hypothesis tests &amp; CIs</a:t>
            </a:r>
            <a:endParaRPr lang="en-US" sz="1400" dirty="0"/>
          </a:p>
        </p:txBody>
      </p:sp>
      <p:sp>
        <p:nvSpPr>
          <p:cNvPr id="26" name="Hypothesis tests &amp;amp; CIs text"/>
          <p:cNvSpPr txBox="1"/>
          <p:nvPr/>
        </p:nvSpPr>
        <p:spPr>
          <a:xfrm>
            <a:off x="3273552" y="4005072"/>
            <a:ext cx="2048256" cy="548640"/>
          </a:xfrm>
          <a:prstGeom prst="rect">
            <a:avLst/>
          </a:prstGeom>
          <a:noFill/>
          <a:ln/>
        </p:spPr>
        <p:txBody>
          <a:bodyPr wrap="square" lIns="0" tIns="0" rIns="0" bIns="0" rtlCol="0" anchor="t"/>
          <a:lstStyle/>
          <a:p>
            <a:pPr indent="0" marL="0">
              <a:buNone/>
            </a:pPr>
            <a:r>
              <a:rPr lang="en-US" sz="1350" dirty="0">
                <a:solidFill>
                  <a:schemeClr val="tx1"/>
                </a:solidFill>
              </a:rPr>
              <a:t>Is a difference real, and how big?</a:t>
            </a:r>
            <a:endParaRPr lang="en-US" sz="1350" dirty="0"/>
          </a:p>
        </p:txBody>
      </p:sp>
      <p:sp>
        <p:nvSpPr>
          <p:cNvPr id="27" name="Bayesian inference card"/>
          <p:cNvSpPr/>
          <p:nvPr/>
        </p:nvSpPr>
        <p:spPr>
          <a:xfrm>
            <a:off x="5669280" y="3200400"/>
            <a:ext cx="2377440" cy="1435608"/>
          </a:xfrm>
          <a:prstGeom prst="roundRect">
            <a:avLst>
              <a:gd name="adj" fmla="val 5096"/>
            </a:avLst>
          </a:prstGeom>
          <a:solidFill>
            <a:schemeClr val="bg2"/>
          </a:solidFill>
          <a:ln/>
        </p:spPr>
      </p:sp>
      <p:pic>
        <p:nvPicPr>
          <p:cNvPr id="28" name="Bayesian inference diagram" descr="Diagram: Bayesian inference">    </p:cNvPr>
          <p:cNvPicPr>
            <a:picLocks noChangeAspect="1"/>
          </p:cNvPicPr>
          <p:nvPr/>
        </p:nvPicPr>
        <p:blipFill>
          <a:blip r:embed="rId3"/>
          <a:stretch>
            <a:fillRect/>
          </a:stretch>
        </p:blipFill>
        <p:spPr>
          <a:xfrm>
            <a:off x="5806440" y="3337560"/>
            <a:ext cx="566928" cy="566928"/>
          </a:xfrm>
          <a:prstGeom prst="rect">
            <a:avLst/>
          </a:prstGeom>
        </p:spPr>
      </p:pic>
      <p:sp>
        <p:nvSpPr>
          <p:cNvPr id="29" name="Bayesian inference title"/>
          <p:cNvSpPr txBox="1"/>
          <p:nvPr/>
        </p:nvSpPr>
        <p:spPr>
          <a:xfrm>
            <a:off x="6473952" y="3337560"/>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Bayesian inference</a:t>
            </a:r>
            <a:endParaRPr lang="en-US" sz="1400" dirty="0"/>
          </a:p>
        </p:txBody>
      </p:sp>
      <p:sp>
        <p:nvSpPr>
          <p:cNvPr id="30" name="Bayesian inference text"/>
          <p:cNvSpPr txBox="1"/>
          <p:nvPr/>
        </p:nvSpPr>
        <p:spPr>
          <a:xfrm>
            <a:off x="5833872" y="4005072"/>
            <a:ext cx="2048256" cy="548640"/>
          </a:xfrm>
          <a:prstGeom prst="rect">
            <a:avLst/>
          </a:prstGeom>
          <a:noFill/>
          <a:ln/>
        </p:spPr>
        <p:txBody>
          <a:bodyPr wrap="square" lIns="0" tIns="0" rIns="0" bIns="0" rtlCol="0" anchor="t"/>
          <a:lstStyle/>
          <a:p>
            <a:pPr indent="0" marL="0">
              <a:buNone/>
            </a:pPr>
            <a:r>
              <a:rPr lang="en-US" sz="1350" dirty="0">
                <a:solidFill>
                  <a:schemeClr val="tx1"/>
                </a:solidFill>
              </a:rPr>
              <a:t>Update beliefs as new data arrives</a:t>
            </a:r>
            <a:endParaRPr lang="en-US" sz="1350" dirty="0"/>
          </a:p>
        </p:txBody>
      </p:sp>
      <p:sp>
        <p:nvSpPr>
          <p:cNvPr id="31" name="Time-series forecasting card"/>
          <p:cNvSpPr/>
          <p:nvPr/>
        </p:nvSpPr>
        <p:spPr>
          <a:xfrm>
            <a:off x="548640" y="4818888"/>
            <a:ext cx="2377440" cy="1435608"/>
          </a:xfrm>
          <a:prstGeom prst="roundRect">
            <a:avLst>
              <a:gd name="adj" fmla="val 5096"/>
            </a:avLst>
          </a:prstGeom>
          <a:solidFill>
            <a:schemeClr val="bg2"/>
          </a:solidFill>
          <a:ln/>
        </p:spPr>
      </p:sp>
      <p:pic>
        <p:nvPicPr>
          <p:cNvPr id="32" name="Time-series forecasting diagram" descr="Diagram: Time-series forecasting">    </p:cNvPr>
          <p:cNvPicPr>
            <a:picLocks noChangeAspect="1"/>
          </p:cNvPicPr>
          <p:nvPr/>
        </p:nvPicPr>
        <p:blipFill>
          <a:blip r:embed="rId4"/>
          <a:stretch>
            <a:fillRect/>
          </a:stretch>
        </p:blipFill>
        <p:spPr>
          <a:xfrm>
            <a:off x="685800" y="4956048"/>
            <a:ext cx="566928" cy="566928"/>
          </a:xfrm>
          <a:prstGeom prst="rect">
            <a:avLst/>
          </a:prstGeom>
        </p:spPr>
      </p:pic>
      <p:sp>
        <p:nvSpPr>
          <p:cNvPr id="33" name="Time-series forecasting title"/>
          <p:cNvSpPr txBox="1"/>
          <p:nvPr/>
        </p:nvSpPr>
        <p:spPr>
          <a:xfrm>
            <a:off x="1353312" y="4956048"/>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Time-series forecasting</a:t>
            </a:r>
            <a:endParaRPr lang="en-US" sz="1400" dirty="0"/>
          </a:p>
        </p:txBody>
      </p:sp>
      <p:sp>
        <p:nvSpPr>
          <p:cNvPr id="34" name="Time-series forecasting text"/>
          <p:cNvSpPr txBox="1"/>
          <p:nvPr/>
        </p:nvSpPr>
        <p:spPr>
          <a:xfrm>
            <a:off x="713232" y="5623560"/>
            <a:ext cx="2048256" cy="548640"/>
          </a:xfrm>
          <a:prstGeom prst="rect">
            <a:avLst/>
          </a:prstGeom>
          <a:noFill/>
          <a:ln/>
        </p:spPr>
        <p:txBody>
          <a:bodyPr wrap="square" lIns="0" tIns="0" rIns="0" bIns="0" rtlCol="0" anchor="t"/>
          <a:lstStyle/>
          <a:p>
            <a:pPr indent="0" marL="0">
              <a:buNone/>
            </a:pPr>
            <a:r>
              <a:rPr lang="en-US" sz="1350" dirty="0">
                <a:solidFill>
                  <a:schemeClr val="tx1"/>
                </a:solidFill>
              </a:rPr>
              <a:t>Predict the future, with a range</a:t>
            </a:r>
            <a:endParaRPr lang="en-US" sz="1350" dirty="0"/>
          </a:p>
        </p:txBody>
      </p:sp>
      <p:sp>
        <p:nvSpPr>
          <p:cNvPr id="35" name="Experiments &amp; causal inference card"/>
          <p:cNvSpPr/>
          <p:nvPr/>
        </p:nvSpPr>
        <p:spPr>
          <a:xfrm>
            <a:off x="3108960" y="4818888"/>
            <a:ext cx="2377440" cy="1435608"/>
          </a:xfrm>
          <a:prstGeom prst="roundRect">
            <a:avLst>
              <a:gd name="adj" fmla="val 5096"/>
            </a:avLst>
          </a:prstGeom>
          <a:solidFill>
            <a:schemeClr val="bg2"/>
          </a:solidFill>
          <a:ln/>
        </p:spPr>
      </p:sp>
      <p:pic>
        <p:nvPicPr>
          <p:cNvPr id="36" name="Experiments &amp; causal inference diagram" descr="Diagram: Experiments &amp; causal inference">    </p:cNvPr>
          <p:cNvPicPr>
            <a:picLocks noChangeAspect="1"/>
          </p:cNvPicPr>
          <p:nvPr/>
        </p:nvPicPr>
        <p:blipFill>
          <a:blip r:embed="rId5"/>
          <a:stretch>
            <a:fillRect/>
          </a:stretch>
        </p:blipFill>
        <p:spPr>
          <a:xfrm>
            <a:off x="3246120" y="4956048"/>
            <a:ext cx="566928" cy="566928"/>
          </a:xfrm>
          <a:prstGeom prst="rect">
            <a:avLst/>
          </a:prstGeom>
        </p:spPr>
      </p:pic>
      <p:sp>
        <p:nvSpPr>
          <p:cNvPr id="37" name="Experiments &amp;amp; causal inference title"/>
          <p:cNvSpPr txBox="1"/>
          <p:nvPr/>
        </p:nvSpPr>
        <p:spPr>
          <a:xfrm>
            <a:off x="3913632" y="4956048"/>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Experiments &amp; causal inference</a:t>
            </a:r>
            <a:endParaRPr lang="en-US" sz="1400" dirty="0"/>
          </a:p>
        </p:txBody>
      </p:sp>
      <p:sp>
        <p:nvSpPr>
          <p:cNvPr id="38" name="Experiments &amp;amp; causal inference text"/>
          <p:cNvSpPr txBox="1"/>
          <p:nvPr/>
        </p:nvSpPr>
        <p:spPr>
          <a:xfrm>
            <a:off x="3273552" y="5623560"/>
            <a:ext cx="2048256" cy="548640"/>
          </a:xfrm>
          <a:prstGeom prst="rect">
            <a:avLst/>
          </a:prstGeom>
          <a:noFill/>
          <a:ln/>
        </p:spPr>
        <p:txBody>
          <a:bodyPr wrap="square" lIns="0" tIns="0" rIns="0" bIns="0" rtlCol="0" anchor="t"/>
          <a:lstStyle/>
          <a:p>
            <a:pPr indent="0" marL="0">
              <a:buNone/>
            </a:pPr>
            <a:r>
              <a:rPr lang="en-US" sz="1350" dirty="0">
                <a:solidFill>
                  <a:schemeClr val="tx1"/>
                </a:solidFill>
              </a:rPr>
              <a:t>What happens if we act?</a:t>
            </a:r>
            <a:endParaRPr lang="en-US" sz="1350" dirty="0"/>
          </a:p>
        </p:txBody>
      </p:sp>
      <p:sp>
        <p:nvSpPr>
          <p:cNvPr id="39" name="Clustering &amp; multivariate card"/>
          <p:cNvSpPr/>
          <p:nvPr/>
        </p:nvSpPr>
        <p:spPr>
          <a:xfrm>
            <a:off x="5669280" y="4818888"/>
            <a:ext cx="2377440" cy="1435608"/>
          </a:xfrm>
          <a:prstGeom prst="roundRect">
            <a:avLst>
              <a:gd name="adj" fmla="val 5096"/>
            </a:avLst>
          </a:prstGeom>
          <a:solidFill>
            <a:schemeClr val="bg2"/>
          </a:solidFill>
          <a:ln/>
        </p:spPr>
      </p:sp>
      <p:pic>
        <p:nvPicPr>
          <p:cNvPr id="40" name="Clustering &amp; multivariate diagram" descr="Diagram: Clustering &amp; multivariate">    </p:cNvPr>
          <p:cNvPicPr>
            <a:picLocks noChangeAspect="1"/>
          </p:cNvPicPr>
          <p:nvPr/>
        </p:nvPicPr>
        <p:blipFill>
          <a:blip r:embed="rId6"/>
          <a:stretch>
            <a:fillRect/>
          </a:stretch>
        </p:blipFill>
        <p:spPr>
          <a:xfrm>
            <a:off x="5806440" y="4956048"/>
            <a:ext cx="566928" cy="566928"/>
          </a:xfrm>
          <a:prstGeom prst="rect">
            <a:avLst/>
          </a:prstGeom>
        </p:spPr>
      </p:pic>
      <p:sp>
        <p:nvSpPr>
          <p:cNvPr id="41" name="Clustering &amp;amp; multivariate title"/>
          <p:cNvSpPr txBox="1"/>
          <p:nvPr/>
        </p:nvSpPr>
        <p:spPr>
          <a:xfrm>
            <a:off x="6473952" y="4956048"/>
            <a:ext cx="1463040" cy="566928"/>
          </a:xfrm>
          <a:prstGeom prst="rect">
            <a:avLst/>
          </a:prstGeom>
          <a:noFill/>
          <a:ln/>
        </p:spPr>
        <p:txBody>
          <a:bodyPr wrap="square" lIns="0" tIns="0" rIns="0" bIns="0" rtlCol="0" anchor="ctr"/>
          <a:lstStyle/>
          <a:p>
            <a:pPr indent="0" marL="0">
              <a:buNone/>
            </a:pPr>
            <a:r>
              <a:rPr lang="en-US" sz="1400" b="1" dirty="0">
                <a:solidFill>
                  <a:schemeClr val="tx2"/>
                </a:solidFill>
                <a:latin typeface="+mj-lt" pitchFamily="34" charset="0"/>
                <a:ea typeface="+mj-lt" pitchFamily="34" charset="-122"/>
                <a:cs typeface="+mj-lt" pitchFamily="34" charset="-120"/>
              </a:rPr>
              <a:t>Clustering &amp; multivariate</a:t>
            </a:r>
            <a:endParaRPr lang="en-US" sz="1400" dirty="0"/>
          </a:p>
        </p:txBody>
      </p:sp>
      <p:sp>
        <p:nvSpPr>
          <p:cNvPr id="42" name="Clustering &amp;amp; multivariate text"/>
          <p:cNvSpPr txBox="1"/>
          <p:nvPr/>
        </p:nvSpPr>
        <p:spPr>
          <a:xfrm>
            <a:off x="5833872" y="5623560"/>
            <a:ext cx="2048256" cy="548640"/>
          </a:xfrm>
          <a:prstGeom prst="rect">
            <a:avLst/>
          </a:prstGeom>
          <a:noFill/>
          <a:ln/>
        </p:spPr>
        <p:txBody>
          <a:bodyPr wrap="square" lIns="0" tIns="0" rIns="0" bIns="0" rtlCol="0" anchor="t"/>
          <a:lstStyle/>
          <a:p>
            <a:pPr indent="0" marL="0">
              <a:buNone/>
            </a:pPr>
            <a:r>
              <a:rPr lang="en-US" sz="1350" dirty="0">
                <a:solidFill>
                  <a:schemeClr val="tx1"/>
                </a:solidFill>
              </a:rPr>
              <a:t>Find groups in complex data</a:t>
            </a:r>
            <a:endParaRPr lang="en-US" sz="1350" dirty="0"/>
          </a:p>
        </p:txBody>
      </p:sp>
      <p:sp>
        <p:nvSpPr>
          <p:cNvPr id="43" name="Evidence panel"/>
          <p:cNvSpPr/>
          <p:nvPr/>
        </p:nvSpPr>
        <p:spPr>
          <a:xfrm>
            <a:off x="8321040" y="2743200"/>
            <a:ext cx="3322015" cy="3511296"/>
          </a:xfrm>
          <a:prstGeom prst="roundRect">
            <a:avLst>
              <a:gd name="adj" fmla="val 2202"/>
            </a:avLst>
          </a:prstGeom>
          <a:solidFill>
            <a:schemeClr val="tx2"/>
          </a:solidFill>
          <a:ln/>
        </p:spPr>
      </p:sp>
      <p:sp>
        <p:nvSpPr>
          <p:cNvPr id="44" name="Evidence tag"/>
          <p:cNvSpPr txBox="1"/>
          <p:nvPr/>
        </p:nvSpPr>
        <p:spPr>
          <a:xfrm>
            <a:off x="8595360" y="3017520"/>
            <a:ext cx="2773375"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EVIDENCE</a:t>
            </a:r>
            <a:endParaRPr lang="en-US" sz="1100" dirty="0"/>
          </a:p>
        </p:txBody>
      </p:sp>
      <p:sp>
        <p:nvSpPr>
          <p:cNvPr id="45" name="Evidence statistic"/>
          <p:cNvSpPr txBox="1"/>
          <p:nvPr/>
        </p:nvSpPr>
        <p:spPr>
          <a:xfrm>
            <a:off x="8595360" y="3337560"/>
            <a:ext cx="2773375" cy="822960"/>
          </a:xfrm>
          <a:prstGeom prst="rect">
            <a:avLst/>
          </a:prstGeom>
          <a:noFill/>
          <a:ln/>
        </p:spPr>
        <p:txBody>
          <a:bodyPr wrap="square" lIns="0" tIns="0" rIns="0" bIns="0" rtlCol="0" anchor="ctr"/>
          <a:lstStyle/>
          <a:p>
            <a:pPr indent="0" marL="0">
              <a:buNone/>
            </a:pPr>
            <a:r>
              <a:rPr lang="en-US" sz="5000" b="1" dirty="0">
                <a:solidFill>
                  <a:schemeClr val="accent2"/>
                </a:solidFill>
                <a:latin typeface="+mj-lt" pitchFamily="34" charset="0"/>
                <a:ea typeface="+mj-lt" pitchFamily="34" charset="-122"/>
                <a:cs typeface="+mj-lt" pitchFamily="34" charset="-120"/>
              </a:rPr>
              <a:t>5–6%</a:t>
            </a:r>
            <a:endParaRPr lang="en-US" sz="5000" dirty="0"/>
          </a:p>
        </p:txBody>
      </p:sp>
      <p:sp>
        <p:nvSpPr>
          <p:cNvPr id="46" name="Evidence text"/>
          <p:cNvSpPr txBox="1"/>
          <p:nvPr/>
        </p:nvSpPr>
        <p:spPr>
          <a:xfrm>
            <a:off x="8595360" y="4251960"/>
            <a:ext cx="2773375" cy="914400"/>
          </a:xfrm>
          <a:prstGeom prst="rect">
            <a:avLst/>
          </a:prstGeom>
          <a:noFill/>
          <a:ln/>
        </p:spPr>
        <p:txBody>
          <a:bodyPr wrap="square" lIns="0" tIns="0" rIns="0" bIns="0" rtlCol="0" anchor="t"/>
          <a:lstStyle/>
          <a:p>
            <a:pPr indent="0" marL="0">
              <a:buNone/>
            </a:pPr>
            <a:r>
              <a:rPr lang="en-US" sz="1500" dirty="0">
                <a:solidFill>
                  <a:schemeClr val="bg1"/>
                </a:solidFill>
              </a:rPr>
              <a:t>higher productivity in firms that use data-driven decision-making</a:t>
            </a:r>
            <a:endParaRPr lang="en-US" sz="1500" dirty="0"/>
          </a:p>
        </p:txBody>
      </p:sp>
      <p:sp>
        <p:nvSpPr>
          <p:cNvPr id="47" name="Evidence source"/>
          <p:cNvSpPr txBox="1"/>
          <p:nvPr/>
        </p:nvSpPr>
        <p:spPr>
          <a:xfrm>
            <a:off x="8595360" y="5349240"/>
            <a:ext cx="2773375" cy="548640"/>
          </a:xfrm>
          <a:prstGeom prst="rect">
            <a:avLst/>
          </a:prstGeom>
          <a:noFill/>
          <a:ln/>
        </p:spPr>
        <p:txBody>
          <a:bodyPr wrap="square" lIns="0" tIns="0" rIns="0" bIns="0" rtlCol="0" anchor="t"/>
          <a:lstStyle/>
          <a:p>
            <a:pPr indent="0" marL="0">
              <a:buNone/>
            </a:pPr>
            <a:r>
              <a:rPr lang="en-US" sz="1050" dirty="0">
                <a:solidFill>
                  <a:schemeClr val="accent6"/>
                </a:solidFill>
              </a:rPr>
              <a:t>Brynjolfsson, Hitt &amp; Kim (2011) · observational study of 179 large firms</a:t>
            </a:r>
            <a:endParaRPr lang="en-US" sz="10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02 · IMPLICATIONS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Better decisions in business and research</a:t>
            </a:r>
            <a:endParaRPr lang="en-US" sz="3400" dirty="0"/>
          </a:p>
        </p:txBody>
      </p:sp>
      <p:sp>
        <p:nvSpPr>
          <p:cNvPr id="4" name="Business panel"/>
          <p:cNvSpPr/>
          <p:nvPr/>
        </p:nvSpPr>
        <p:spPr>
          <a:xfrm>
            <a:off x="548640" y="1554480"/>
            <a:ext cx="5387188" cy="4709160"/>
          </a:xfrm>
          <a:prstGeom prst="roundRect">
            <a:avLst>
              <a:gd name="adj" fmla="val 1553"/>
            </a:avLst>
          </a:prstGeom>
          <a:solidFill>
            <a:schemeClr val="bg2"/>
          </a:solidFill>
          <a:ln/>
        </p:spPr>
      </p:sp>
      <p:sp>
        <p:nvSpPr>
          <p:cNvPr id="5" name="Business icon circle"/>
          <p:cNvSpPr/>
          <p:nvPr/>
        </p:nvSpPr>
        <p:spPr>
          <a:xfrm>
            <a:off x="822960" y="1783080"/>
            <a:ext cx="512064" cy="512064"/>
          </a:xfrm>
          <a:prstGeom prst="ellipse">
            <a:avLst/>
          </a:prstGeom>
          <a:solidFill>
            <a:schemeClr val="accent3"/>
          </a:solidFill>
          <a:ln/>
        </p:spPr>
      </p:sp>
      <p:pic>
        <p:nvPicPr>
          <p:cNvPr id="6" name="Business icon" descr="Business">    </p:cNvPr>
          <p:cNvPicPr>
            <a:picLocks noChangeAspect="1"/>
          </p:cNvPicPr>
          <p:nvPr/>
        </p:nvPicPr>
        <p:blipFill>
          <a:blip r:embed="rId1"/>
          <a:stretch>
            <a:fillRect/>
          </a:stretch>
        </p:blipFill>
        <p:spPr>
          <a:xfrm>
            <a:off x="950976" y="1911096"/>
            <a:ext cx="256032" cy="256032"/>
          </a:xfrm>
          <a:prstGeom prst="rect">
            <a:avLst/>
          </a:prstGeom>
        </p:spPr>
      </p:pic>
      <p:sp>
        <p:nvSpPr>
          <p:cNvPr id="7" name="Business heading"/>
          <p:cNvSpPr txBox="1"/>
          <p:nvPr/>
        </p:nvSpPr>
        <p:spPr>
          <a:xfrm>
            <a:off x="1508760"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Business</a:t>
            </a:r>
            <a:endParaRPr lang="en-US" sz="2100" dirty="0"/>
          </a:p>
        </p:txBody>
      </p:sp>
      <p:sp>
        <p:nvSpPr>
          <p:cNvPr id="8" name="Business tag 1"/>
          <p:cNvSpPr/>
          <p:nvPr/>
        </p:nvSpPr>
        <p:spPr>
          <a:xfrm>
            <a:off x="822960" y="2514600"/>
            <a:ext cx="1741018" cy="384048"/>
          </a:xfrm>
          <a:prstGeom prst="roundRect">
            <a:avLst>
              <a:gd name="adj" fmla="val 50000"/>
            </a:avLst>
          </a:prstGeom>
          <a:solidFill>
            <a:schemeClr val="bg1"/>
          </a:solidFill>
          <a:ln w="15875">
            <a:solidFill>
              <a:schemeClr val="accent3"/>
            </a:solidFill>
            <a:prstDash val="solid"/>
          </a:ln>
        </p:spPr>
      </p:sp>
      <p:sp>
        <p:nvSpPr>
          <p:cNvPr id="9" name="Business tag 1 text"/>
          <p:cNvSpPr txBox="1"/>
          <p:nvPr/>
        </p:nvSpPr>
        <p:spPr>
          <a:xfrm>
            <a:off x="822960" y="2514600"/>
            <a:ext cx="1741018" cy="384048"/>
          </a:xfrm>
          <a:prstGeom prst="rect">
            <a:avLst/>
          </a:prstGeom>
          <a:noFill/>
          <a:ln/>
        </p:spPr>
        <p:txBody>
          <a:bodyPr wrap="square" lIns="0" tIns="0" rIns="0" bIns="0" rtlCol="0" anchor="ctr"/>
          <a:lstStyle/>
          <a:p>
            <a:pPr algn="ctr" indent="0" marL="0">
              <a:buNone/>
            </a:pPr>
            <a:r>
              <a:rPr lang="en-US" sz="1350" b="1" dirty="0">
                <a:solidFill>
                  <a:schemeClr val="tx2"/>
                </a:solidFill>
              </a:rPr>
              <a:t>Demand forecasting</a:t>
            </a:r>
            <a:endParaRPr lang="en-US" sz="1350" dirty="0"/>
          </a:p>
        </p:txBody>
      </p:sp>
      <p:sp>
        <p:nvSpPr>
          <p:cNvPr id="10" name="Business tag 2"/>
          <p:cNvSpPr/>
          <p:nvPr/>
        </p:nvSpPr>
        <p:spPr>
          <a:xfrm>
            <a:off x="2701138" y="2514600"/>
            <a:ext cx="1660550" cy="384048"/>
          </a:xfrm>
          <a:prstGeom prst="roundRect">
            <a:avLst>
              <a:gd name="adj" fmla="val 50000"/>
            </a:avLst>
          </a:prstGeom>
          <a:solidFill>
            <a:schemeClr val="bg1"/>
          </a:solidFill>
          <a:ln w="15875">
            <a:solidFill>
              <a:schemeClr val="accent3"/>
            </a:solidFill>
            <a:prstDash val="solid"/>
          </a:ln>
        </p:spPr>
      </p:sp>
      <p:sp>
        <p:nvSpPr>
          <p:cNvPr id="11" name="Business tag 2 text"/>
          <p:cNvSpPr txBox="1"/>
          <p:nvPr/>
        </p:nvSpPr>
        <p:spPr>
          <a:xfrm>
            <a:off x="2701138" y="2514600"/>
            <a:ext cx="1660550" cy="384048"/>
          </a:xfrm>
          <a:prstGeom prst="rect">
            <a:avLst/>
          </a:prstGeom>
          <a:noFill/>
          <a:ln/>
        </p:spPr>
        <p:txBody>
          <a:bodyPr wrap="square" lIns="0" tIns="0" rIns="0" bIns="0" rtlCol="0" anchor="ctr"/>
          <a:lstStyle/>
          <a:p>
            <a:pPr algn="ctr" indent="0" marL="0">
              <a:buNone/>
            </a:pPr>
            <a:r>
              <a:rPr lang="en-US" sz="1350" b="1" dirty="0">
                <a:solidFill>
                  <a:schemeClr val="tx2"/>
                </a:solidFill>
              </a:rPr>
              <a:t>Customer segments</a:t>
            </a:r>
            <a:endParaRPr lang="en-US" sz="1350" dirty="0"/>
          </a:p>
        </p:txBody>
      </p:sp>
      <p:sp>
        <p:nvSpPr>
          <p:cNvPr id="12" name="Business tag 3"/>
          <p:cNvSpPr/>
          <p:nvPr/>
        </p:nvSpPr>
        <p:spPr>
          <a:xfrm>
            <a:off x="4498848" y="2514600"/>
            <a:ext cx="855878" cy="384048"/>
          </a:xfrm>
          <a:prstGeom prst="roundRect">
            <a:avLst>
              <a:gd name="adj" fmla="val 50000"/>
            </a:avLst>
          </a:prstGeom>
          <a:solidFill>
            <a:schemeClr val="bg1"/>
          </a:solidFill>
          <a:ln w="15875">
            <a:solidFill>
              <a:schemeClr val="accent3"/>
            </a:solidFill>
            <a:prstDash val="solid"/>
          </a:ln>
        </p:spPr>
      </p:sp>
      <p:sp>
        <p:nvSpPr>
          <p:cNvPr id="13" name="Business tag 3 text"/>
          <p:cNvSpPr txBox="1"/>
          <p:nvPr/>
        </p:nvSpPr>
        <p:spPr>
          <a:xfrm>
            <a:off x="4498848" y="2514600"/>
            <a:ext cx="855878" cy="384048"/>
          </a:xfrm>
          <a:prstGeom prst="rect">
            <a:avLst/>
          </a:prstGeom>
          <a:noFill/>
          <a:ln/>
        </p:spPr>
        <p:txBody>
          <a:bodyPr wrap="square" lIns="0" tIns="0" rIns="0" bIns="0" rtlCol="0" anchor="ctr"/>
          <a:lstStyle/>
          <a:p>
            <a:pPr algn="ctr" indent="0" marL="0">
              <a:buNone/>
            </a:pPr>
            <a:r>
              <a:rPr lang="en-US" sz="1350" b="1" dirty="0">
                <a:solidFill>
                  <a:schemeClr val="tx2"/>
                </a:solidFill>
              </a:rPr>
              <a:t>Pricing</a:t>
            </a:r>
            <a:endParaRPr lang="en-US" sz="1350" dirty="0"/>
          </a:p>
        </p:txBody>
      </p:sp>
      <p:sp>
        <p:nvSpPr>
          <p:cNvPr id="14" name="Business tag 4"/>
          <p:cNvSpPr/>
          <p:nvPr/>
        </p:nvSpPr>
        <p:spPr>
          <a:xfrm>
            <a:off x="822960" y="3017520"/>
            <a:ext cx="1821485" cy="384048"/>
          </a:xfrm>
          <a:prstGeom prst="roundRect">
            <a:avLst>
              <a:gd name="adj" fmla="val 50000"/>
            </a:avLst>
          </a:prstGeom>
          <a:solidFill>
            <a:schemeClr val="bg1"/>
          </a:solidFill>
          <a:ln w="15875">
            <a:solidFill>
              <a:schemeClr val="accent3"/>
            </a:solidFill>
            <a:prstDash val="solid"/>
          </a:ln>
        </p:spPr>
      </p:sp>
      <p:sp>
        <p:nvSpPr>
          <p:cNvPr id="15" name="Business tag 4 text"/>
          <p:cNvSpPr txBox="1"/>
          <p:nvPr/>
        </p:nvSpPr>
        <p:spPr>
          <a:xfrm>
            <a:off x="822960" y="3017520"/>
            <a:ext cx="1821485" cy="384048"/>
          </a:xfrm>
          <a:prstGeom prst="rect">
            <a:avLst/>
          </a:prstGeom>
          <a:noFill/>
          <a:ln/>
        </p:spPr>
        <p:txBody>
          <a:bodyPr wrap="square" lIns="0" tIns="0" rIns="0" bIns="0" rtlCol="0" anchor="ctr"/>
          <a:lstStyle/>
          <a:p>
            <a:pPr algn="ctr" indent="0" marL="0">
              <a:buNone/>
            </a:pPr>
            <a:r>
              <a:rPr lang="en-US" sz="1350" b="1" dirty="0">
                <a:solidFill>
                  <a:schemeClr val="tx2"/>
                </a:solidFill>
              </a:rPr>
              <a:t>Credit risk &amp; fraud</a:t>
            </a:r>
            <a:endParaRPr lang="en-US" sz="1350" dirty="0"/>
          </a:p>
        </p:txBody>
      </p:sp>
      <p:sp>
        <p:nvSpPr>
          <p:cNvPr id="16" name="Business case box"/>
          <p:cNvSpPr/>
          <p:nvPr/>
        </p:nvSpPr>
        <p:spPr>
          <a:xfrm>
            <a:off x="822960" y="3703320"/>
            <a:ext cx="4838548" cy="2286000"/>
          </a:xfrm>
          <a:prstGeom prst="roundRect">
            <a:avLst>
              <a:gd name="adj" fmla="val 2400"/>
            </a:avLst>
          </a:prstGeom>
          <a:solidFill>
            <a:schemeClr val="tx2"/>
          </a:solidFill>
          <a:ln/>
        </p:spPr>
      </p:sp>
      <p:sp>
        <p:nvSpPr>
          <p:cNvPr id="17" name="Business case tag"/>
          <p:cNvSpPr txBox="1"/>
          <p:nvPr/>
        </p:nvSpPr>
        <p:spPr>
          <a:xfrm>
            <a:off x="1005840" y="3867912"/>
            <a:ext cx="4472788"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REAL CASE · BING SEARCH ADS</a:t>
            </a:r>
            <a:endParaRPr lang="en-US" sz="1100" dirty="0"/>
          </a:p>
        </p:txBody>
      </p:sp>
      <p:sp>
        <p:nvSpPr>
          <p:cNvPr id="18" name="Bing step 1 box"/>
          <p:cNvSpPr/>
          <p:nvPr/>
        </p:nvSpPr>
        <p:spPr>
          <a:xfrm>
            <a:off x="1005840" y="4233672"/>
            <a:ext cx="1308049" cy="1234440"/>
          </a:xfrm>
          <a:prstGeom prst="roundRect">
            <a:avLst>
              <a:gd name="adj" fmla="val 4444"/>
            </a:avLst>
          </a:prstGeom>
          <a:solidFill>
            <a:schemeClr val="accent3"/>
          </a:solidFill>
          <a:ln/>
        </p:spPr>
      </p:sp>
      <p:sp>
        <p:nvSpPr>
          <p:cNvPr id="19" name="Bing step 1 text"/>
          <p:cNvSpPr txBox="1"/>
          <p:nvPr/>
        </p:nvSpPr>
        <p:spPr>
          <a:xfrm>
            <a:off x="1124712" y="4325112"/>
            <a:ext cx="1070305" cy="1097280"/>
          </a:xfrm>
          <a:prstGeom prst="rect">
            <a:avLst/>
          </a:prstGeom>
          <a:noFill/>
          <a:ln/>
        </p:spPr>
        <p:txBody>
          <a:bodyPr wrap="square" lIns="0" tIns="0" rIns="0" bIns="0" rtlCol="0" anchor="t"/>
          <a:lstStyle/>
          <a:p>
            <a:pPr indent="0" marL="0">
              <a:buNone/>
            </a:pPr>
            <a:r>
              <a:rPr lang="en-US" sz="1000" b="1" spc="100" kern="0" dirty="0">
                <a:solidFill>
                  <a:schemeClr val="accent2"/>
                </a:solidFill>
              </a:rPr>
              <a:t>IDEA</a:t>
            </a:r>
            <a:endParaRPr lang="en-US" sz="1500" dirty="0"/>
          </a:p>
          <a:p>
            <a:pPr indent="0" marL="0">
              <a:buNone/>
            </a:pPr>
            <a:r>
              <a:rPr lang="en-US" sz="1400" dirty="0">
                <a:solidFill>
                  <a:schemeClr val="bg1"/>
                </a:solidFill>
              </a:rPr>
              <a:t>Show longer ad titles</a:t>
            </a:r>
            <a:endParaRPr lang="en-US" sz="1500" dirty="0"/>
          </a:p>
        </p:txBody>
      </p:sp>
      <p:sp>
        <p:nvSpPr>
          <p:cNvPr id="20" name="Bing step 2 box"/>
          <p:cNvSpPr/>
          <p:nvPr/>
        </p:nvSpPr>
        <p:spPr>
          <a:xfrm>
            <a:off x="2588209" y="4233672"/>
            <a:ext cx="1308049" cy="1234440"/>
          </a:xfrm>
          <a:prstGeom prst="roundRect">
            <a:avLst>
              <a:gd name="adj" fmla="val 4444"/>
            </a:avLst>
          </a:prstGeom>
          <a:solidFill>
            <a:schemeClr val="accent3"/>
          </a:solidFill>
          <a:ln/>
        </p:spPr>
      </p:sp>
      <p:sp>
        <p:nvSpPr>
          <p:cNvPr id="21" name="Bing step 2 text"/>
          <p:cNvSpPr txBox="1"/>
          <p:nvPr/>
        </p:nvSpPr>
        <p:spPr>
          <a:xfrm>
            <a:off x="2707081" y="4325112"/>
            <a:ext cx="1070305" cy="1097280"/>
          </a:xfrm>
          <a:prstGeom prst="rect">
            <a:avLst/>
          </a:prstGeom>
          <a:noFill/>
          <a:ln/>
        </p:spPr>
        <p:txBody>
          <a:bodyPr wrap="square" lIns="0" tIns="0" rIns="0" bIns="0" rtlCol="0" anchor="t"/>
          <a:lstStyle/>
          <a:p>
            <a:pPr indent="0" marL="0">
              <a:buNone/>
            </a:pPr>
            <a:r>
              <a:rPr lang="en-US" sz="1000" b="1" spc="100" kern="0" dirty="0">
                <a:solidFill>
                  <a:schemeClr val="accent2"/>
                </a:solidFill>
              </a:rPr>
              <a:t>METHOD</a:t>
            </a:r>
            <a:endParaRPr lang="en-US" sz="1500" dirty="0"/>
          </a:p>
          <a:p>
            <a:pPr indent="0" marL="0">
              <a:buNone/>
            </a:pPr>
            <a:r>
              <a:rPr lang="en-US" sz="1400" dirty="0">
                <a:solidFill>
                  <a:schemeClr val="bg1"/>
                </a:solidFill>
              </a:rPr>
              <a:t>Randomized A/B test</a:t>
            </a:r>
            <a:endParaRPr lang="en-US" sz="1500" dirty="0"/>
          </a:p>
        </p:txBody>
      </p:sp>
      <p:sp>
        <p:nvSpPr>
          <p:cNvPr id="22" name="Bing arrow 2"/>
          <p:cNvSpPr/>
          <p:nvPr/>
        </p:nvSpPr>
        <p:spPr>
          <a:xfrm>
            <a:off x="2382469" y="4713732"/>
            <a:ext cx="137160" cy="274320"/>
          </a:xfrm>
          <a:prstGeom prst="chevron">
            <a:avLst/>
          </a:prstGeom>
          <a:solidFill>
            <a:schemeClr val="accent5"/>
          </a:solidFill>
          <a:ln/>
        </p:spPr>
      </p:sp>
      <p:sp>
        <p:nvSpPr>
          <p:cNvPr id="23" name="Bing step 3 box"/>
          <p:cNvSpPr/>
          <p:nvPr/>
        </p:nvSpPr>
        <p:spPr>
          <a:xfrm>
            <a:off x="4170578" y="4233672"/>
            <a:ext cx="1308049" cy="1234440"/>
          </a:xfrm>
          <a:prstGeom prst="roundRect">
            <a:avLst>
              <a:gd name="adj" fmla="val 4444"/>
            </a:avLst>
          </a:prstGeom>
          <a:solidFill>
            <a:schemeClr val="accent1"/>
          </a:solidFill>
          <a:ln/>
        </p:spPr>
      </p:sp>
      <p:sp>
        <p:nvSpPr>
          <p:cNvPr id="24" name="Bing step 3 text"/>
          <p:cNvSpPr txBox="1"/>
          <p:nvPr/>
        </p:nvSpPr>
        <p:spPr>
          <a:xfrm>
            <a:off x="4289450" y="4325112"/>
            <a:ext cx="1070305" cy="1097280"/>
          </a:xfrm>
          <a:prstGeom prst="rect">
            <a:avLst/>
          </a:prstGeom>
          <a:noFill/>
          <a:ln/>
        </p:spPr>
        <p:txBody>
          <a:bodyPr wrap="square" lIns="0" tIns="0" rIns="0" bIns="0" rtlCol="0" anchor="t"/>
          <a:lstStyle/>
          <a:p>
            <a:pPr indent="0" marL="0">
              <a:buNone/>
            </a:pPr>
            <a:r>
              <a:rPr lang="en-US" sz="1000" b="1" spc="100" kern="0" dirty="0">
                <a:solidFill>
                  <a:schemeClr val="tx2"/>
                </a:solidFill>
              </a:rPr>
              <a:t>RESULT</a:t>
            </a:r>
            <a:endParaRPr lang="en-US" sz="1500" dirty="0"/>
          </a:p>
          <a:p>
            <a:pPr indent="0" marL="0">
              <a:buNone/>
            </a:pPr>
            <a:r>
              <a:rPr lang="en-US" sz="1400" b="1" dirty="0">
                <a:solidFill>
                  <a:schemeClr val="bg1"/>
                </a:solidFill>
              </a:rPr>
              <a:t>+12% revenue</a:t>
            </a:r>
            <a:endParaRPr lang="en-US" sz="1500" dirty="0"/>
          </a:p>
          <a:p>
            <a:pPr indent="0" marL="0">
              <a:buNone/>
            </a:pPr>
            <a:r>
              <a:rPr lang="en-US" sz="1200" dirty="0">
                <a:solidFill>
                  <a:schemeClr val="bg1"/>
                </a:solidFill>
              </a:rPr>
              <a:t>≈ $100M a year in the U.S.</a:t>
            </a:r>
            <a:endParaRPr lang="en-US" sz="1500" dirty="0"/>
          </a:p>
        </p:txBody>
      </p:sp>
      <p:sp>
        <p:nvSpPr>
          <p:cNvPr id="25" name="Bing arrow 3"/>
          <p:cNvSpPr/>
          <p:nvPr/>
        </p:nvSpPr>
        <p:spPr>
          <a:xfrm>
            <a:off x="3964838" y="4713732"/>
            <a:ext cx="137160" cy="274320"/>
          </a:xfrm>
          <a:prstGeom prst="chevron">
            <a:avLst/>
          </a:prstGeom>
          <a:solidFill>
            <a:schemeClr val="accent5"/>
          </a:solidFill>
          <a:ln/>
        </p:spPr>
      </p:sp>
      <p:sp>
        <p:nvSpPr>
          <p:cNvPr id="26" name="Business case source"/>
          <p:cNvSpPr txBox="1"/>
          <p:nvPr/>
        </p:nvSpPr>
        <p:spPr>
          <a:xfrm>
            <a:off x="1005840" y="5605272"/>
            <a:ext cx="4472788" cy="237744"/>
          </a:xfrm>
          <a:prstGeom prst="rect">
            <a:avLst/>
          </a:prstGeom>
          <a:noFill/>
          <a:ln/>
        </p:spPr>
        <p:txBody>
          <a:bodyPr wrap="square" lIns="0" tIns="0" rIns="0" bIns="0" rtlCol="0" anchor="t"/>
          <a:lstStyle/>
          <a:p>
            <a:pPr indent="0" marL="0">
              <a:buNone/>
            </a:pPr>
            <a:r>
              <a:rPr lang="en-US" sz="1050" i="1" dirty="0">
                <a:solidFill>
                  <a:schemeClr val="accent6"/>
                </a:solidFill>
              </a:rPr>
              <a:t>Kohavi &amp; Thomke (2017), Harvard Business Review</a:t>
            </a:r>
            <a:endParaRPr lang="en-US" sz="1050" dirty="0"/>
          </a:p>
        </p:txBody>
      </p:sp>
      <p:sp>
        <p:nvSpPr>
          <p:cNvPr id="27" name="Research panel"/>
          <p:cNvSpPr/>
          <p:nvPr/>
        </p:nvSpPr>
        <p:spPr>
          <a:xfrm>
            <a:off x="6255868" y="1554480"/>
            <a:ext cx="5387188" cy="4709160"/>
          </a:xfrm>
          <a:prstGeom prst="roundRect">
            <a:avLst>
              <a:gd name="adj" fmla="val 1553"/>
            </a:avLst>
          </a:prstGeom>
          <a:solidFill>
            <a:schemeClr val="bg2"/>
          </a:solidFill>
          <a:ln/>
        </p:spPr>
      </p:sp>
      <p:sp>
        <p:nvSpPr>
          <p:cNvPr id="28" name="Research icon circle"/>
          <p:cNvSpPr/>
          <p:nvPr/>
        </p:nvSpPr>
        <p:spPr>
          <a:xfrm>
            <a:off x="6530188" y="1783080"/>
            <a:ext cx="512064" cy="512064"/>
          </a:xfrm>
          <a:prstGeom prst="ellipse">
            <a:avLst/>
          </a:prstGeom>
          <a:solidFill>
            <a:schemeClr val="accent1"/>
          </a:solidFill>
          <a:ln/>
        </p:spPr>
      </p:sp>
      <p:pic>
        <p:nvPicPr>
          <p:cNvPr id="29" name="Research icon" descr="Research">    </p:cNvPr>
          <p:cNvPicPr>
            <a:picLocks noChangeAspect="1"/>
          </p:cNvPicPr>
          <p:nvPr/>
        </p:nvPicPr>
        <p:blipFill>
          <a:blip r:embed="rId2"/>
          <a:stretch>
            <a:fillRect/>
          </a:stretch>
        </p:blipFill>
        <p:spPr>
          <a:xfrm>
            <a:off x="6658204" y="1911096"/>
            <a:ext cx="256032" cy="256032"/>
          </a:xfrm>
          <a:prstGeom prst="rect">
            <a:avLst/>
          </a:prstGeom>
        </p:spPr>
      </p:pic>
      <p:sp>
        <p:nvSpPr>
          <p:cNvPr id="30" name="Research heading"/>
          <p:cNvSpPr txBox="1"/>
          <p:nvPr/>
        </p:nvSpPr>
        <p:spPr>
          <a:xfrm>
            <a:off x="7215988"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Research</a:t>
            </a:r>
            <a:endParaRPr lang="en-US" sz="2100" dirty="0"/>
          </a:p>
        </p:txBody>
      </p:sp>
      <p:sp>
        <p:nvSpPr>
          <p:cNvPr id="31" name="Research tag 1"/>
          <p:cNvSpPr/>
          <p:nvPr/>
        </p:nvSpPr>
        <p:spPr>
          <a:xfrm>
            <a:off x="6530188" y="2514600"/>
            <a:ext cx="1258214" cy="384048"/>
          </a:xfrm>
          <a:prstGeom prst="roundRect">
            <a:avLst>
              <a:gd name="adj" fmla="val 50000"/>
            </a:avLst>
          </a:prstGeom>
          <a:solidFill>
            <a:schemeClr val="bg1"/>
          </a:solidFill>
          <a:ln w="15875">
            <a:solidFill>
              <a:schemeClr val="accent1"/>
            </a:solidFill>
            <a:prstDash val="solid"/>
          </a:ln>
        </p:spPr>
      </p:sp>
      <p:sp>
        <p:nvSpPr>
          <p:cNvPr id="32" name="Research tag 1 text"/>
          <p:cNvSpPr txBox="1"/>
          <p:nvPr/>
        </p:nvSpPr>
        <p:spPr>
          <a:xfrm>
            <a:off x="6530188" y="2514600"/>
            <a:ext cx="1258214" cy="384048"/>
          </a:xfrm>
          <a:prstGeom prst="rect">
            <a:avLst/>
          </a:prstGeom>
          <a:noFill/>
          <a:ln/>
        </p:spPr>
        <p:txBody>
          <a:bodyPr wrap="square" lIns="0" tIns="0" rIns="0" bIns="0" rtlCol="0" anchor="ctr"/>
          <a:lstStyle/>
          <a:p>
            <a:pPr algn="ctr" indent="0" marL="0">
              <a:buNone/>
            </a:pPr>
            <a:r>
              <a:rPr lang="en-US" sz="1350" b="1" dirty="0">
                <a:solidFill>
                  <a:schemeClr val="tx2"/>
                </a:solidFill>
              </a:rPr>
              <a:t>Study design</a:t>
            </a:r>
            <a:endParaRPr lang="en-US" sz="1350" dirty="0"/>
          </a:p>
        </p:txBody>
      </p:sp>
      <p:sp>
        <p:nvSpPr>
          <p:cNvPr id="33" name="Research tag 2"/>
          <p:cNvSpPr/>
          <p:nvPr/>
        </p:nvSpPr>
        <p:spPr>
          <a:xfrm>
            <a:off x="7925562" y="2514600"/>
            <a:ext cx="1419149" cy="384048"/>
          </a:xfrm>
          <a:prstGeom prst="roundRect">
            <a:avLst>
              <a:gd name="adj" fmla="val 50000"/>
            </a:avLst>
          </a:prstGeom>
          <a:solidFill>
            <a:schemeClr val="bg1"/>
          </a:solidFill>
          <a:ln w="15875">
            <a:solidFill>
              <a:schemeClr val="accent1"/>
            </a:solidFill>
            <a:prstDash val="solid"/>
          </a:ln>
        </p:spPr>
      </p:sp>
      <p:sp>
        <p:nvSpPr>
          <p:cNvPr id="34" name="Research tag 2 text"/>
          <p:cNvSpPr txBox="1"/>
          <p:nvPr/>
        </p:nvSpPr>
        <p:spPr>
          <a:xfrm>
            <a:off x="7925562" y="2514600"/>
            <a:ext cx="1419149" cy="384048"/>
          </a:xfrm>
          <a:prstGeom prst="rect">
            <a:avLst/>
          </a:prstGeom>
          <a:noFill/>
          <a:ln/>
        </p:spPr>
        <p:txBody>
          <a:bodyPr wrap="square" lIns="0" tIns="0" rIns="0" bIns="0" rtlCol="0" anchor="ctr"/>
          <a:lstStyle/>
          <a:p>
            <a:pPr algn="ctr" indent="0" marL="0">
              <a:buNone/>
            </a:pPr>
            <a:r>
              <a:rPr lang="en-US" sz="1350" b="1" dirty="0">
                <a:solidFill>
                  <a:schemeClr val="tx2"/>
                </a:solidFill>
              </a:rPr>
              <a:t>Power analysis</a:t>
            </a:r>
            <a:endParaRPr lang="en-US" sz="1350" dirty="0"/>
          </a:p>
        </p:txBody>
      </p:sp>
      <p:sp>
        <p:nvSpPr>
          <p:cNvPr id="35" name="Research tag 3"/>
          <p:cNvSpPr/>
          <p:nvPr/>
        </p:nvSpPr>
        <p:spPr>
          <a:xfrm>
            <a:off x="6530188" y="3017520"/>
            <a:ext cx="1901952" cy="384048"/>
          </a:xfrm>
          <a:prstGeom prst="roundRect">
            <a:avLst>
              <a:gd name="adj" fmla="val 50000"/>
            </a:avLst>
          </a:prstGeom>
          <a:solidFill>
            <a:schemeClr val="bg1"/>
          </a:solidFill>
          <a:ln w="15875">
            <a:solidFill>
              <a:schemeClr val="accent1"/>
            </a:solidFill>
            <a:prstDash val="solid"/>
          </a:ln>
        </p:spPr>
      </p:sp>
      <p:sp>
        <p:nvSpPr>
          <p:cNvPr id="36" name="Research tag 3 text"/>
          <p:cNvSpPr txBox="1"/>
          <p:nvPr/>
        </p:nvSpPr>
        <p:spPr>
          <a:xfrm>
            <a:off x="6530188" y="3017520"/>
            <a:ext cx="1901952" cy="384048"/>
          </a:xfrm>
          <a:prstGeom prst="rect">
            <a:avLst/>
          </a:prstGeom>
          <a:noFill/>
          <a:ln/>
        </p:spPr>
        <p:txBody>
          <a:bodyPr wrap="square" lIns="0" tIns="0" rIns="0" bIns="0" rtlCol="0" anchor="ctr"/>
          <a:lstStyle/>
          <a:p>
            <a:pPr algn="ctr" indent="0" marL="0">
              <a:buNone/>
            </a:pPr>
            <a:r>
              <a:rPr lang="en-US" sz="1350" b="1" dirty="0">
                <a:solidFill>
                  <a:schemeClr val="tx2"/>
                </a:solidFill>
              </a:rPr>
              <a:t>Confidence intervals</a:t>
            </a:r>
            <a:endParaRPr lang="en-US" sz="1350" dirty="0"/>
          </a:p>
        </p:txBody>
      </p:sp>
      <p:sp>
        <p:nvSpPr>
          <p:cNvPr id="37" name="Research tag 4"/>
          <p:cNvSpPr/>
          <p:nvPr/>
        </p:nvSpPr>
        <p:spPr>
          <a:xfrm>
            <a:off x="8569300" y="3017520"/>
            <a:ext cx="1499616" cy="384048"/>
          </a:xfrm>
          <a:prstGeom prst="roundRect">
            <a:avLst>
              <a:gd name="adj" fmla="val 50000"/>
            </a:avLst>
          </a:prstGeom>
          <a:solidFill>
            <a:schemeClr val="bg1"/>
          </a:solidFill>
          <a:ln w="15875">
            <a:solidFill>
              <a:schemeClr val="accent1"/>
            </a:solidFill>
            <a:prstDash val="solid"/>
          </a:ln>
        </p:spPr>
      </p:sp>
      <p:sp>
        <p:nvSpPr>
          <p:cNvPr id="38" name="Research tag 4 text"/>
          <p:cNvSpPr txBox="1"/>
          <p:nvPr/>
        </p:nvSpPr>
        <p:spPr>
          <a:xfrm>
            <a:off x="8569300" y="3017520"/>
            <a:ext cx="1499616" cy="384048"/>
          </a:xfrm>
          <a:prstGeom prst="rect">
            <a:avLst/>
          </a:prstGeom>
          <a:noFill/>
          <a:ln/>
        </p:spPr>
        <p:txBody>
          <a:bodyPr wrap="square" lIns="0" tIns="0" rIns="0" bIns="0" rtlCol="0" anchor="ctr"/>
          <a:lstStyle/>
          <a:p>
            <a:pPr algn="ctr" indent="0" marL="0">
              <a:buNone/>
            </a:pPr>
            <a:r>
              <a:rPr lang="en-US" sz="1350" b="1" dirty="0">
                <a:solidFill>
                  <a:schemeClr val="tx2"/>
                </a:solidFill>
              </a:rPr>
              <a:t>Reproducibility</a:t>
            </a:r>
            <a:endParaRPr lang="en-US" sz="1350" dirty="0"/>
          </a:p>
        </p:txBody>
      </p:sp>
      <p:sp>
        <p:nvSpPr>
          <p:cNvPr id="39" name="Research case box"/>
          <p:cNvSpPr/>
          <p:nvPr/>
        </p:nvSpPr>
        <p:spPr>
          <a:xfrm>
            <a:off x="6530188" y="3703320"/>
            <a:ext cx="4838548" cy="2286000"/>
          </a:xfrm>
          <a:prstGeom prst="roundRect">
            <a:avLst>
              <a:gd name="adj" fmla="val 2400"/>
            </a:avLst>
          </a:prstGeom>
          <a:solidFill>
            <a:schemeClr val="tx2"/>
          </a:solidFill>
          <a:ln/>
        </p:spPr>
      </p:sp>
      <p:sp>
        <p:nvSpPr>
          <p:cNvPr id="40" name="Research case tag"/>
          <p:cNvSpPr txBox="1"/>
          <p:nvPr/>
        </p:nvSpPr>
        <p:spPr>
          <a:xfrm>
            <a:off x="6713068" y="3867912"/>
            <a:ext cx="4472788"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REAL CASE · RECOVERY TRIAL</a:t>
            </a:r>
            <a:endParaRPr lang="en-US" sz="1100" dirty="0"/>
          </a:p>
        </p:txBody>
      </p:sp>
      <p:sp>
        <p:nvSpPr>
          <p:cNvPr id="41" name="Research case subtitle"/>
          <p:cNvSpPr txBox="1"/>
          <p:nvPr/>
        </p:nvSpPr>
        <p:spPr>
          <a:xfrm>
            <a:off x="6713068" y="4160520"/>
            <a:ext cx="4472788" cy="274320"/>
          </a:xfrm>
          <a:prstGeom prst="rect">
            <a:avLst/>
          </a:prstGeom>
          <a:noFill/>
          <a:ln/>
        </p:spPr>
        <p:txBody>
          <a:bodyPr wrap="square" lIns="0" tIns="0" rIns="0" bIns="0" rtlCol="0" anchor="t"/>
          <a:lstStyle/>
          <a:p>
            <a:pPr indent="0" marL="0">
              <a:buNone/>
            </a:pPr>
            <a:r>
              <a:rPr lang="en-US" sz="1350" dirty="0">
                <a:solidFill>
                  <a:schemeClr val="accent6"/>
                </a:solidFill>
              </a:rPr>
              <a:t>28-day deaths in ventilated COVID-19 patients</a:t>
            </a:r>
            <a:endParaRPr lang="en-US" sz="1350" dirty="0"/>
          </a:p>
        </p:txBody>
      </p:sp>
      <p:sp>
        <p:nvSpPr>
          <p:cNvPr id="42" name="RECOVERY Usual care label"/>
          <p:cNvSpPr txBox="1"/>
          <p:nvPr/>
        </p:nvSpPr>
        <p:spPr>
          <a:xfrm>
            <a:off x="6713068" y="4599432"/>
            <a:ext cx="1371600" cy="329184"/>
          </a:xfrm>
          <a:prstGeom prst="rect">
            <a:avLst/>
          </a:prstGeom>
          <a:noFill/>
          <a:ln/>
        </p:spPr>
        <p:txBody>
          <a:bodyPr wrap="square" lIns="0" tIns="0" rIns="0" bIns="0" rtlCol="0" anchor="ctr"/>
          <a:lstStyle/>
          <a:p>
            <a:pPr indent="0" marL="0">
              <a:buNone/>
            </a:pPr>
            <a:r>
              <a:rPr lang="en-US" sz="1400" dirty="0">
                <a:solidFill>
                  <a:schemeClr val="bg1"/>
                </a:solidFill>
              </a:rPr>
              <a:t>Usual care</a:t>
            </a:r>
            <a:endParaRPr lang="en-US" sz="1400" dirty="0"/>
          </a:p>
        </p:txBody>
      </p:sp>
      <p:sp>
        <p:nvSpPr>
          <p:cNvPr id="43" name="RECOVERY Usual care bar"/>
          <p:cNvSpPr/>
          <p:nvPr/>
        </p:nvSpPr>
        <p:spPr>
          <a:xfrm>
            <a:off x="8176108" y="4626864"/>
            <a:ext cx="1886372" cy="274320"/>
          </a:xfrm>
          <a:prstGeom prst="rect">
            <a:avLst/>
          </a:prstGeom>
          <a:solidFill>
            <a:schemeClr val="accent5"/>
          </a:solidFill>
          <a:ln/>
        </p:spPr>
      </p:sp>
      <p:sp>
        <p:nvSpPr>
          <p:cNvPr id="44" name="RECOVERY Usual care value"/>
          <p:cNvSpPr txBox="1"/>
          <p:nvPr/>
        </p:nvSpPr>
        <p:spPr>
          <a:xfrm>
            <a:off x="10153920" y="4599432"/>
            <a:ext cx="685800" cy="329184"/>
          </a:xfrm>
          <a:prstGeom prst="rect">
            <a:avLst/>
          </a:prstGeom>
          <a:noFill/>
          <a:ln/>
        </p:spPr>
        <p:txBody>
          <a:bodyPr wrap="square" lIns="0" tIns="0" rIns="0" bIns="0" rtlCol="0" anchor="ctr"/>
          <a:lstStyle/>
          <a:p>
            <a:pPr indent="0" marL="0">
              <a:buNone/>
            </a:pPr>
            <a:r>
              <a:rPr lang="en-US" sz="1400" b="1" dirty="0">
                <a:solidFill>
                  <a:schemeClr val="bg1"/>
                </a:solidFill>
              </a:rPr>
              <a:t>41.4%</a:t>
            </a:r>
            <a:endParaRPr lang="en-US" sz="1400" dirty="0"/>
          </a:p>
        </p:txBody>
      </p:sp>
      <p:sp>
        <p:nvSpPr>
          <p:cNvPr id="45" name="RECOVERY Dexamethasone label"/>
          <p:cNvSpPr txBox="1"/>
          <p:nvPr/>
        </p:nvSpPr>
        <p:spPr>
          <a:xfrm>
            <a:off x="6713068" y="5056632"/>
            <a:ext cx="1371600" cy="329184"/>
          </a:xfrm>
          <a:prstGeom prst="rect">
            <a:avLst/>
          </a:prstGeom>
          <a:noFill/>
          <a:ln/>
        </p:spPr>
        <p:txBody>
          <a:bodyPr wrap="square" lIns="0" tIns="0" rIns="0" bIns="0" rtlCol="0" anchor="ctr"/>
          <a:lstStyle/>
          <a:p>
            <a:pPr indent="0" marL="0">
              <a:buNone/>
            </a:pPr>
            <a:r>
              <a:rPr lang="en-US" sz="1400" dirty="0">
                <a:solidFill>
                  <a:schemeClr val="bg1"/>
                </a:solidFill>
              </a:rPr>
              <a:t>Dexamethasone</a:t>
            </a:r>
            <a:endParaRPr lang="en-US" sz="1400" dirty="0"/>
          </a:p>
        </p:txBody>
      </p:sp>
      <p:sp>
        <p:nvSpPr>
          <p:cNvPr id="46" name="RECOVERY Dexamethasone bar"/>
          <p:cNvSpPr/>
          <p:nvPr/>
        </p:nvSpPr>
        <p:spPr>
          <a:xfrm>
            <a:off x="8176108" y="5084064"/>
            <a:ext cx="1335041" cy="274320"/>
          </a:xfrm>
          <a:prstGeom prst="rect">
            <a:avLst/>
          </a:prstGeom>
          <a:solidFill>
            <a:schemeClr val="accent1"/>
          </a:solidFill>
          <a:ln/>
        </p:spPr>
      </p:sp>
      <p:sp>
        <p:nvSpPr>
          <p:cNvPr id="47" name="RECOVERY Dexamethasone value"/>
          <p:cNvSpPr txBox="1"/>
          <p:nvPr/>
        </p:nvSpPr>
        <p:spPr>
          <a:xfrm>
            <a:off x="9602589" y="5056632"/>
            <a:ext cx="685800" cy="329184"/>
          </a:xfrm>
          <a:prstGeom prst="rect">
            <a:avLst/>
          </a:prstGeom>
          <a:noFill/>
          <a:ln/>
        </p:spPr>
        <p:txBody>
          <a:bodyPr wrap="square" lIns="0" tIns="0" rIns="0" bIns="0" rtlCol="0" anchor="ctr"/>
          <a:lstStyle/>
          <a:p>
            <a:pPr indent="0" marL="0">
              <a:buNone/>
            </a:pPr>
            <a:r>
              <a:rPr lang="en-US" sz="1400" b="1" dirty="0">
                <a:solidFill>
                  <a:schemeClr val="bg1"/>
                </a:solidFill>
              </a:rPr>
              <a:t>29.3%</a:t>
            </a:r>
            <a:endParaRPr lang="en-US" sz="1400" dirty="0"/>
          </a:p>
        </p:txBody>
      </p:sp>
      <p:sp>
        <p:nvSpPr>
          <p:cNvPr id="48" name="Research case source"/>
          <p:cNvSpPr txBox="1"/>
          <p:nvPr/>
        </p:nvSpPr>
        <p:spPr>
          <a:xfrm>
            <a:off x="6713068" y="5605272"/>
            <a:ext cx="4472788" cy="237744"/>
          </a:xfrm>
          <a:prstGeom prst="rect">
            <a:avLst/>
          </a:prstGeom>
          <a:noFill/>
          <a:ln/>
        </p:spPr>
        <p:txBody>
          <a:bodyPr wrap="square" lIns="0" tIns="0" rIns="0" bIns="0" rtlCol="0" anchor="t"/>
          <a:lstStyle/>
          <a:p>
            <a:pPr indent="0" marL="0">
              <a:buNone/>
            </a:pPr>
            <a:r>
              <a:rPr lang="en-US" sz="1050" i="1" dirty="0">
                <a:solidFill>
                  <a:schemeClr val="accent6"/>
                </a:solidFill>
              </a:rPr>
              <a:t>Randomized trial · RECOVERY Collaborative Group (2021), NEJM</a:t>
            </a:r>
            <a:endParaRPr lang="en-US" sz="10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03 · CASE STUDY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A/B test: does a new product page sell more?</a:t>
            </a:r>
            <a:endParaRPr lang="en-US" sz="3400" dirty="0"/>
          </a:p>
        </p:txBody>
      </p:sp>
      <p:sp>
        <p:nvSpPr>
          <p:cNvPr id="4" name="Illustrative data badge"/>
          <p:cNvSpPr/>
          <p:nvPr/>
        </p:nvSpPr>
        <p:spPr>
          <a:xfrm>
            <a:off x="7982712" y="347472"/>
            <a:ext cx="3657600" cy="329184"/>
          </a:xfrm>
          <a:prstGeom prst="roundRect">
            <a:avLst>
              <a:gd name="adj" fmla="val 50000"/>
            </a:avLst>
          </a:prstGeom>
          <a:solidFill>
            <a:schemeClr val="accent2"/>
          </a:solidFill>
          <a:ln/>
        </p:spPr>
      </p:sp>
      <p:sp>
        <p:nvSpPr>
          <p:cNvPr id="5" name="Illustrative data badge text"/>
          <p:cNvSpPr txBox="1"/>
          <p:nvPr/>
        </p:nvSpPr>
        <p:spPr>
          <a:xfrm>
            <a:off x="7982712" y="347472"/>
            <a:ext cx="3657600" cy="329184"/>
          </a:xfrm>
          <a:prstGeom prst="rect">
            <a:avLst/>
          </a:prstGeom>
          <a:noFill/>
          <a:ln/>
        </p:spPr>
        <p:txBody>
          <a:bodyPr wrap="square" lIns="0" tIns="0" rIns="0" bIns="0" rtlCol="0" anchor="ctr"/>
          <a:lstStyle/>
          <a:p>
            <a:pPr algn="ctr" indent="0" marL="0">
              <a:buNone/>
            </a:pPr>
            <a:r>
              <a:rPr lang="en-US" sz="1100" b="1" dirty="0">
                <a:solidFill>
                  <a:schemeClr val="tx2"/>
                </a:solidFill>
              </a:rPr>
              <a:t>ILLUSTRATIVE DATA  </a:t>
            </a:r>
            <a:pPr algn="ctr" indent="0" marL="0">
              <a:buNone/>
            </a:pPr>
            <a:r>
              <a:rPr lang="en-US" sz="1100" dirty="0">
                <a:solidFill>
                  <a:schemeClr val="tx2"/>
                </a:solidFill>
              </a:rPr>
              <a:t>hypothetical, not real company results</a:t>
            </a:r>
            <a:endParaRPr lang="en-US" sz="1100" dirty="0"/>
          </a:p>
        </p:txBody>
      </p:sp>
      <p:sp>
        <p:nvSpPr>
          <p:cNvPr id="6" name="Step 1 marker"/>
          <p:cNvSpPr/>
          <p:nvPr/>
        </p:nvSpPr>
        <p:spPr>
          <a:xfrm>
            <a:off x="548640" y="1600200"/>
            <a:ext cx="457200" cy="457200"/>
          </a:xfrm>
          <a:prstGeom prst="ellipse">
            <a:avLst/>
          </a:prstGeom>
          <a:solidFill>
            <a:schemeClr val="accent1"/>
          </a:solidFill>
          <a:ln/>
        </p:spPr>
      </p:sp>
      <p:sp>
        <p:nvSpPr>
          <p:cNvPr id="7" name="Step 1 number"/>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Step 1 text"/>
          <p:cNvSpPr txBox="1"/>
          <p:nvPr/>
        </p:nvSpPr>
        <p:spPr>
          <a:xfrm>
            <a:off x="1188720" y="1581912"/>
            <a:ext cx="3017520" cy="914400"/>
          </a:xfrm>
          <a:prstGeom prst="rect">
            <a:avLst/>
          </a:prstGeom>
          <a:noFill/>
          <a:ln/>
        </p:spPr>
        <p:txBody>
          <a:bodyPr wrap="square" lIns="0" tIns="0" rIns="0" bIns="0" rtlCol="0" anchor="t"/>
          <a:lstStyle/>
          <a:p>
            <a:pPr indent="0" marL="0">
              <a:buNone/>
            </a:pPr>
            <a:r>
              <a:rPr lang="en-US" sz="1600" b="1" dirty="0">
                <a:solidFill>
                  <a:schemeClr val="tx2"/>
                </a:solidFill>
              </a:rPr>
              <a:t>Split</a:t>
            </a:r>
            <a:endParaRPr lang="en-US" sz="1400" dirty="0"/>
          </a:p>
          <a:p>
            <a:pPr indent="0" marL="0">
              <a:buNone/>
            </a:pPr>
            <a:r>
              <a:rPr lang="en-US" sz="1400" dirty="0">
                <a:solidFill>
                  <a:schemeClr val="tx1"/>
                </a:solidFill>
              </a:rPr>
              <a:t>40,000 visitors at random: 20,000 see the old page (A), 20,000 the new page (B).</a:t>
            </a:r>
            <a:endParaRPr lang="en-US" sz="1400" dirty="0"/>
          </a:p>
        </p:txBody>
      </p:sp>
      <p:sp>
        <p:nvSpPr>
          <p:cNvPr id="9" name="Step 2 marker"/>
          <p:cNvSpPr/>
          <p:nvPr/>
        </p:nvSpPr>
        <p:spPr>
          <a:xfrm>
            <a:off x="548640" y="2624328"/>
            <a:ext cx="457200" cy="457200"/>
          </a:xfrm>
          <a:prstGeom prst="ellipse">
            <a:avLst/>
          </a:prstGeom>
          <a:solidFill>
            <a:schemeClr val="accent1"/>
          </a:solidFill>
          <a:ln/>
        </p:spPr>
      </p:sp>
      <p:sp>
        <p:nvSpPr>
          <p:cNvPr id="10" name="Step 2 number"/>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text"/>
          <p:cNvSpPr txBox="1"/>
          <p:nvPr/>
        </p:nvSpPr>
        <p:spPr>
          <a:xfrm>
            <a:off x="1188720" y="2606040"/>
            <a:ext cx="3017520" cy="914400"/>
          </a:xfrm>
          <a:prstGeom prst="rect">
            <a:avLst/>
          </a:prstGeom>
          <a:noFill/>
          <a:ln/>
        </p:spPr>
        <p:txBody>
          <a:bodyPr wrap="square" lIns="0" tIns="0" rIns="0" bIns="0" rtlCol="0" anchor="t"/>
          <a:lstStyle/>
          <a:p>
            <a:pPr indent="0" marL="0">
              <a:buNone/>
            </a:pPr>
            <a:r>
              <a:rPr lang="en-US" sz="1600" b="1" dirty="0">
                <a:solidFill>
                  <a:schemeClr val="tx2"/>
                </a:solidFill>
              </a:rPr>
              <a:t>Measure</a:t>
            </a:r>
            <a:endParaRPr lang="en-US" sz="1400" dirty="0"/>
          </a:p>
          <a:p>
            <a:pPr indent="0" marL="0">
              <a:buNone/>
            </a:pPr>
            <a:r>
              <a:rPr lang="en-US" sz="1400" dirty="0">
                <a:solidFill>
                  <a:schemeClr val="tx1"/>
                </a:solidFill>
              </a:rPr>
              <a:t>Conversion rate = orders ÷ visitors.</a:t>
            </a:r>
            <a:endParaRPr lang="en-US" sz="1400" dirty="0"/>
          </a:p>
        </p:txBody>
      </p:sp>
      <p:sp>
        <p:nvSpPr>
          <p:cNvPr id="12" name="Step 3 marker"/>
          <p:cNvSpPr/>
          <p:nvPr/>
        </p:nvSpPr>
        <p:spPr>
          <a:xfrm>
            <a:off x="548640" y="3648456"/>
            <a:ext cx="457200" cy="457200"/>
          </a:xfrm>
          <a:prstGeom prst="ellipse">
            <a:avLst/>
          </a:prstGeom>
          <a:solidFill>
            <a:schemeClr val="accent1"/>
          </a:solidFill>
          <a:ln/>
        </p:spPr>
      </p:sp>
      <p:sp>
        <p:nvSpPr>
          <p:cNvPr id="13" name="Step 3 number"/>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tep 3 text"/>
          <p:cNvSpPr txBox="1"/>
          <p:nvPr/>
        </p:nvSpPr>
        <p:spPr>
          <a:xfrm>
            <a:off x="1188720" y="3630168"/>
            <a:ext cx="3017520" cy="914400"/>
          </a:xfrm>
          <a:prstGeom prst="rect">
            <a:avLst/>
          </a:prstGeom>
          <a:noFill/>
          <a:ln/>
        </p:spPr>
        <p:txBody>
          <a:bodyPr wrap="square" lIns="0" tIns="0" rIns="0" bIns="0" rtlCol="0" anchor="t"/>
          <a:lstStyle/>
          <a:p>
            <a:pPr indent="0" marL="0">
              <a:buNone/>
            </a:pPr>
            <a:r>
              <a:rPr lang="en-US" sz="1600" b="1" dirty="0">
                <a:solidFill>
                  <a:schemeClr val="tx2"/>
                </a:solidFill>
              </a:rPr>
              <a:t>Test</a:t>
            </a:r>
            <a:endParaRPr lang="en-US" sz="1400" dirty="0"/>
          </a:p>
          <a:p>
            <a:pPr indent="0" marL="0">
              <a:buNone/>
            </a:pPr>
            <a:r>
              <a:rPr lang="en-US" sz="1400" dirty="0">
                <a:solidFill>
                  <a:schemeClr val="tx1"/>
                </a:solidFill>
              </a:rPr>
              <a:t>Two-proportion z-test at the 5% level.</a:t>
            </a:r>
            <a:endParaRPr lang="en-US" sz="1400" dirty="0"/>
          </a:p>
        </p:txBody>
      </p:sp>
      <p:sp>
        <p:nvSpPr>
          <p:cNvPr id="15" name="Randomization note"/>
          <p:cNvSpPr txBox="1"/>
          <p:nvPr/>
        </p:nvSpPr>
        <p:spPr>
          <a:xfrm>
            <a:off x="548640" y="4800600"/>
            <a:ext cx="3657600" cy="731520"/>
          </a:xfrm>
          <a:prstGeom prst="rect">
            <a:avLst/>
          </a:prstGeom>
          <a:noFill/>
          <a:ln/>
        </p:spPr>
        <p:txBody>
          <a:bodyPr wrap="square" lIns="0" tIns="0" rIns="0" bIns="0" rtlCol="0" anchor="t"/>
          <a:lstStyle/>
          <a:p>
            <a:pPr indent="0" marL="0">
              <a:buNone/>
            </a:pPr>
            <a:r>
              <a:rPr lang="en-US" sz="1300" i="1" dirty="0">
                <a:solidFill>
                  <a:schemeClr val="accent5"/>
                </a:solidFill>
              </a:rPr>
              <a:t>Visitors are assigned at random, so the only real difference between the groups is the page.</a:t>
            </a:r>
            <a:endParaRPr lang="en-US" sz="1300" dirty="0"/>
          </a:p>
        </p:txBody>
      </p:sp>
      <p:graphicFrame>
        <p:nvGraphicFramePr>
          <p:cNvPr id="16" name="Conversion rate chart" descr="Column chart of illustrative conversion rates: A 4.20 percent, B 4.80 percent; axis starts at zero."/>
          <p:cNvGraphicFramePr/>
          <p:nvPr/>
        </p:nvGraphicFramePr>
        <p:xfrm>
          <a:off x="4434840" y="1508760"/>
          <a:ext cx="3566160" cy="4206240"/>
        </p:xfrm>
        <a:graphic xmlns:a="http://schemas.openxmlformats.org/drawingml/2006/main">
          <a:graphicData uri="http://schemas.openxmlformats.org/drawingml/2006/chart">
            <c:chart xmlns:c="http://schemas.openxmlformats.org/drawingml/2006/chart" r:id="rId1"/>
          </a:graphicData>
        </a:graphic>
      </p:graphicFrame>
      <p:sp>
        <p:nvSpPr>
          <p:cNvPr id="17" name="Chart counts"/>
          <p:cNvSpPr txBox="1"/>
          <p:nvPr/>
        </p:nvSpPr>
        <p:spPr>
          <a:xfrm>
            <a:off x="4434840" y="5760720"/>
            <a:ext cx="3566160" cy="274320"/>
          </a:xfrm>
          <a:prstGeom prst="rect">
            <a:avLst/>
          </a:prstGeom>
          <a:noFill/>
          <a:ln/>
        </p:spPr>
        <p:txBody>
          <a:bodyPr wrap="square" lIns="0" tIns="0" rIns="0" bIns="0" rtlCol="0" anchor="t"/>
          <a:lstStyle/>
          <a:p>
            <a:pPr algn="ctr" indent="0" marL="0">
              <a:buNone/>
            </a:pPr>
            <a:r>
              <a:rPr lang="en-US" sz="1200" dirty="0">
                <a:solidFill>
                  <a:schemeClr val="accent5"/>
                </a:solidFill>
              </a:rPr>
              <a:t>A: 840 / 20,000   ·   B: 960 / 20,000 orders</a:t>
            </a:r>
            <a:endParaRPr lang="en-US" sz="1200" dirty="0"/>
          </a:p>
        </p:txBody>
      </p:sp>
      <p:sp>
        <p:nvSpPr>
          <p:cNvPr id="18" name="Result 1 tile"/>
          <p:cNvSpPr/>
          <p:nvPr/>
        </p:nvSpPr>
        <p:spPr>
          <a:xfrm>
            <a:off x="8275320" y="1554480"/>
            <a:ext cx="3367735" cy="749808"/>
          </a:xfrm>
          <a:prstGeom prst="roundRect">
            <a:avLst>
              <a:gd name="adj" fmla="val 7317"/>
            </a:avLst>
          </a:prstGeom>
          <a:solidFill>
            <a:schemeClr val="bg2"/>
          </a:solidFill>
          <a:ln/>
        </p:spPr>
      </p:sp>
      <p:sp>
        <p:nvSpPr>
          <p:cNvPr id="19" name="Result 1 text"/>
          <p:cNvSpPr txBox="1"/>
          <p:nvPr/>
        </p:nvSpPr>
        <p:spPr>
          <a:xfrm>
            <a:off x="8458200" y="155448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+0.60 pp</a:t>
            </a:r>
            <a:endParaRPr lang="en-US" sz="1500" dirty="0"/>
          </a:p>
          <a:p>
            <a:pPr indent="0" marL="0">
              <a:buNone/>
            </a:pPr>
            <a:r>
              <a:rPr lang="en-US" sz="1200" dirty="0">
                <a:solidFill>
                  <a:schemeClr val="accent5"/>
                </a:solidFill>
              </a:rPr>
              <a:t>difference (B − A)</a:t>
            </a:r>
            <a:endParaRPr lang="en-US" sz="1500" dirty="0"/>
          </a:p>
        </p:txBody>
      </p:sp>
      <p:sp>
        <p:nvSpPr>
          <p:cNvPr id="20" name="Result 2 tile"/>
          <p:cNvSpPr/>
          <p:nvPr/>
        </p:nvSpPr>
        <p:spPr>
          <a:xfrm>
            <a:off x="8275320" y="2423160"/>
            <a:ext cx="3367735" cy="749808"/>
          </a:xfrm>
          <a:prstGeom prst="roundRect">
            <a:avLst>
              <a:gd name="adj" fmla="val 7317"/>
            </a:avLst>
          </a:prstGeom>
          <a:solidFill>
            <a:schemeClr val="bg2"/>
          </a:solidFill>
          <a:ln/>
        </p:spPr>
      </p:sp>
      <p:sp>
        <p:nvSpPr>
          <p:cNvPr id="21" name="Result 2 text"/>
          <p:cNvSpPr txBox="1"/>
          <p:nvPr/>
        </p:nvSpPr>
        <p:spPr>
          <a:xfrm>
            <a:off x="8458200" y="242316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+0.19 to +1.01 pp</a:t>
            </a:r>
            <a:endParaRPr lang="en-US" sz="1500" dirty="0"/>
          </a:p>
          <a:p>
            <a:pPr indent="0" marL="0">
              <a:buNone/>
            </a:pPr>
            <a:r>
              <a:rPr lang="en-US" sz="1200" dirty="0">
                <a:solidFill>
                  <a:schemeClr val="accent5"/>
                </a:solidFill>
              </a:rPr>
              <a:t>95% confidence interval</a:t>
            </a:r>
            <a:endParaRPr lang="en-US" sz="1500" dirty="0"/>
          </a:p>
        </p:txBody>
      </p:sp>
      <p:sp>
        <p:nvSpPr>
          <p:cNvPr id="22" name="Result 3 tile"/>
          <p:cNvSpPr/>
          <p:nvPr/>
        </p:nvSpPr>
        <p:spPr>
          <a:xfrm>
            <a:off x="8275320" y="3291840"/>
            <a:ext cx="3367735" cy="749808"/>
          </a:xfrm>
          <a:prstGeom prst="roundRect">
            <a:avLst>
              <a:gd name="adj" fmla="val 7317"/>
            </a:avLst>
          </a:prstGeom>
          <a:solidFill>
            <a:schemeClr val="bg2"/>
          </a:solidFill>
          <a:ln/>
        </p:spPr>
      </p:sp>
      <p:sp>
        <p:nvSpPr>
          <p:cNvPr id="23" name="Result 3 text"/>
          <p:cNvSpPr txBox="1"/>
          <p:nvPr/>
        </p:nvSpPr>
        <p:spPr>
          <a:xfrm>
            <a:off x="8458200" y="329184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p = 0.004</a:t>
            </a:r>
            <a:endParaRPr lang="en-US" sz="1500" dirty="0"/>
          </a:p>
          <a:p>
            <a:pPr indent="0" marL="0">
              <a:buNone/>
            </a:pPr>
            <a:r>
              <a:rPr lang="en-US" sz="1200" dirty="0">
                <a:solidFill>
                  <a:schemeClr val="accent5"/>
                </a:solidFill>
              </a:rPr>
              <a:t>very unlikely to be chance</a:t>
            </a:r>
            <a:endParaRPr lang="en-US" sz="1500" dirty="0"/>
          </a:p>
        </p:txBody>
      </p:sp>
      <p:sp>
        <p:nvSpPr>
          <p:cNvPr id="24" name="Interpretation"/>
          <p:cNvSpPr txBox="1"/>
          <p:nvPr/>
        </p:nvSpPr>
        <p:spPr>
          <a:xfrm>
            <a:off x="8275320" y="4206240"/>
            <a:ext cx="3367735" cy="731520"/>
          </a:xfrm>
          <a:prstGeom prst="rect">
            <a:avLst/>
          </a:prstGeom>
          <a:noFill/>
          <a:ln/>
        </p:spPr>
        <p:txBody>
          <a:bodyPr wrap="square" lIns="0" tIns="0" rIns="0" bIns="0" rtlCol="0" anchor="t"/>
          <a:lstStyle/>
          <a:p>
            <a:pPr indent="0" marL="0">
              <a:buNone/>
            </a:pPr>
            <a:r>
              <a:rPr lang="en-US" sz="1400" b="1" dirty="0">
                <a:solidFill>
                  <a:schemeClr val="tx2"/>
                </a:solidFill>
              </a:rPr>
              <a:t>Meaning  </a:t>
            </a:r>
            <a:pPr indent="0" marL="0">
              <a:buNone/>
            </a:pPr>
            <a:r>
              <a:rPr lang="en-US" sz="1400" dirty="0">
                <a:solidFill>
                  <a:schemeClr val="tx1"/>
                </a:solidFill>
              </a:rPr>
              <a:t>The new page very likely works better, but the exact gain is uncertain.</a:t>
            </a:r>
            <a:endParaRPr lang="en-US" sz="1400" dirty="0"/>
          </a:p>
        </p:txBody>
      </p:sp>
      <p:sp>
        <p:nvSpPr>
          <p:cNvPr id="25" name="Decision box"/>
          <p:cNvSpPr/>
          <p:nvPr/>
        </p:nvSpPr>
        <p:spPr>
          <a:xfrm>
            <a:off x="8275320" y="5074920"/>
            <a:ext cx="3367735" cy="960120"/>
          </a:xfrm>
          <a:prstGeom prst="roundRect">
            <a:avLst>
              <a:gd name="adj" fmla="val 5714"/>
            </a:avLst>
          </a:prstGeom>
          <a:solidFill>
            <a:schemeClr val="tx2"/>
          </a:solidFill>
          <a:ln/>
        </p:spPr>
      </p:sp>
      <p:sp>
        <p:nvSpPr>
          <p:cNvPr id="26" name="Decision text"/>
          <p:cNvSpPr txBox="1"/>
          <p:nvPr/>
        </p:nvSpPr>
        <p:spPr>
          <a:xfrm>
            <a:off x="8458200" y="5074920"/>
            <a:ext cx="3001975" cy="960120"/>
          </a:xfrm>
          <a:prstGeom prst="rect">
            <a:avLst/>
          </a:prstGeom>
          <a:noFill/>
          <a:ln/>
        </p:spPr>
        <p:txBody>
          <a:bodyPr wrap="square" lIns="0" tIns="0" rIns="0" bIns="0" rtlCol="0" anchor="ctr"/>
          <a:lstStyle/>
          <a:p>
            <a:pPr indent="0" marL="0">
              <a:buNone/>
            </a:pPr>
            <a:r>
              <a:rPr lang="en-US" sz="1100" b="1" spc="200" kern="0" dirty="0">
                <a:solidFill>
                  <a:schemeClr val="accent2"/>
                </a:solidFill>
              </a:rPr>
              <a:t>DECISION</a:t>
            </a:r>
            <a:endParaRPr lang="en-US" sz="1450" dirty="0"/>
          </a:p>
          <a:p>
            <a:pPr indent="0" marL="0">
              <a:buNone/>
            </a:pPr>
            <a:r>
              <a:rPr lang="en-US" sz="1450" dirty="0">
                <a:solidFill>
                  <a:schemeClr val="bg1"/>
                </a:solidFill>
              </a:rPr>
              <a:t>Launch page B and keep monitoring results.</a:t>
            </a:r>
            <a:endParaRPr lang="en-US" sz="14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04 · CHALLENGES &amp; ETHICS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Use statistics carefully and honestly</a:t>
            </a:r>
            <a:endParaRPr lang="en-US" sz="3400" dirty="0"/>
          </a:p>
        </p:txBody>
      </p:sp>
      <p:sp>
        <p:nvSpPr>
          <p:cNvPr id="4" name="Biased data card"/>
          <p:cNvSpPr/>
          <p:nvPr/>
        </p:nvSpPr>
        <p:spPr>
          <a:xfrm>
            <a:off x="548640" y="1554480"/>
            <a:ext cx="3545738" cy="1417320"/>
          </a:xfrm>
          <a:prstGeom prst="roundRect">
            <a:avLst>
              <a:gd name="adj" fmla="val 5161"/>
            </a:avLst>
          </a:prstGeom>
          <a:solidFill>
            <a:schemeClr val="bg2"/>
          </a:solidFill>
          <a:ln/>
        </p:spPr>
      </p:sp>
      <p:sp>
        <p:nvSpPr>
          <p:cNvPr id="5" name="Biased data icon circle"/>
          <p:cNvSpPr/>
          <p:nvPr/>
        </p:nvSpPr>
        <p:spPr>
          <a:xfrm>
            <a:off x="749808" y="1755648"/>
            <a:ext cx="502920" cy="502920"/>
          </a:xfrm>
          <a:prstGeom prst="ellipse">
            <a:avLst/>
          </a:prstGeom>
          <a:solidFill>
            <a:schemeClr val="accent4"/>
          </a:solidFill>
          <a:ln/>
        </p:spPr>
      </p:sp>
      <p:pic>
        <p:nvPicPr>
          <p:cNvPr id="6" name="Biased data icon" descr="Biased data">    </p:cNvPr>
          <p:cNvPicPr>
            <a:picLocks noChangeAspect="1"/>
          </p:cNvPicPr>
          <p:nvPr/>
        </p:nvPicPr>
        <p:blipFill>
          <a:blip r:embed="rId1"/>
          <a:stretch>
            <a:fillRect/>
          </a:stretch>
        </p:blipFill>
        <p:spPr>
          <a:xfrm>
            <a:off x="873252" y="1879092"/>
            <a:ext cx="256032" cy="256032"/>
          </a:xfrm>
          <a:prstGeom prst="rect">
            <a:avLst/>
          </a:prstGeom>
        </p:spPr>
      </p:pic>
      <p:sp>
        <p:nvSpPr>
          <p:cNvPr id="7" name="Biased data title"/>
          <p:cNvSpPr txBox="1"/>
          <p:nvPr/>
        </p:nvSpPr>
        <p:spPr>
          <a:xfrm>
            <a:off x="1417320" y="17556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Biased data</a:t>
            </a:r>
            <a:endParaRPr lang="en-US" sz="1600" dirty="0"/>
          </a:p>
        </p:txBody>
      </p:sp>
      <p:sp>
        <p:nvSpPr>
          <p:cNvPr id="8" name="Biased data text"/>
          <p:cNvSpPr txBox="1"/>
          <p:nvPr/>
        </p:nvSpPr>
        <p:spPr>
          <a:xfrm>
            <a:off x="749808" y="2395728"/>
            <a:ext cx="3143402" cy="502920"/>
          </a:xfrm>
          <a:prstGeom prst="rect">
            <a:avLst/>
          </a:prstGeom>
          <a:noFill/>
          <a:ln/>
        </p:spPr>
        <p:txBody>
          <a:bodyPr wrap="square" lIns="0" tIns="0" rIns="0" bIns="0" rtlCol="0" anchor="t"/>
          <a:lstStyle/>
          <a:p>
            <a:pPr indent="0" marL="0">
              <a:buNone/>
            </a:pPr>
            <a:r>
              <a:rPr lang="en-US" sz="1400" dirty="0">
                <a:solidFill>
                  <a:schemeClr val="tx1"/>
                </a:solidFill>
              </a:rPr>
              <a:t>Wrong or one-sided data gives wrong answers.</a:t>
            </a:r>
            <a:endParaRPr lang="en-US" sz="1400" dirty="0"/>
          </a:p>
        </p:txBody>
      </p:sp>
      <p:sp>
        <p:nvSpPr>
          <p:cNvPr id="9" name="Overfitting card"/>
          <p:cNvSpPr/>
          <p:nvPr/>
        </p:nvSpPr>
        <p:spPr>
          <a:xfrm>
            <a:off x="4322978" y="1554480"/>
            <a:ext cx="3545738" cy="1417320"/>
          </a:xfrm>
          <a:prstGeom prst="roundRect">
            <a:avLst>
              <a:gd name="adj" fmla="val 5161"/>
            </a:avLst>
          </a:prstGeom>
          <a:solidFill>
            <a:schemeClr val="bg2"/>
          </a:solidFill>
          <a:ln/>
        </p:spPr>
      </p:sp>
      <p:sp>
        <p:nvSpPr>
          <p:cNvPr id="10" name="Overfitting icon circle"/>
          <p:cNvSpPr/>
          <p:nvPr/>
        </p:nvSpPr>
        <p:spPr>
          <a:xfrm>
            <a:off x="4524146" y="1755648"/>
            <a:ext cx="502920" cy="502920"/>
          </a:xfrm>
          <a:prstGeom prst="ellipse">
            <a:avLst/>
          </a:prstGeom>
          <a:solidFill>
            <a:schemeClr val="accent4"/>
          </a:solidFill>
          <a:ln/>
        </p:spPr>
      </p:sp>
      <p:pic>
        <p:nvPicPr>
          <p:cNvPr id="11" name="Overfitting icon" descr="Overfitting">    </p:cNvPr>
          <p:cNvPicPr>
            <a:picLocks noChangeAspect="1"/>
          </p:cNvPicPr>
          <p:nvPr/>
        </p:nvPicPr>
        <p:blipFill>
          <a:blip r:embed="rId2"/>
          <a:stretch>
            <a:fillRect/>
          </a:stretch>
        </p:blipFill>
        <p:spPr>
          <a:xfrm>
            <a:off x="4647590" y="1879092"/>
            <a:ext cx="256032" cy="256032"/>
          </a:xfrm>
          <a:prstGeom prst="rect">
            <a:avLst/>
          </a:prstGeom>
        </p:spPr>
      </p:pic>
      <p:sp>
        <p:nvSpPr>
          <p:cNvPr id="12" name="Overfitting title"/>
          <p:cNvSpPr txBox="1"/>
          <p:nvPr/>
        </p:nvSpPr>
        <p:spPr>
          <a:xfrm>
            <a:off x="5191658" y="17556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Overfitting</a:t>
            </a:r>
            <a:endParaRPr lang="en-US" sz="1600" dirty="0"/>
          </a:p>
        </p:txBody>
      </p:sp>
      <p:sp>
        <p:nvSpPr>
          <p:cNvPr id="13" name="Overfitting text"/>
          <p:cNvSpPr txBox="1"/>
          <p:nvPr/>
        </p:nvSpPr>
        <p:spPr>
          <a:xfrm>
            <a:off x="4524146" y="2395728"/>
            <a:ext cx="3143402" cy="502920"/>
          </a:xfrm>
          <a:prstGeom prst="rect">
            <a:avLst/>
          </a:prstGeom>
          <a:noFill/>
          <a:ln/>
        </p:spPr>
        <p:txBody>
          <a:bodyPr wrap="square" lIns="0" tIns="0" rIns="0" bIns="0" rtlCol="0" anchor="t"/>
          <a:lstStyle/>
          <a:p>
            <a:pPr indent="0" marL="0">
              <a:buNone/>
            </a:pPr>
            <a:r>
              <a:rPr lang="en-US" sz="1400" dirty="0">
                <a:solidFill>
                  <a:schemeClr val="tx1"/>
                </a:solidFill>
              </a:rPr>
              <a:t>A model that memorizes noise fails on new data.</a:t>
            </a:r>
            <a:endParaRPr lang="en-US" sz="1400" dirty="0"/>
          </a:p>
        </p:txBody>
      </p:sp>
      <p:sp>
        <p:nvSpPr>
          <p:cNvPr id="14" name="P-hacking card"/>
          <p:cNvSpPr/>
          <p:nvPr/>
        </p:nvSpPr>
        <p:spPr>
          <a:xfrm>
            <a:off x="8097317" y="1554480"/>
            <a:ext cx="3545738" cy="1417320"/>
          </a:xfrm>
          <a:prstGeom prst="roundRect">
            <a:avLst>
              <a:gd name="adj" fmla="val 5161"/>
            </a:avLst>
          </a:prstGeom>
          <a:solidFill>
            <a:schemeClr val="bg2"/>
          </a:solidFill>
          <a:ln/>
        </p:spPr>
      </p:sp>
      <p:sp>
        <p:nvSpPr>
          <p:cNvPr id="15" name="P-hacking icon circle"/>
          <p:cNvSpPr/>
          <p:nvPr/>
        </p:nvSpPr>
        <p:spPr>
          <a:xfrm>
            <a:off x="8298485" y="1755648"/>
            <a:ext cx="502920" cy="502920"/>
          </a:xfrm>
          <a:prstGeom prst="ellipse">
            <a:avLst/>
          </a:prstGeom>
          <a:solidFill>
            <a:schemeClr val="accent4"/>
          </a:solidFill>
          <a:ln/>
        </p:spPr>
      </p:sp>
      <p:pic>
        <p:nvPicPr>
          <p:cNvPr id="16" name="P-hacking icon" descr="P-hacking">    </p:cNvPr>
          <p:cNvPicPr>
            <a:picLocks noChangeAspect="1"/>
          </p:cNvPicPr>
          <p:nvPr/>
        </p:nvPicPr>
        <p:blipFill>
          <a:blip r:embed="rId3"/>
          <a:stretch>
            <a:fillRect/>
          </a:stretch>
        </p:blipFill>
        <p:spPr>
          <a:xfrm>
            <a:off x="8421929" y="1879092"/>
            <a:ext cx="256032" cy="256032"/>
          </a:xfrm>
          <a:prstGeom prst="rect">
            <a:avLst/>
          </a:prstGeom>
        </p:spPr>
      </p:pic>
      <p:sp>
        <p:nvSpPr>
          <p:cNvPr id="17" name="P-hacking title"/>
          <p:cNvSpPr txBox="1"/>
          <p:nvPr/>
        </p:nvSpPr>
        <p:spPr>
          <a:xfrm>
            <a:off x="8965997" y="17556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P-hacking</a:t>
            </a:r>
            <a:endParaRPr lang="en-US" sz="1600" dirty="0"/>
          </a:p>
        </p:txBody>
      </p:sp>
      <p:sp>
        <p:nvSpPr>
          <p:cNvPr id="18" name="P-hacking text"/>
          <p:cNvSpPr txBox="1"/>
          <p:nvPr/>
        </p:nvSpPr>
        <p:spPr>
          <a:xfrm>
            <a:off x="8298485" y="2395728"/>
            <a:ext cx="3143402" cy="502920"/>
          </a:xfrm>
          <a:prstGeom prst="rect">
            <a:avLst/>
          </a:prstGeom>
          <a:noFill/>
          <a:ln/>
        </p:spPr>
        <p:txBody>
          <a:bodyPr wrap="square" lIns="0" tIns="0" rIns="0" bIns="0" rtlCol="0" anchor="t"/>
          <a:lstStyle/>
          <a:p>
            <a:pPr indent="0" marL="0">
              <a:buNone/>
            </a:pPr>
            <a:r>
              <a:rPr lang="en-US" sz="1400" dirty="0">
                <a:solidFill>
                  <a:schemeClr val="tx1"/>
                </a:solidFill>
              </a:rPr>
              <a:t>Running many tests guarantees some false “wins”.</a:t>
            </a:r>
            <a:endParaRPr lang="en-US" sz="1400" dirty="0"/>
          </a:p>
        </p:txBody>
      </p:sp>
      <p:sp>
        <p:nvSpPr>
          <p:cNvPr id="19" name="Correlation ≠ causation card"/>
          <p:cNvSpPr/>
          <p:nvPr/>
        </p:nvSpPr>
        <p:spPr>
          <a:xfrm>
            <a:off x="548640" y="3154680"/>
            <a:ext cx="3545738" cy="1417320"/>
          </a:xfrm>
          <a:prstGeom prst="roundRect">
            <a:avLst>
              <a:gd name="adj" fmla="val 5161"/>
            </a:avLst>
          </a:prstGeom>
          <a:solidFill>
            <a:schemeClr val="bg2"/>
          </a:solidFill>
          <a:ln/>
        </p:spPr>
      </p:sp>
      <p:sp>
        <p:nvSpPr>
          <p:cNvPr id="20" name="Correlation ≠ causation icon circle"/>
          <p:cNvSpPr/>
          <p:nvPr/>
        </p:nvSpPr>
        <p:spPr>
          <a:xfrm>
            <a:off x="749808" y="3355848"/>
            <a:ext cx="502920" cy="502920"/>
          </a:xfrm>
          <a:prstGeom prst="ellipse">
            <a:avLst/>
          </a:prstGeom>
          <a:solidFill>
            <a:schemeClr val="accent4"/>
          </a:solidFill>
          <a:ln/>
        </p:spPr>
      </p:sp>
      <p:pic>
        <p:nvPicPr>
          <p:cNvPr id="21" name="Correlation ≠ causation icon" descr="Correlation ≠ causation">    </p:cNvPr>
          <p:cNvPicPr>
            <a:picLocks noChangeAspect="1"/>
          </p:cNvPicPr>
          <p:nvPr/>
        </p:nvPicPr>
        <p:blipFill>
          <a:blip r:embed="rId4"/>
          <a:stretch>
            <a:fillRect/>
          </a:stretch>
        </p:blipFill>
        <p:spPr>
          <a:xfrm>
            <a:off x="873252" y="3479292"/>
            <a:ext cx="256032" cy="256032"/>
          </a:xfrm>
          <a:prstGeom prst="rect">
            <a:avLst/>
          </a:prstGeom>
        </p:spPr>
      </p:pic>
      <p:sp>
        <p:nvSpPr>
          <p:cNvPr id="22" name="Correlation ≠ causation title"/>
          <p:cNvSpPr txBox="1"/>
          <p:nvPr/>
        </p:nvSpPr>
        <p:spPr>
          <a:xfrm>
            <a:off x="1417320" y="33558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Correlation ≠ causation</a:t>
            </a:r>
            <a:endParaRPr lang="en-US" sz="1600" dirty="0"/>
          </a:p>
        </p:txBody>
      </p:sp>
      <p:sp>
        <p:nvSpPr>
          <p:cNvPr id="23" name="Correlation ≠ causation text"/>
          <p:cNvSpPr txBox="1"/>
          <p:nvPr/>
        </p:nvSpPr>
        <p:spPr>
          <a:xfrm>
            <a:off x="749808" y="3995928"/>
            <a:ext cx="3143402" cy="502920"/>
          </a:xfrm>
          <a:prstGeom prst="rect">
            <a:avLst/>
          </a:prstGeom>
          <a:noFill/>
          <a:ln/>
        </p:spPr>
        <p:txBody>
          <a:bodyPr wrap="square" lIns="0" tIns="0" rIns="0" bIns="0" rtlCol="0" anchor="t"/>
          <a:lstStyle/>
          <a:p>
            <a:pPr indent="0" marL="0">
              <a:buNone/>
            </a:pPr>
            <a:r>
              <a:rPr lang="en-US" sz="1400" dirty="0">
                <a:solidFill>
                  <a:schemeClr val="tx1"/>
                </a:solidFill>
              </a:rPr>
              <a:t>Even accurate AI predictions do not prove cause.</a:t>
            </a:r>
            <a:endParaRPr lang="en-US" sz="1400" dirty="0"/>
          </a:p>
        </p:txBody>
      </p:sp>
      <p:sp>
        <p:nvSpPr>
          <p:cNvPr id="24" name="Significant ≠ important card"/>
          <p:cNvSpPr/>
          <p:nvPr/>
        </p:nvSpPr>
        <p:spPr>
          <a:xfrm>
            <a:off x="4322978" y="3154680"/>
            <a:ext cx="3545738" cy="1417320"/>
          </a:xfrm>
          <a:prstGeom prst="roundRect">
            <a:avLst>
              <a:gd name="adj" fmla="val 5161"/>
            </a:avLst>
          </a:prstGeom>
          <a:solidFill>
            <a:schemeClr val="bg2"/>
          </a:solidFill>
          <a:ln/>
        </p:spPr>
      </p:sp>
      <p:sp>
        <p:nvSpPr>
          <p:cNvPr id="25" name="Significant ≠ important icon circle"/>
          <p:cNvSpPr/>
          <p:nvPr/>
        </p:nvSpPr>
        <p:spPr>
          <a:xfrm>
            <a:off x="4524146" y="3355848"/>
            <a:ext cx="502920" cy="502920"/>
          </a:xfrm>
          <a:prstGeom prst="ellipse">
            <a:avLst/>
          </a:prstGeom>
          <a:solidFill>
            <a:schemeClr val="accent4"/>
          </a:solidFill>
          <a:ln/>
        </p:spPr>
      </p:sp>
      <p:pic>
        <p:nvPicPr>
          <p:cNvPr id="26" name="Significant ≠ important icon" descr="Significant ≠ important">    </p:cNvPr>
          <p:cNvPicPr>
            <a:picLocks noChangeAspect="1"/>
          </p:cNvPicPr>
          <p:nvPr/>
        </p:nvPicPr>
        <p:blipFill>
          <a:blip r:embed="rId5"/>
          <a:stretch>
            <a:fillRect/>
          </a:stretch>
        </p:blipFill>
        <p:spPr>
          <a:xfrm>
            <a:off x="4647590" y="3479292"/>
            <a:ext cx="256032" cy="256032"/>
          </a:xfrm>
          <a:prstGeom prst="rect">
            <a:avLst/>
          </a:prstGeom>
        </p:spPr>
      </p:pic>
      <p:sp>
        <p:nvSpPr>
          <p:cNvPr id="27" name="Significant ≠ important title"/>
          <p:cNvSpPr txBox="1"/>
          <p:nvPr/>
        </p:nvSpPr>
        <p:spPr>
          <a:xfrm>
            <a:off x="5191658" y="33558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Significant ≠ important</a:t>
            </a:r>
            <a:endParaRPr lang="en-US" sz="1600" dirty="0"/>
          </a:p>
        </p:txBody>
      </p:sp>
      <p:sp>
        <p:nvSpPr>
          <p:cNvPr id="28" name="Significant ≠ important text"/>
          <p:cNvSpPr txBox="1"/>
          <p:nvPr/>
        </p:nvSpPr>
        <p:spPr>
          <a:xfrm>
            <a:off x="4524146" y="3995928"/>
            <a:ext cx="3143402" cy="502920"/>
          </a:xfrm>
          <a:prstGeom prst="rect">
            <a:avLst/>
          </a:prstGeom>
          <a:noFill/>
          <a:ln/>
        </p:spPr>
        <p:txBody>
          <a:bodyPr wrap="square" lIns="0" tIns="0" rIns="0" bIns="0" rtlCol="0" anchor="t"/>
          <a:lstStyle/>
          <a:p>
            <a:pPr indent="0" marL="0">
              <a:buNone/>
            </a:pPr>
            <a:r>
              <a:rPr lang="en-US" sz="1400" dirty="0">
                <a:solidFill>
                  <a:schemeClr val="tx1"/>
                </a:solidFill>
              </a:rPr>
              <a:t>Always report how big the effect is.</a:t>
            </a:r>
            <a:endParaRPr lang="en-US" sz="1400" dirty="0"/>
          </a:p>
        </p:txBody>
      </p:sp>
      <p:sp>
        <p:nvSpPr>
          <p:cNvPr id="29" name="Privacy &amp; fairness card"/>
          <p:cNvSpPr/>
          <p:nvPr/>
        </p:nvSpPr>
        <p:spPr>
          <a:xfrm>
            <a:off x="8097317" y="3154680"/>
            <a:ext cx="3545738" cy="1417320"/>
          </a:xfrm>
          <a:prstGeom prst="roundRect">
            <a:avLst>
              <a:gd name="adj" fmla="val 5161"/>
            </a:avLst>
          </a:prstGeom>
          <a:solidFill>
            <a:schemeClr val="bg2"/>
          </a:solidFill>
          <a:ln/>
        </p:spPr>
      </p:sp>
      <p:sp>
        <p:nvSpPr>
          <p:cNvPr id="30" name="Privacy &amp; fairness icon circle"/>
          <p:cNvSpPr/>
          <p:nvPr/>
        </p:nvSpPr>
        <p:spPr>
          <a:xfrm>
            <a:off x="8298485" y="3355848"/>
            <a:ext cx="502920" cy="502920"/>
          </a:xfrm>
          <a:prstGeom prst="ellipse">
            <a:avLst/>
          </a:prstGeom>
          <a:solidFill>
            <a:schemeClr val="accent4"/>
          </a:solidFill>
          <a:ln/>
        </p:spPr>
      </p:sp>
      <p:pic>
        <p:nvPicPr>
          <p:cNvPr id="31" name="Privacy &amp; fairness icon" descr="Privacy &amp; fairness">    </p:cNvPr>
          <p:cNvPicPr>
            <a:picLocks noChangeAspect="1"/>
          </p:cNvPicPr>
          <p:nvPr/>
        </p:nvPicPr>
        <p:blipFill>
          <a:blip r:embed="rId6"/>
          <a:stretch>
            <a:fillRect/>
          </a:stretch>
        </p:blipFill>
        <p:spPr>
          <a:xfrm>
            <a:off x="8421929" y="3479292"/>
            <a:ext cx="256032" cy="256032"/>
          </a:xfrm>
          <a:prstGeom prst="rect">
            <a:avLst/>
          </a:prstGeom>
        </p:spPr>
      </p:pic>
      <p:sp>
        <p:nvSpPr>
          <p:cNvPr id="32" name="Privacy &amp;amp; fairness title"/>
          <p:cNvSpPr txBox="1"/>
          <p:nvPr/>
        </p:nvSpPr>
        <p:spPr>
          <a:xfrm>
            <a:off x="8965997" y="3355848"/>
            <a:ext cx="2494178" cy="50292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Privacy &amp; fairness</a:t>
            </a:r>
            <a:endParaRPr lang="en-US" sz="1600" dirty="0"/>
          </a:p>
        </p:txBody>
      </p:sp>
      <p:sp>
        <p:nvSpPr>
          <p:cNvPr id="33" name="Privacy &amp;amp; fairness text"/>
          <p:cNvSpPr txBox="1"/>
          <p:nvPr/>
        </p:nvSpPr>
        <p:spPr>
          <a:xfrm>
            <a:off x="8298485" y="3995928"/>
            <a:ext cx="3143402" cy="502920"/>
          </a:xfrm>
          <a:prstGeom prst="rect">
            <a:avLst/>
          </a:prstGeom>
          <a:noFill/>
          <a:ln/>
        </p:spPr>
        <p:txBody>
          <a:bodyPr wrap="square" lIns="0" tIns="0" rIns="0" bIns="0" rtlCol="0" anchor="t"/>
          <a:lstStyle/>
          <a:p>
            <a:pPr indent="0" marL="0">
              <a:buNone/>
            </a:pPr>
            <a:r>
              <a:rPr lang="en-US" sz="1400" dirty="0">
                <a:solidFill>
                  <a:schemeClr val="tx1"/>
                </a:solidFill>
              </a:rPr>
              <a:t>Protect people and check models for bias.</a:t>
            </a:r>
            <a:endParaRPr lang="en-US" sz="1400" dirty="0"/>
          </a:p>
        </p:txBody>
      </p:sp>
      <p:sp>
        <p:nvSpPr>
          <p:cNvPr id="34" name="Framework heading"/>
          <p:cNvSpPr txBox="1"/>
          <p:nvPr/>
        </p:nvSpPr>
        <p:spPr>
          <a:xfrm>
            <a:off x="548640" y="4846320"/>
            <a:ext cx="11094415"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RESPONSIBLE PRACTICE</a:t>
            </a:r>
            <a:endParaRPr lang="en-US" sz="1100" dirty="0"/>
          </a:p>
        </p:txBody>
      </p:sp>
      <p:sp>
        <p:nvSpPr>
          <p:cNvPr id="35" name="Framework Plan pill"/>
          <p:cNvSpPr/>
          <p:nvPr/>
        </p:nvSpPr>
        <p:spPr>
          <a:xfrm>
            <a:off x="548640" y="5193792"/>
            <a:ext cx="1999427" cy="530352"/>
          </a:xfrm>
          <a:prstGeom prst="roundRect">
            <a:avLst>
              <a:gd name="adj" fmla="val 50000"/>
            </a:avLst>
          </a:prstGeom>
          <a:solidFill>
            <a:schemeClr val="tx2"/>
          </a:solidFill>
          <a:ln/>
        </p:spPr>
      </p:sp>
      <p:sp>
        <p:nvSpPr>
          <p:cNvPr id="36" name="Framework Plan text"/>
          <p:cNvSpPr txBox="1"/>
          <p:nvPr/>
        </p:nvSpPr>
        <p:spPr>
          <a:xfrm>
            <a:off x="548640" y="5193792"/>
            <a:ext cx="1999427" cy="530352"/>
          </a:xfrm>
          <a:prstGeom prst="rect">
            <a:avLst/>
          </a:prstGeom>
          <a:noFill/>
          <a:ln/>
        </p:spPr>
        <p:txBody>
          <a:bodyPr wrap="square" lIns="0" tIns="0" rIns="0" bIns="0" rtlCol="0" anchor="ctr"/>
          <a:lstStyle/>
          <a:p>
            <a:pPr algn="ctr" indent="0" marL="0">
              <a:buNone/>
            </a:pPr>
            <a:r>
              <a:rPr lang="en-US" sz="1550" b="1" dirty="0">
                <a:solidFill>
                  <a:schemeClr val="accent2"/>
                </a:solidFill>
              </a:rPr>
              <a:t>1  </a:t>
            </a:r>
            <a:pPr algn="ctr" indent="0" marL="0">
              <a:buNone/>
            </a:pPr>
            <a:r>
              <a:rPr lang="en-US" sz="1550" b="1" dirty="0">
                <a:solidFill>
                  <a:schemeClr val="bg1"/>
                </a:solidFill>
              </a:rPr>
              <a:t>Plan</a:t>
            </a:r>
            <a:endParaRPr lang="en-US" sz="1550" dirty="0"/>
          </a:p>
        </p:txBody>
      </p:sp>
      <p:sp>
        <p:nvSpPr>
          <p:cNvPr id="37" name="Framework Plan note"/>
          <p:cNvSpPr txBox="1"/>
          <p:nvPr/>
        </p:nvSpPr>
        <p:spPr>
          <a:xfrm>
            <a:off x="548640" y="5797296"/>
            <a:ext cx="1999427" cy="292608"/>
          </a:xfrm>
          <a:prstGeom prst="rect">
            <a:avLst/>
          </a:prstGeom>
          <a:noFill/>
          <a:ln/>
        </p:spPr>
        <p:txBody>
          <a:bodyPr wrap="square" lIns="0" tIns="0" rIns="0" bIns="0" rtlCol="0" anchor="t"/>
          <a:lstStyle/>
          <a:p>
            <a:pPr algn="ctr" indent="0" marL="0">
              <a:buNone/>
            </a:pPr>
            <a:r>
              <a:rPr lang="en-US" sz="1250" dirty="0">
                <a:solidFill>
                  <a:schemeClr val="accent5"/>
                </a:solidFill>
              </a:rPr>
              <a:t>set the question first</a:t>
            </a:r>
            <a:endParaRPr lang="en-US" sz="1250" dirty="0"/>
          </a:p>
        </p:txBody>
      </p:sp>
      <p:sp>
        <p:nvSpPr>
          <p:cNvPr id="38" name="Framework Check pill"/>
          <p:cNvSpPr/>
          <p:nvPr/>
        </p:nvSpPr>
        <p:spPr>
          <a:xfrm>
            <a:off x="2822387" y="5193792"/>
            <a:ext cx="1999427" cy="530352"/>
          </a:xfrm>
          <a:prstGeom prst="roundRect">
            <a:avLst>
              <a:gd name="adj" fmla="val 50000"/>
            </a:avLst>
          </a:prstGeom>
          <a:solidFill>
            <a:schemeClr val="tx2"/>
          </a:solidFill>
          <a:ln/>
        </p:spPr>
      </p:sp>
      <p:sp>
        <p:nvSpPr>
          <p:cNvPr id="39" name="Framework Check text"/>
          <p:cNvSpPr txBox="1"/>
          <p:nvPr/>
        </p:nvSpPr>
        <p:spPr>
          <a:xfrm>
            <a:off x="2822387" y="5193792"/>
            <a:ext cx="1999427" cy="530352"/>
          </a:xfrm>
          <a:prstGeom prst="rect">
            <a:avLst/>
          </a:prstGeom>
          <a:noFill/>
          <a:ln/>
        </p:spPr>
        <p:txBody>
          <a:bodyPr wrap="square" lIns="0" tIns="0" rIns="0" bIns="0" rtlCol="0" anchor="ctr"/>
          <a:lstStyle/>
          <a:p>
            <a:pPr algn="ctr" indent="0" marL="0">
              <a:buNone/>
            </a:pPr>
            <a:r>
              <a:rPr lang="en-US" sz="1550" b="1" dirty="0">
                <a:solidFill>
                  <a:schemeClr val="accent2"/>
                </a:solidFill>
              </a:rPr>
              <a:t>2  </a:t>
            </a:r>
            <a:pPr algn="ctr" indent="0" marL="0">
              <a:buNone/>
            </a:pPr>
            <a:r>
              <a:rPr lang="en-US" sz="1550" b="1" dirty="0">
                <a:solidFill>
                  <a:schemeClr val="bg1"/>
                </a:solidFill>
              </a:rPr>
              <a:t>Check</a:t>
            </a:r>
            <a:endParaRPr lang="en-US" sz="1550" dirty="0"/>
          </a:p>
        </p:txBody>
      </p:sp>
      <p:sp>
        <p:nvSpPr>
          <p:cNvPr id="40" name="Framework Check note"/>
          <p:cNvSpPr txBox="1"/>
          <p:nvPr/>
        </p:nvSpPr>
        <p:spPr>
          <a:xfrm>
            <a:off x="2822387" y="5797296"/>
            <a:ext cx="1999427" cy="292608"/>
          </a:xfrm>
          <a:prstGeom prst="rect">
            <a:avLst/>
          </a:prstGeom>
          <a:noFill/>
          <a:ln/>
        </p:spPr>
        <p:txBody>
          <a:bodyPr wrap="square" lIns="0" tIns="0" rIns="0" bIns="0" rtlCol="0" anchor="t"/>
          <a:lstStyle/>
          <a:p>
            <a:pPr algn="ctr" indent="0" marL="0">
              <a:buNone/>
            </a:pPr>
            <a:r>
              <a:rPr lang="en-US" sz="1250" dirty="0">
                <a:solidFill>
                  <a:schemeClr val="accent5"/>
                </a:solidFill>
              </a:rPr>
              <a:t>data and assumptions</a:t>
            </a:r>
            <a:endParaRPr lang="en-US" sz="1250" dirty="0"/>
          </a:p>
        </p:txBody>
      </p:sp>
      <p:sp>
        <p:nvSpPr>
          <p:cNvPr id="41" name="Framework arrow 2"/>
          <p:cNvSpPr/>
          <p:nvPr/>
        </p:nvSpPr>
        <p:spPr>
          <a:xfrm>
            <a:off x="2616647" y="5321808"/>
            <a:ext cx="137160" cy="274320"/>
          </a:xfrm>
          <a:prstGeom prst="chevron">
            <a:avLst/>
          </a:prstGeom>
          <a:solidFill>
            <a:schemeClr val="accent5"/>
          </a:solidFill>
          <a:ln/>
        </p:spPr>
      </p:sp>
      <p:sp>
        <p:nvSpPr>
          <p:cNvPr id="42" name="Framework Estimate pill"/>
          <p:cNvSpPr/>
          <p:nvPr/>
        </p:nvSpPr>
        <p:spPr>
          <a:xfrm>
            <a:off x="5096134" y="5193792"/>
            <a:ext cx="1999427" cy="530352"/>
          </a:xfrm>
          <a:prstGeom prst="roundRect">
            <a:avLst>
              <a:gd name="adj" fmla="val 50000"/>
            </a:avLst>
          </a:prstGeom>
          <a:solidFill>
            <a:schemeClr val="tx2"/>
          </a:solidFill>
          <a:ln/>
        </p:spPr>
      </p:sp>
      <p:sp>
        <p:nvSpPr>
          <p:cNvPr id="43" name="Framework Estimate text"/>
          <p:cNvSpPr txBox="1"/>
          <p:nvPr/>
        </p:nvSpPr>
        <p:spPr>
          <a:xfrm>
            <a:off x="5096134" y="5193792"/>
            <a:ext cx="1999427" cy="530352"/>
          </a:xfrm>
          <a:prstGeom prst="rect">
            <a:avLst/>
          </a:prstGeom>
          <a:noFill/>
          <a:ln/>
        </p:spPr>
        <p:txBody>
          <a:bodyPr wrap="square" lIns="0" tIns="0" rIns="0" bIns="0" rtlCol="0" anchor="ctr"/>
          <a:lstStyle/>
          <a:p>
            <a:pPr algn="ctr" indent="0" marL="0">
              <a:buNone/>
            </a:pPr>
            <a:r>
              <a:rPr lang="en-US" sz="1550" b="1" dirty="0">
                <a:solidFill>
                  <a:schemeClr val="accent2"/>
                </a:solidFill>
              </a:rPr>
              <a:t>3  </a:t>
            </a:r>
            <a:pPr algn="ctr" indent="0" marL="0">
              <a:buNone/>
            </a:pPr>
            <a:r>
              <a:rPr lang="en-US" sz="1550" b="1" dirty="0">
                <a:solidFill>
                  <a:schemeClr val="bg1"/>
                </a:solidFill>
              </a:rPr>
              <a:t>Estimate</a:t>
            </a:r>
            <a:endParaRPr lang="en-US" sz="1550" dirty="0"/>
          </a:p>
        </p:txBody>
      </p:sp>
      <p:sp>
        <p:nvSpPr>
          <p:cNvPr id="44" name="Framework Estimate note"/>
          <p:cNvSpPr txBox="1"/>
          <p:nvPr/>
        </p:nvSpPr>
        <p:spPr>
          <a:xfrm>
            <a:off x="5096134" y="5797296"/>
            <a:ext cx="1999427" cy="292608"/>
          </a:xfrm>
          <a:prstGeom prst="rect">
            <a:avLst/>
          </a:prstGeom>
          <a:noFill/>
          <a:ln/>
        </p:spPr>
        <p:txBody>
          <a:bodyPr wrap="square" lIns="0" tIns="0" rIns="0" bIns="0" rtlCol="0" anchor="t"/>
          <a:lstStyle/>
          <a:p>
            <a:pPr algn="ctr" indent="0" marL="0">
              <a:buNone/>
            </a:pPr>
            <a:r>
              <a:rPr lang="en-US" sz="1250" dirty="0">
                <a:solidFill>
                  <a:schemeClr val="accent5"/>
                </a:solidFill>
              </a:rPr>
              <a:t>effects with uncertainty</a:t>
            </a:r>
            <a:endParaRPr lang="en-US" sz="1250" dirty="0"/>
          </a:p>
        </p:txBody>
      </p:sp>
      <p:sp>
        <p:nvSpPr>
          <p:cNvPr id="45" name="Framework arrow 3"/>
          <p:cNvSpPr/>
          <p:nvPr/>
        </p:nvSpPr>
        <p:spPr>
          <a:xfrm>
            <a:off x="4890394" y="5321808"/>
            <a:ext cx="137160" cy="274320"/>
          </a:xfrm>
          <a:prstGeom prst="chevron">
            <a:avLst/>
          </a:prstGeom>
          <a:solidFill>
            <a:schemeClr val="accent5"/>
          </a:solidFill>
          <a:ln/>
        </p:spPr>
      </p:sp>
      <p:sp>
        <p:nvSpPr>
          <p:cNvPr id="46" name="Framework Stress-test pill"/>
          <p:cNvSpPr/>
          <p:nvPr/>
        </p:nvSpPr>
        <p:spPr>
          <a:xfrm>
            <a:off x="7369881" y="5193792"/>
            <a:ext cx="1999427" cy="530352"/>
          </a:xfrm>
          <a:prstGeom prst="roundRect">
            <a:avLst>
              <a:gd name="adj" fmla="val 50000"/>
            </a:avLst>
          </a:prstGeom>
          <a:solidFill>
            <a:schemeClr val="tx2"/>
          </a:solidFill>
          <a:ln/>
        </p:spPr>
      </p:sp>
      <p:sp>
        <p:nvSpPr>
          <p:cNvPr id="47" name="Framework Stress-test text"/>
          <p:cNvSpPr txBox="1"/>
          <p:nvPr/>
        </p:nvSpPr>
        <p:spPr>
          <a:xfrm>
            <a:off x="7369881" y="5193792"/>
            <a:ext cx="1999427" cy="530352"/>
          </a:xfrm>
          <a:prstGeom prst="rect">
            <a:avLst/>
          </a:prstGeom>
          <a:noFill/>
          <a:ln/>
        </p:spPr>
        <p:txBody>
          <a:bodyPr wrap="square" lIns="0" tIns="0" rIns="0" bIns="0" rtlCol="0" anchor="ctr"/>
          <a:lstStyle/>
          <a:p>
            <a:pPr algn="ctr" indent="0" marL="0">
              <a:buNone/>
            </a:pPr>
            <a:r>
              <a:rPr lang="en-US" sz="1550" b="1" dirty="0">
                <a:solidFill>
                  <a:schemeClr val="accent2"/>
                </a:solidFill>
              </a:rPr>
              <a:t>4  </a:t>
            </a:r>
            <a:pPr algn="ctr" indent="0" marL="0">
              <a:buNone/>
            </a:pPr>
            <a:r>
              <a:rPr lang="en-US" sz="1550" b="1" dirty="0">
                <a:solidFill>
                  <a:schemeClr val="bg1"/>
                </a:solidFill>
              </a:rPr>
              <a:t>Stress-test</a:t>
            </a:r>
            <a:endParaRPr lang="en-US" sz="1550" dirty="0"/>
          </a:p>
        </p:txBody>
      </p:sp>
      <p:sp>
        <p:nvSpPr>
          <p:cNvPr id="48" name="Framework Stress-test note"/>
          <p:cNvSpPr txBox="1"/>
          <p:nvPr/>
        </p:nvSpPr>
        <p:spPr>
          <a:xfrm>
            <a:off x="7369881" y="5797296"/>
            <a:ext cx="1999427" cy="292608"/>
          </a:xfrm>
          <a:prstGeom prst="rect">
            <a:avLst/>
          </a:prstGeom>
          <a:noFill/>
          <a:ln/>
        </p:spPr>
        <p:txBody>
          <a:bodyPr wrap="square" lIns="0" tIns="0" rIns="0" bIns="0" rtlCol="0" anchor="t"/>
          <a:lstStyle/>
          <a:p>
            <a:pPr algn="ctr" indent="0" marL="0">
              <a:buNone/>
            </a:pPr>
            <a:r>
              <a:rPr lang="en-US" sz="1250" dirty="0">
                <a:solidFill>
                  <a:schemeClr val="accent5"/>
                </a:solidFill>
              </a:rPr>
              <a:t>robustness checks</a:t>
            </a:r>
            <a:endParaRPr lang="en-US" sz="1250" dirty="0"/>
          </a:p>
        </p:txBody>
      </p:sp>
      <p:sp>
        <p:nvSpPr>
          <p:cNvPr id="49" name="Framework arrow 4"/>
          <p:cNvSpPr/>
          <p:nvPr/>
        </p:nvSpPr>
        <p:spPr>
          <a:xfrm>
            <a:off x="7164141" y="5321808"/>
            <a:ext cx="137160" cy="274320"/>
          </a:xfrm>
          <a:prstGeom prst="chevron">
            <a:avLst/>
          </a:prstGeom>
          <a:solidFill>
            <a:schemeClr val="accent5"/>
          </a:solidFill>
          <a:ln/>
        </p:spPr>
      </p:sp>
      <p:sp>
        <p:nvSpPr>
          <p:cNvPr id="50" name="Framework Report pill"/>
          <p:cNvSpPr/>
          <p:nvPr/>
        </p:nvSpPr>
        <p:spPr>
          <a:xfrm>
            <a:off x="9643628" y="5193792"/>
            <a:ext cx="1999427" cy="530352"/>
          </a:xfrm>
          <a:prstGeom prst="roundRect">
            <a:avLst>
              <a:gd name="adj" fmla="val 50000"/>
            </a:avLst>
          </a:prstGeom>
          <a:solidFill>
            <a:schemeClr val="tx2"/>
          </a:solidFill>
          <a:ln/>
        </p:spPr>
      </p:sp>
      <p:sp>
        <p:nvSpPr>
          <p:cNvPr id="51" name="Framework Report text"/>
          <p:cNvSpPr txBox="1"/>
          <p:nvPr/>
        </p:nvSpPr>
        <p:spPr>
          <a:xfrm>
            <a:off x="9643628" y="5193792"/>
            <a:ext cx="1999427" cy="530352"/>
          </a:xfrm>
          <a:prstGeom prst="rect">
            <a:avLst/>
          </a:prstGeom>
          <a:noFill/>
          <a:ln/>
        </p:spPr>
        <p:txBody>
          <a:bodyPr wrap="square" lIns="0" tIns="0" rIns="0" bIns="0" rtlCol="0" anchor="ctr"/>
          <a:lstStyle/>
          <a:p>
            <a:pPr algn="ctr" indent="0" marL="0">
              <a:buNone/>
            </a:pPr>
            <a:r>
              <a:rPr lang="en-US" sz="1550" b="1" dirty="0">
                <a:solidFill>
                  <a:schemeClr val="accent2"/>
                </a:solidFill>
              </a:rPr>
              <a:t>5  </a:t>
            </a:r>
            <a:pPr algn="ctr" indent="0" marL="0">
              <a:buNone/>
            </a:pPr>
            <a:r>
              <a:rPr lang="en-US" sz="1550" b="1" dirty="0">
                <a:solidFill>
                  <a:schemeClr val="bg1"/>
                </a:solidFill>
              </a:rPr>
              <a:t>Report</a:t>
            </a:r>
            <a:endParaRPr lang="en-US" sz="1550" dirty="0"/>
          </a:p>
        </p:txBody>
      </p:sp>
      <p:sp>
        <p:nvSpPr>
          <p:cNvPr id="52" name="Framework Report note"/>
          <p:cNvSpPr txBox="1"/>
          <p:nvPr/>
        </p:nvSpPr>
        <p:spPr>
          <a:xfrm>
            <a:off x="9643628" y="5797296"/>
            <a:ext cx="1999427" cy="292608"/>
          </a:xfrm>
          <a:prstGeom prst="rect">
            <a:avLst/>
          </a:prstGeom>
          <a:noFill/>
          <a:ln/>
        </p:spPr>
        <p:txBody>
          <a:bodyPr wrap="square" lIns="0" tIns="0" rIns="0" bIns="0" rtlCol="0" anchor="t"/>
          <a:lstStyle/>
          <a:p>
            <a:pPr algn="ctr" indent="0" marL="0">
              <a:buNone/>
            </a:pPr>
            <a:r>
              <a:rPr lang="en-US" sz="1250" dirty="0">
                <a:solidFill>
                  <a:schemeClr val="accent5"/>
                </a:solidFill>
              </a:rPr>
              <a:t>honestly, with limits</a:t>
            </a:r>
            <a:endParaRPr lang="en-US" sz="1250" dirty="0"/>
          </a:p>
        </p:txBody>
      </p:sp>
      <p:sp>
        <p:nvSpPr>
          <p:cNvPr id="53" name="Framework arrow 5"/>
          <p:cNvSpPr/>
          <p:nvPr/>
        </p:nvSpPr>
        <p:spPr>
          <a:xfrm>
            <a:off x="9437888" y="5321808"/>
            <a:ext cx="137160" cy="274320"/>
          </a:xfrm>
          <a:prstGeom prst="chevron">
            <a:avLst/>
          </a:prstGeom>
          <a:solidFill>
            <a:schemeClr val="accent5"/>
          </a:solidFill>
          <a:ln/>
        </p:spPr>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2"/>
                </a:solidFill>
              </a:rPr>
              <a:t>05 · CONCLUSION</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latin typeface="+mj-lt" pitchFamily="34" charset="0"/>
                <a:ea typeface="+mj-lt" pitchFamily="34" charset="-122"/>
                <a:cs typeface="+mj-lt" pitchFamily="34" charset="-120"/>
              </a:rPr>
              <a:t>Key takeaways</a:t>
            </a:r>
            <a:endParaRPr lang="en-US" sz="3400" dirty="0"/>
          </a:p>
        </p:txBody>
      </p:sp>
      <p:sp>
        <p:nvSpPr>
          <p:cNvPr id="4" name="Takeaway 1 card"/>
          <p:cNvSpPr/>
          <p:nvPr/>
        </p:nvSpPr>
        <p:spPr>
          <a:xfrm>
            <a:off x="548640" y="1645920"/>
            <a:ext cx="2567864" cy="2148840"/>
          </a:xfrm>
          <a:prstGeom prst="roundRect">
            <a:avLst>
              <a:gd name="adj" fmla="val 3404"/>
            </a:avLst>
          </a:prstGeom>
          <a:solidFill>
            <a:schemeClr val="accent3"/>
          </a:solidFill>
          <a:ln/>
        </p:spPr>
      </p:sp>
      <p:sp>
        <p:nvSpPr>
          <p:cNvPr id="5" name="Takeaway 1 number"/>
          <p:cNvSpPr txBox="1"/>
          <p:nvPr/>
        </p:nvSpPr>
        <p:spPr>
          <a:xfrm>
            <a:off x="777240" y="182880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01</a:t>
            </a:r>
            <a:endParaRPr lang="en-US" sz="2800" dirty="0"/>
          </a:p>
        </p:txBody>
      </p:sp>
      <p:sp>
        <p:nvSpPr>
          <p:cNvPr id="6" name="Takeaway 1 heading"/>
          <p:cNvSpPr txBox="1"/>
          <p:nvPr/>
        </p:nvSpPr>
        <p:spPr>
          <a:xfrm>
            <a:off x="777240" y="2423160"/>
            <a:ext cx="2110664" cy="365760"/>
          </a:xfrm>
          <a:prstGeom prst="rect">
            <a:avLst/>
          </a:prstGeom>
          <a:noFill/>
          <a:ln/>
        </p:spPr>
        <p:txBody>
          <a:bodyPr wrap="square" lIns="0" tIns="0" rIns="0" bIns="0" rtlCol="0" anchor="t"/>
          <a:lstStyle/>
          <a:p>
            <a:pPr indent="0" marL="0">
              <a:buNone/>
            </a:pPr>
            <a:r>
              <a:rPr lang="en-US" sz="1600" b="1" dirty="0">
                <a:solidFill>
                  <a:schemeClr val="bg1"/>
                </a:solidFill>
              </a:rPr>
              <a:t>Data becomes evidence</a:t>
            </a:r>
            <a:endParaRPr lang="en-US" sz="1600" dirty="0"/>
          </a:p>
        </p:txBody>
      </p:sp>
      <p:sp>
        <p:nvSpPr>
          <p:cNvPr id="7" name="Takeaway 1 text"/>
          <p:cNvSpPr txBox="1"/>
          <p:nvPr/>
        </p:nvSpPr>
        <p:spPr>
          <a:xfrm>
            <a:off x="777240" y="2852928"/>
            <a:ext cx="2110664" cy="822960"/>
          </a:xfrm>
          <a:prstGeom prst="rect">
            <a:avLst/>
          </a:prstGeom>
          <a:noFill/>
          <a:ln/>
        </p:spPr>
        <p:txBody>
          <a:bodyPr wrap="square" lIns="0" tIns="0" rIns="0" bIns="0" rtlCol="0" anchor="t"/>
          <a:lstStyle/>
          <a:p>
            <a:pPr indent="0" marL="0">
              <a:buNone/>
            </a:pPr>
            <a:r>
              <a:rPr lang="en-US" sz="1400" dirty="0">
                <a:solidFill>
                  <a:schemeClr val="accent6"/>
                </a:solidFill>
              </a:rPr>
              <a:t>Statistics separates real patterns from noise.</a:t>
            </a:r>
            <a:endParaRPr lang="en-US" sz="1400" dirty="0"/>
          </a:p>
        </p:txBody>
      </p:sp>
      <p:sp>
        <p:nvSpPr>
          <p:cNvPr id="8" name="Takeaway 2 card"/>
          <p:cNvSpPr/>
          <p:nvPr/>
        </p:nvSpPr>
        <p:spPr>
          <a:xfrm>
            <a:off x="3390824" y="1645920"/>
            <a:ext cx="2567864" cy="2148840"/>
          </a:xfrm>
          <a:prstGeom prst="roundRect">
            <a:avLst>
              <a:gd name="adj" fmla="val 3404"/>
            </a:avLst>
          </a:prstGeom>
          <a:solidFill>
            <a:schemeClr val="accent3"/>
          </a:solidFill>
          <a:ln/>
        </p:spPr>
      </p:sp>
      <p:sp>
        <p:nvSpPr>
          <p:cNvPr id="9" name="Takeaway 2 number"/>
          <p:cNvSpPr txBox="1"/>
          <p:nvPr/>
        </p:nvSpPr>
        <p:spPr>
          <a:xfrm>
            <a:off x="3619424" y="182880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02</a:t>
            </a:r>
            <a:endParaRPr lang="en-US" sz="2800" dirty="0"/>
          </a:p>
        </p:txBody>
      </p:sp>
      <p:sp>
        <p:nvSpPr>
          <p:cNvPr id="10" name="Takeaway 2 heading"/>
          <p:cNvSpPr txBox="1"/>
          <p:nvPr/>
        </p:nvSpPr>
        <p:spPr>
          <a:xfrm>
            <a:off x="3619424" y="2423160"/>
            <a:ext cx="2110664" cy="365760"/>
          </a:xfrm>
          <a:prstGeom prst="rect">
            <a:avLst/>
          </a:prstGeom>
          <a:noFill/>
          <a:ln/>
        </p:spPr>
        <p:txBody>
          <a:bodyPr wrap="square" lIns="0" tIns="0" rIns="0" bIns="0" rtlCol="0" anchor="t"/>
          <a:lstStyle/>
          <a:p>
            <a:pPr indent="0" marL="0">
              <a:buNone/>
            </a:pPr>
            <a:r>
              <a:rPr lang="en-US" sz="1600" b="1" dirty="0">
                <a:solidFill>
                  <a:schemeClr val="bg1"/>
                </a:solidFill>
              </a:rPr>
              <a:t>Test before you decide</a:t>
            </a:r>
            <a:endParaRPr lang="en-US" sz="1600" dirty="0"/>
          </a:p>
        </p:txBody>
      </p:sp>
      <p:sp>
        <p:nvSpPr>
          <p:cNvPr id="11" name="Takeaway 2 text"/>
          <p:cNvSpPr txBox="1"/>
          <p:nvPr/>
        </p:nvSpPr>
        <p:spPr>
          <a:xfrm>
            <a:off x="3619424" y="2852928"/>
            <a:ext cx="2110664" cy="822960"/>
          </a:xfrm>
          <a:prstGeom prst="rect">
            <a:avLst/>
          </a:prstGeom>
          <a:noFill/>
          <a:ln/>
        </p:spPr>
        <p:txBody>
          <a:bodyPr wrap="square" lIns="0" tIns="0" rIns="0" bIns="0" rtlCol="0" anchor="t"/>
          <a:lstStyle/>
          <a:p>
            <a:pPr indent="0" marL="0">
              <a:buNone/>
            </a:pPr>
            <a:r>
              <a:rPr lang="en-US" sz="1400" dirty="0">
                <a:solidFill>
                  <a:schemeClr val="accent6"/>
                </a:solidFill>
              </a:rPr>
              <a:t>Experiments and intervals beat opinion.</a:t>
            </a:r>
            <a:endParaRPr lang="en-US" sz="1400" dirty="0"/>
          </a:p>
        </p:txBody>
      </p:sp>
      <p:sp>
        <p:nvSpPr>
          <p:cNvPr id="12" name="Takeaway 3 card"/>
          <p:cNvSpPr/>
          <p:nvPr/>
        </p:nvSpPr>
        <p:spPr>
          <a:xfrm>
            <a:off x="6233008" y="1645920"/>
            <a:ext cx="2567864" cy="2148840"/>
          </a:xfrm>
          <a:prstGeom prst="roundRect">
            <a:avLst>
              <a:gd name="adj" fmla="val 3404"/>
            </a:avLst>
          </a:prstGeom>
          <a:solidFill>
            <a:schemeClr val="accent3"/>
          </a:solidFill>
          <a:ln/>
        </p:spPr>
      </p:sp>
      <p:sp>
        <p:nvSpPr>
          <p:cNvPr id="13" name="Takeaway 3 number"/>
          <p:cNvSpPr txBox="1"/>
          <p:nvPr/>
        </p:nvSpPr>
        <p:spPr>
          <a:xfrm>
            <a:off x="6461608" y="182880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03</a:t>
            </a:r>
            <a:endParaRPr lang="en-US" sz="2800" dirty="0"/>
          </a:p>
        </p:txBody>
      </p:sp>
      <p:sp>
        <p:nvSpPr>
          <p:cNvPr id="14" name="Takeaway 3 heading"/>
          <p:cNvSpPr txBox="1"/>
          <p:nvPr/>
        </p:nvSpPr>
        <p:spPr>
          <a:xfrm>
            <a:off x="6461608" y="2423160"/>
            <a:ext cx="2110664" cy="365760"/>
          </a:xfrm>
          <a:prstGeom prst="rect">
            <a:avLst/>
          </a:prstGeom>
          <a:noFill/>
          <a:ln/>
        </p:spPr>
        <p:txBody>
          <a:bodyPr wrap="square" lIns="0" tIns="0" rIns="0" bIns="0" rtlCol="0" anchor="t"/>
          <a:lstStyle/>
          <a:p>
            <a:pPr indent="0" marL="0">
              <a:buNone/>
            </a:pPr>
            <a:r>
              <a:rPr lang="en-US" sz="1600" b="1" dirty="0">
                <a:solidFill>
                  <a:schemeClr val="bg1"/>
                </a:solidFill>
              </a:rPr>
              <a:t>Design drives rigor</a:t>
            </a:r>
            <a:endParaRPr lang="en-US" sz="1600" dirty="0"/>
          </a:p>
        </p:txBody>
      </p:sp>
      <p:sp>
        <p:nvSpPr>
          <p:cNvPr id="15" name="Takeaway 3 text"/>
          <p:cNvSpPr txBox="1"/>
          <p:nvPr/>
        </p:nvSpPr>
        <p:spPr>
          <a:xfrm>
            <a:off x="6461608" y="2852928"/>
            <a:ext cx="2110664" cy="822960"/>
          </a:xfrm>
          <a:prstGeom prst="rect">
            <a:avLst/>
          </a:prstGeom>
          <a:noFill/>
          <a:ln/>
        </p:spPr>
        <p:txBody>
          <a:bodyPr wrap="square" lIns="0" tIns="0" rIns="0" bIns="0" rtlCol="0" anchor="t"/>
          <a:lstStyle/>
          <a:p>
            <a:pPr indent="0" marL="0">
              <a:buNone/>
            </a:pPr>
            <a:r>
              <a:rPr lang="en-US" sz="1400" dirty="0">
                <a:solidFill>
                  <a:schemeClr val="accent6"/>
                </a:solidFill>
              </a:rPr>
              <a:t>Good design and sample size make research reliable.</a:t>
            </a:r>
            <a:endParaRPr lang="en-US" sz="1400" dirty="0"/>
          </a:p>
        </p:txBody>
      </p:sp>
      <p:sp>
        <p:nvSpPr>
          <p:cNvPr id="16" name="Takeaway 4 card"/>
          <p:cNvSpPr/>
          <p:nvPr/>
        </p:nvSpPr>
        <p:spPr>
          <a:xfrm>
            <a:off x="9075191" y="1645920"/>
            <a:ext cx="2567864" cy="2148840"/>
          </a:xfrm>
          <a:prstGeom prst="roundRect">
            <a:avLst>
              <a:gd name="adj" fmla="val 3404"/>
            </a:avLst>
          </a:prstGeom>
          <a:solidFill>
            <a:schemeClr val="accent3"/>
          </a:solidFill>
          <a:ln/>
        </p:spPr>
      </p:sp>
      <p:sp>
        <p:nvSpPr>
          <p:cNvPr id="17" name="Takeaway 4 number"/>
          <p:cNvSpPr txBox="1"/>
          <p:nvPr/>
        </p:nvSpPr>
        <p:spPr>
          <a:xfrm>
            <a:off x="9303791" y="182880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04</a:t>
            </a:r>
            <a:endParaRPr lang="en-US" sz="2800" dirty="0"/>
          </a:p>
        </p:txBody>
      </p:sp>
      <p:sp>
        <p:nvSpPr>
          <p:cNvPr id="18" name="Takeaway 4 heading"/>
          <p:cNvSpPr txBox="1"/>
          <p:nvPr/>
        </p:nvSpPr>
        <p:spPr>
          <a:xfrm>
            <a:off x="9303791" y="2423160"/>
            <a:ext cx="2110664" cy="365760"/>
          </a:xfrm>
          <a:prstGeom prst="rect">
            <a:avLst/>
          </a:prstGeom>
          <a:noFill/>
          <a:ln/>
        </p:spPr>
        <p:txBody>
          <a:bodyPr wrap="square" lIns="0" tIns="0" rIns="0" bIns="0" rtlCol="0" anchor="t"/>
          <a:lstStyle/>
          <a:p>
            <a:pPr indent="0" marL="0">
              <a:buNone/>
            </a:pPr>
            <a:r>
              <a:rPr lang="en-US" sz="1600" b="1" dirty="0">
                <a:solidFill>
                  <a:schemeClr val="bg1"/>
                </a:solidFill>
              </a:rPr>
              <a:t>Interpret responsibly</a:t>
            </a:r>
            <a:endParaRPr lang="en-US" sz="1600" dirty="0"/>
          </a:p>
        </p:txBody>
      </p:sp>
      <p:sp>
        <p:nvSpPr>
          <p:cNvPr id="19" name="Takeaway 4 text"/>
          <p:cNvSpPr txBox="1"/>
          <p:nvPr/>
        </p:nvSpPr>
        <p:spPr>
          <a:xfrm>
            <a:off x="9303791" y="2852928"/>
            <a:ext cx="2110664" cy="822960"/>
          </a:xfrm>
          <a:prstGeom prst="rect">
            <a:avLst/>
          </a:prstGeom>
          <a:noFill/>
          <a:ln/>
        </p:spPr>
        <p:txBody>
          <a:bodyPr wrap="square" lIns="0" tIns="0" rIns="0" bIns="0" rtlCol="0" anchor="t"/>
          <a:lstStyle/>
          <a:p>
            <a:pPr indent="0" marL="0">
              <a:buNone/>
            </a:pPr>
            <a:r>
              <a:rPr lang="en-US" sz="1400" dirty="0">
                <a:solidFill>
                  <a:schemeClr val="accent6"/>
                </a:solidFill>
              </a:rPr>
              <a:t>Effect size, transparency and fairness matter.</a:t>
            </a:r>
            <a:endParaRPr lang="en-US" sz="1400" dirty="0"/>
          </a:p>
        </p:txBody>
      </p:sp>
      <p:sp>
        <p:nvSpPr>
          <p:cNvPr id="20" name="Closing statement"/>
          <p:cNvSpPr txBox="1"/>
          <p:nvPr/>
        </p:nvSpPr>
        <p:spPr>
          <a:xfrm>
            <a:off x="548640" y="4114800"/>
            <a:ext cx="11094415" cy="868680"/>
          </a:xfrm>
          <a:prstGeom prst="rect">
            <a:avLst/>
          </a:prstGeom>
          <a:noFill/>
          <a:ln/>
        </p:spPr>
        <p:txBody>
          <a:bodyPr wrap="square" lIns="0" tIns="0" rIns="0" bIns="0" rtlCol="0" anchor="t"/>
          <a:lstStyle/>
          <a:p>
            <a:pPr indent="0" marL="0">
              <a:buNone/>
            </a:pPr>
            <a:r>
              <a:rPr lang="en-US" sz="2300" i="1" dirty="0">
                <a:solidFill>
                  <a:schemeClr val="bg1"/>
                </a:solidFill>
                <a:latin typeface="+mj-lt" pitchFamily="34" charset="0"/>
                <a:ea typeface="+mj-lt" pitchFamily="34" charset="-122"/>
                <a:cs typeface="+mj-lt" pitchFamily="34" charset="-120"/>
              </a:rPr>
              <a:t>“The value of data lies not merely in collecting it, but in drawing reliable conclusions from it.”</a:t>
            </a:r>
            <a:endParaRPr lang="en-US" sz="2300" dirty="0"/>
          </a:p>
        </p:txBody>
      </p:sp>
      <p:sp>
        <p:nvSpPr>
          <p:cNvPr id="21" name="Thank you"/>
          <p:cNvSpPr txBox="1"/>
          <p:nvPr/>
        </p:nvSpPr>
        <p:spPr>
          <a:xfrm>
            <a:off x="548640" y="5029200"/>
            <a:ext cx="11094415" cy="365760"/>
          </a:xfrm>
          <a:prstGeom prst="rect">
            <a:avLst/>
          </a:prstGeom>
          <a:noFill/>
          <a:ln/>
        </p:spPr>
        <p:txBody>
          <a:bodyPr wrap="square" lIns="0" tIns="0" rIns="0" bIns="0" rtlCol="0" anchor="t"/>
          <a:lstStyle/>
          <a:p>
            <a:pPr indent="0" marL="0">
              <a:buNone/>
            </a:pPr>
            <a:r>
              <a:rPr lang="en-US" sz="1700" b="1" dirty="0">
                <a:solidFill>
                  <a:schemeClr val="accent2"/>
                </a:solidFill>
              </a:rPr>
              <a:t>Thank you · Questions?</a:t>
            </a:r>
            <a:endParaRPr lang="en-US" sz="1700" dirty="0"/>
          </a:p>
        </p:txBody>
      </p:sp>
      <p:sp>
        <p:nvSpPr>
          <p:cNvPr id="22" name="References"/>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000" dirty="0">
                <a:solidFill>
                  <a:schemeClr val="accent6"/>
                </a:solidFill>
              </a:rPr>
              <a:t>References: Brynjolfsson, Hitt &amp; Kim (2011), SSRN · Kohavi &amp; Thomke (2017), Harvard Business Review 95(5) · RECOVERY Collaborative Group (2021), NEJM 384(8) · Open Science Collaboration (2015), Science 349 · Wasserstein &amp; Lazar (2016), The American Statistician 70(2)</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theme/theme1.xml><?xml version="1.0" encoding="utf-8"?>
<a:theme xmlns:a="http://schemas.openxmlformats.org/drawingml/2006/main" name="Evidence Navy">
  <a:themeElements>
    <a:clrScheme name="Evidence Navy">
      <a:dk1>
        <a:srgbClr val="1B2633"/>
      </a:dk1>
      <a:lt1>
        <a:srgbClr val="FFFFFF"/>
      </a:lt1>
      <a:dk2>
        <a:srgbClr val="0B1F33"/>
      </a:dk2>
      <a:lt2>
        <a:srgbClr val="EEF2F6"/>
      </a:lt2>
      <a:accent1>
        <a:srgbClr val="0F8B8D"/>
      </a:accent1>
      <a:accent2>
        <a:srgbClr val="E3A43B"/>
      </a:accent2>
      <a:accent3>
        <a:srgbClr val="2F5D8A"/>
      </a:accent3>
      <a:accent4>
        <a:srgbClr val="B8462F"/>
      </a:accent4>
      <a:accent5>
        <a:srgbClr val="5E6B7A"/>
      </a:accent5>
      <a:accent6>
        <a:srgbClr val="CFE9E7"/>
      </a:accent6>
      <a:hlink>
        <a:srgbClr val="2F5D8A"/>
      </a:hlink>
      <a:folHlink>
        <a:srgbClr val="5E6B7A"/>
      </a:folHlink>
    </a:clrScheme>
    <a:fontScheme name="Evidence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Implications of Advanced Statistics in Business and Research</dc:title>
  <dc:subject>Six-slide university presentation on advanced statistics</dc:subject>
  <dc:creator>[Team Name]</dc:creator>
  <cp:lastModifiedBy>[Team Name]</cp:lastModifiedBy>
  <cp:revision>1</cp:revision>
  <dcterms:created xsi:type="dcterms:W3CDTF">2026-10-28T14:44:31Z</dcterms:created>
  <dcterms:modified xsi:type="dcterms:W3CDTF">2026-10-28T14:44:31Z</dcterms:modified>
</cp:coreProperties>
</file>